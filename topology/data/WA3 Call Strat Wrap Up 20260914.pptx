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2" r:id="rId4"/>
  </p:sldMasterIdLst>
  <p:notesMasterIdLst>
    <p:notesMasterId r:id="rId37"/>
  </p:notesMasterIdLst>
  <p:sldIdLst>
    <p:sldId id="401" r:id="rId5"/>
    <p:sldId id="355" r:id="rId6"/>
    <p:sldId id="2134809470" r:id="rId7"/>
    <p:sldId id="2134809369" r:id="rId8"/>
    <p:sldId id="2134809340" r:id="rId9"/>
    <p:sldId id="2134809354" r:id="rId10"/>
    <p:sldId id="2134809370" r:id="rId11"/>
    <p:sldId id="2134809425" r:id="rId12"/>
    <p:sldId id="2134809363" r:id="rId13"/>
    <p:sldId id="2134809364" r:id="rId14"/>
    <p:sldId id="2134809437" r:id="rId15"/>
    <p:sldId id="2134809468" r:id="rId16"/>
    <p:sldId id="2134809455" r:id="rId17"/>
    <p:sldId id="2134809467" r:id="rId18"/>
    <p:sldId id="2134809469" r:id="rId19"/>
    <p:sldId id="2134809474" r:id="rId20"/>
    <p:sldId id="2134809475" r:id="rId21"/>
    <p:sldId id="2134809472" r:id="rId22"/>
    <p:sldId id="2134809473" r:id="rId23"/>
    <p:sldId id="2134809454" r:id="rId24"/>
    <p:sldId id="2134809456" r:id="rId25"/>
    <p:sldId id="2134809457" r:id="rId26"/>
    <p:sldId id="2134809458" r:id="rId27"/>
    <p:sldId id="2134809459" r:id="rId28"/>
    <p:sldId id="2134809460" r:id="rId29"/>
    <p:sldId id="2134809461" r:id="rId30"/>
    <p:sldId id="2134809462" r:id="rId31"/>
    <p:sldId id="2134809463" r:id="rId32"/>
    <p:sldId id="2134809464" r:id="rId33"/>
    <p:sldId id="2134809465" r:id="rId34"/>
    <p:sldId id="2134809466" r:id="rId35"/>
    <p:sldId id="2134809427" r:id="rId36"/>
  </p:sldIdLst>
  <p:sldSz cx="12192000" cy="6858000"/>
  <p:notesSz cx="6888163" cy="10018713"/>
  <p:embeddedFontLst>
    <p:embeddedFont>
      <p:font typeface="Aptos Mono" panose="020B0009020202020204" pitchFamily="49" charset="0"/>
      <p:regular r:id="rId38"/>
      <p:bold r:id="rId39"/>
      <p:italic r:id="rId40"/>
      <p:boldItalic r:id="rId41"/>
    </p:embeddedFont>
    <p:embeddedFont>
      <p:font typeface="Century Gothic" panose="020B0502020202020204" pitchFamily="34" charset="0"/>
      <p:regular r:id="rId42"/>
      <p:bold r:id="rId43"/>
      <p:italic r:id="rId44"/>
      <p:boldItalic r:id="rId45"/>
    </p:embeddedFont>
    <p:embeddedFont>
      <p:font typeface="Jura" panose="020B0604020202020204" charset="0"/>
      <p:regular r:id="rId46"/>
      <p:bold r:id="rId4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xmlns="" r:id="rId74" roundtripDataSignature="AMtx7miDvtMrl8h9yjMAWJsVhnl9BfKyHw==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4FFE7650-D3B0-8967-21D7-87D8D7AF88BF}" name="Susanne Kuehrer" initials="SK" userId="S::susanne.kuehrer@28digital.eu::13b45c5a-98c9-4213-8c7c-bca4df17eeac" providerId="AD"/>
  <p188:author id="{A748D9B1-A8FD-0F45-2C24-600367A8F42A}" name="Joseph EMERAS" initials="JE" userId="S::joseph.emeras@lxp.lu::d5fc180a-f77b-48be-86a5-6a7910b3e1cd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ED00"/>
    <a:srgbClr val="194CA4"/>
    <a:srgbClr val="FFFFFF"/>
    <a:srgbClr val="336600"/>
    <a:srgbClr val="008000"/>
    <a:srgbClr val="41B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39AB0A6-E239-4AA2-B67D-08D0E07E4F45}" v="10" dt="2026-09-14T15:10:35.34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>
    <p:restoredLeft sz="5910" autoAdjust="0"/>
    <p:restoredTop sz="94416" autoAdjust="0"/>
  </p:normalViewPr>
  <p:slideViewPr>
    <p:cSldViewPr snapToGrid="0">
      <p:cViewPr>
        <p:scale>
          <a:sx n="100" d="100"/>
          <a:sy n="100" d="100"/>
        </p:scale>
        <p:origin x="-72" y="7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font" Target="fonts/font2.fntdata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font" Target="fonts/font5.fntdata"/><Relationship Id="rId47" Type="http://schemas.openxmlformats.org/officeDocument/2006/relationships/font" Target="fonts/font10.fntdata"/><Relationship Id="rId76" Type="http://schemas.openxmlformats.org/officeDocument/2006/relationships/viewProps" Target="view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notesMaster" Target="notesMasters/notesMaster1.xml"/><Relationship Id="rId40" Type="http://schemas.openxmlformats.org/officeDocument/2006/relationships/font" Target="fonts/font3.fntdata"/><Relationship Id="rId45" Type="http://schemas.openxmlformats.org/officeDocument/2006/relationships/font" Target="fonts/font8.fntdata"/><Relationship Id="rId74" Type="http://customschemas.google.com/relationships/presentationmetadata" Target="metadata"/><Relationship Id="rId79" Type="http://schemas.microsoft.com/office/2015/10/relationships/revisionInfo" Target="revisionInfo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font" Target="fonts/font7.fntdata"/><Relationship Id="rId78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font" Target="fonts/font6.fntdata"/><Relationship Id="rId77" Type="http://schemas.openxmlformats.org/officeDocument/2006/relationships/theme" Target="theme/theme1.xml"/><Relationship Id="rId8" Type="http://schemas.openxmlformats.org/officeDocument/2006/relationships/slide" Target="slides/slide4.xml"/><Relationship Id="rId80" Type="http://schemas.microsoft.com/office/2018/10/relationships/authors" Target="author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font" Target="fonts/font1.fntdata"/><Relationship Id="rId46" Type="http://schemas.openxmlformats.org/officeDocument/2006/relationships/font" Target="fonts/font9.fntdata"/><Relationship Id="rId20" Type="http://schemas.openxmlformats.org/officeDocument/2006/relationships/slide" Target="slides/slide16.xml"/><Relationship Id="rId41" Type="http://schemas.openxmlformats.org/officeDocument/2006/relationships/font" Target="fonts/font4.fntdata"/><Relationship Id="rId75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1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#6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#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7C00C4E-6AE2-4F89-BFA7-5A4D377157B3}" type="doc">
      <dgm:prSet loTypeId="urn:microsoft.com/office/officeart/2005/8/layout/vList2" loCatId="list" qsTypeId="urn:microsoft.com/office/officeart/2005/8/quickstyle/simple5#1" qsCatId="simple" csTypeId="urn:microsoft.com/office/officeart/2005/8/colors/accent1_2#1" csCatId="accent1" phldr="1"/>
      <dgm:spPr/>
      <dgm:t>
        <a:bodyPr/>
        <a:lstStyle/>
        <a:p>
          <a:endParaRPr lang="en-US"/>
        </a:p>
      </dgm:t>
    </dgm:pt>
    <dgm:pt modelId="{FB228FD6-527A-4873-90D3-7FE25544C8A1}">
      <dgm:prSet custT="1"/>
      <dgm:spPr>
        <a:solidFill>
          <a:schemeClr val="tx2">
            <a:lumMod val="75000"/>
            <a:lumOff val="25000"/>
          </a:schemeClr>
        </a:solidFill>
        <a:effectLst>
          <a:glow rad="63500">
            <a:schemeClr val="accent1">
              <a:satMod val="175000"/>
              <a:alpha val="40000"/>
            </a:schemeClr>
          </a:glow>
        </a:effectLst>
      </dgm:spPr>
      <dgm:t>
        <a:bodyPr/>
        <a:lstStyle/>
        <a:p>
          <a:pPr algn="l">
            <a:lnSpc>
              <a:spcPct val="90000"/>
            </a:lnSpc>
          </a:pPr>
          <a:r>
            <a:rPr lang="en-US" sz="1800" b="1" noProof="0" dirty="0">
              <a:solidFill>
                <a:srgbClr val="FFFF00"/>
              </a:solidFill>
              <a:ea typeface="+mn-ea"/>
              <a:cs typeface="+mn-cs"/>
            </a:rPr>
            <a:t>Sovereign </a:t>
          </a:r>
          <a:r>
            <a:rPr lang="en-US" sz="1800" b="1" noProof="0" dirty="0">
              <a:solidFill>
                <a:srgbClr val="FFFF00"/>
              </a:solidFill>
              <a:latin typeface="Jura"/>
              <a:ea typeface="+mn-ea"/>
              <a:cs typeface="+mn-cs"/>
            </a:rPr>
            <a:t>Services</a:t>
          </a:r>
          <a:r>
            <a:rPr lang="en-US" sz="1800" b="1" noProof="0" dirty="0">
              <a:solidFill>
                <a:srgbClr val="FFFF00"/>
              </a:solidFill>
              <a:ea typeface="+mn-ea"/>
              <a:cs typeface="+mn-cs"/>
            </a:rPr>
            <a:t> Strategy Discussion</a:t>
          </a:r>
        </a:p>
      </dgm:t>
    </dgm:pt>
    <dgm:pt modelId="{9AFA6AC5-2D07-43EB-B8D0-02738E238C61}" type="parTrans" cxnId="{F63303DB-EB92-4DAC-A03D-27C87F58C282}">
      <dgm:prSet/>
      <dgm:spPr/>
      <dgm:t>
        <a:bodyPr/>
        <a:lstStyle/>
        <a:p>
          <a:endParaRPr lang="en-US"/>
        </a:p>
      </dgm:t>
    </dgm:pt>
    <dgm:pt modelId="{F7442234-6606-4E7B-95F2-0C444C3C66FB}" type="sibTrans" cxnId="{F63303DB-EB92-4DAC-A03D-27C87F58C282}">
      <dgm:prSet/>
      <dgm:spPr/>
      <dgm:t>
        <a:bodyPr/>
        <a:lstStyle/>
        <a:p>
          <a:endParaRPr lang="en-US"/>
        </a:p>
      </dgm:t>
    </dgm:pt>
    <dgm:pt modelId="{C68F2895-3E28-4116-AF9F-2D4879807D01}">
      <dgm:prSet custT="1"/>
      <dgm:spPr>
        <a:solidFill>
          <a:schemeClr val="tx2">
            <a:lumMod val="75000"/>
            <a:lumOff val="25000"/>
          </a:schemeClr>
        </a:solidFill>
        <a:effectLst>
          <a:glow rad="63500">
            <a:schemeClr val="accent1">
              <a:satMod val="175000"/>
              <a:alpha val="40000"/>
            </a:schemeClr>
          </a:glow>
        </a:effectLst>
      </dgm:spPr>
      <dgm:t>
        <a:bodyPr/>
        <a:lstStyle/>
        <a:p>
          <a:pPr algn="l">
            <a:lnSpc>
              <a:spcPct val="90000"/>
            </a:lnSpc>
          </a:pPr>
          <a:r>
            <a:rPr lang="en-US" sz="1800" b="1" noProof="0" dirty="0">
              <a:solidFill>
                <a:srgbClr val="FFFF00"/>
              </a:solidFill>
              <a:ea typeface="+mn-ea"/>
              <a:cs typeface="+mn-cs"/>
            </a:rPr>
            <a:t>Flinky Integration / Release Plan</a:t>
          </a:r>
        </a:p>
      </dgm:t>
    </dgm:pt>
    <dgm:pt modelId="{FFB5E645-6C25-4856-BAB8-C13B04A50018}" type="parTrans" cxnId="{E313C33A-9DA0-4128-AF86-E5CE77E69BBC}">
      <dgm:prSet/>
      <dgm:spPr/>
      <dgm:t>
        <a:bodyPr/>
        <a:lstStyle/>
        <a:p>
          <a:endParaRPr lang="en-US"/>
        </a:p>
      </dgm:t>
    </dgm:pt>
    <dgm:pt modelId="{75DF1260-E667-433A-8996-4FA3E771DC78}" type="sibTrans" cxnId="{E313C33A-9DA0-4128-AF86-E5CE77E69BBC}">
      <dgm:prSet/>
      <dgm:spPr/>
      <dgm:t>
        <a:bodyPr/>
        <a:lstStyle/>
        <a:p>
          <a:endParaRPr lang="en-US"/>
        </a:p>
      </dgm:t>
    </dgm:pt>
    <dgm:pt modelId="{52BAFF4C-BECC-44B8-92A8-3E21367666B6}">
      <dgm:prSet custT="1"/>
      <dgm:spPr>
        <a:solidFill>
          <a:schemeClr val="tx2">
            <a:lumMod val="75000"/>
            <a:lumOff val="25000"/>
          </a:schemeClr>
        </a:solidFill>
        <a:effectLst>
          <a:glow rad="63500">
            <a:schemeClr val="accent1">
              <a:satMod val="175000"/>
              <a:alpha val="40000"/>
            </a:schemeClr>
          </a:glow>
        </a:effectLst>
      </dgm:spPr>
      <dgm:t>
        <a:bodyPr/>
        <a:lstStyle/>
        <a:p>
          <a:pPr algn="l">
            <a:lnSpc>
              <a:spcPct val="90000"/>
            </a:lnSpc>
          </a:pPr>
          <a:r>
            <a:rPr lang="en-US" sz="1800" noProof="0" dirty="0">
              <a:solidFill>
                <a:schemeClr val="bg1">
                  <a:lumMod val="85000"/>
                </a:schemeClr>
              </a:solidFill>
              <a:ea typeface="+mn-ea"/>
              <a:cs typeface="+mn-cs"/>
            </a:rPr>
            <a:t>Interoperability: Open Industry API / Marketplace &lt;-&gt; Sovereign Services</a:t>
          </a:r>
        </a:p>
      </dgm:t>
    </dgm:pt>
    <dgm:pt modelId="{18791C4C-0968-4FB2-B977-16D0025D53C5}" type="parTrans" cxnId="{707F184E-419A-472F-9206-79EE9C0B0BDC}">
      <dgm:prSet/>
      <dgm:spPr/>
      <dgm:t>
        <a:bodyPr/>
        <a:lstStyle/>
        <a:p>
          <a:endParaRPr lang="en-US"/>
        </a:p>
      </dgm:t>
    </dgm:pt>
    <dgm:pt modelId="{79CDB04A-BAB1-4C16-B4B1-66D01F365C74}" type="sibTrans" cxnId="{707F184E-419A-472F-9206-79EE9C0B0BDC}">
      <dgm:prSet/>
      <dgm:spPr/>
      <dgm:t>
        <a:bodyPr/>
        <a:lstStyle/>
        <a:p>
          <a:endParaRPr lang="en-US"/>
        </a:p>
      </dgm:t>
    </dgm:pt>
    <dgm:pt modelId="{B70B1A24-7625-4B3D-8DDD-8ABB11F1E287}">
      <dgm:prSet custT="1"/>
      <dgm:spPr>
        <a:solidFill>
          <a:schemeClr val="tx2">
            <a:lumMod val="75000"/>
            <a:lumOff val="25000"/>
          </a:schemeClr>
        </a:solidFill>
        <a:effectLst>
          <a:glow rad="63500">
            <a:schemeClr val="accent1">
              <a:satMod val="175000"/>
              <a:alpha val="40000"/>
            </a:schemeClr>
          </a:glow>
        </a:effectLst>
      </dgm:spPr>
      <dgm:t>
        <a:bodyPr/>
        <a:lstStyle/>
        <a:p>
          <a:pPr algn="l">
            <a:lnSpc>
              <a:spcPct val="90000"/>
            </a:lnSpc>
          </a:pPr>
          <a:r>
            <a:rPr lang="en-US" sz="1800" noProof="0" dirty="0">
              <a:solidFill>
                <a:schemeClr val="bg1">
                  <a:lumMod val="85000"/>
                </a:schemeClr>
              </a:solidFill>
              <a:ea typeface="+mn-ea"/>
              <a:cs typeface="+mn-cs"/>
            </a:rPr>
            <a:t>Tool Suite: AI compliance Suite / Flinky DevOps Components / Open Source Enterprise AI </a:t>
          </a:r>
          <a:endParaRPr lang="en-US" sz="1600" noProof="0" dirty="0">
            <a:solidFill>
              <a:schemeClr val="bg1">
                <a:lumMod val="85000"/>
              </a:schemeClr>
            </a:solidFill>
            <a:ea typeface="+mn-ea"/>
            <a:cs typeface="+mn-cs"/>
          </a:endParaRPr>
        </a:p>
      </dgm:t>
    </dgm:pt>
    <dgm:pt modelId="{8D427AD7-70F5-4DEE-BD34-A97A56E06F4E}" type="parTrans" cxnId="{9F26C3A7-EF9B-48B3-A7C2-60C5492BA170}">
      <dgm:prSet/>
      <dgm:spPr/>
      <dgm:t>
        <a:bodyPr/>
        <a:lstStyle/>
        <a:p>
          <a:endParaRPr lang="en-US"/>
        </a:p>
      </dgm:t>
    </dgm:pt>
    <dgm:pt modelId="{74764656-AD6C-4EC2-BD46-DB1C44BD8F70}" type="sibTrans" cxnId="{9F26C3A7-EF9B-48B3-A7C2-60C5492BA170}">
      <dgm:prSet/>
      <dgm:spPr/>
      <dgm:t>
        <a:bodyPr/>
        <a:lstStyle/>
        <a:p>
          <a:endParaRPr lang="en-US"/>
        </a:p>
      </dgm:t>
    </dgm:pt>
    <dgm:pt modelId="{A94CC42B-4A89-4018-80B4-D8AB3C529FA9}">
      <dgm:prSet custT="1"/>
      <dgm:spPr>
        <a:solidFill>
          <a:schemeClr val="tx2">
            <a:lumMod val="75000"/>
            <a:lumOff val="25000"/>
          </a:schemeClr>
        </a:solidFill>
        <a:effectLst>
          <a:glow rad="63500">
            <a:schemeClr val="accent1">
              <a:satMod val="175000"/>
              <a:alpha val="40000"/>
            </a:schemeClr>
          </a:glow>
        </a:effectLst>
      </dgm:spPr>
      <dgm:t>
        <a:bodyPr/>
        <a:lstStyle/>
        <a:p>
          <a:pPr algn="l">
            <a:lnSpc>
              <a:spcPct val="90000"/>
            </a:lnSpc>
          </a:pPr>
          <a:r>
            <a:rPr lang="en-US" sz="1800" i="0" noProof="0" dirty="0">
              <a:solidFill>
                <a:schemeClr val="bg1">
                  <a:lumMod val="85000"/>
                </a:schemeClr>
              </a:solidFill>
              <a:ea typeface="+mn-ea"/>
              <a:cs typeface="+mn-cs"/>
            </a:rPr>
            <a:t>White Label Packages </a:t>
          </a:r>
        </a:p>
      </dgm:t>
    </dgm:pt>
    <dgm:pt modelId="{B92E70B1-37F5-4622-BA75-4E7BC9D519F1}" type="parTrans" cxnId="{2D5E06F9-840F-491F-AFFC-A646C52876B4}">
      <dgm:prSet/>
      <dgm:spPr/>
      <dgm:t>
        <a:bodyPr/>
        <a:lstStyle/>
        <a:p>
          <a:endParaRPr lang="en-US"/>
        </a:p>
      </dgm:t>
    </dgm:pt>
    <dgm:pt modelId="{493FCB14-8F7D-4F21-B4C7-E1C5FC856013}" type="sibTrans" cxnId="{2D5E06F9-840F-491F-AFFC-A646C52876B4}">
      <dgm:prSet/>
      <dgm:spPr/>
      <dgm:t>
        <a:bodyPr/>
        <a:lstStyle/>
        <a:p>
          <a:endParaRPr lang="en-US"/>
        </a:p>
      </dgm:t>
    </dgm:pt>
    <dgm:pt modelId="{DE2928BF-6285-4007-92BB-C338C475DE17}" type="pres">
      <dgm:prSet presAssocID="{F7C00C4E-6AE2-4F89-BFA7-5A4D377157B3}" presName="linear" presStyleCnt="0">
        <dgm:presLayoutVars>
          <dgm:animLvl val="lvl"/>
          <dgm:resizeHandles val="exact"/>
        </dgm:presLayoutVars>
      </dgm:prSet>
      <dgm:spPr/>
    </dgm:pt>
    <dgm:pt modelId="{9C9B9CF6-524A-4FE5-B916-517A030F3DCC}" type="pres">
      <dgm:prSet presAssocID="{FB228FD6-527A-4873-90D3-7FE25544C8A1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D00DF498-925A-4D31-A153-E53B71D491E3}" type="pres">
      <dgm:prSet presAssocID="{F7442234-6606-4E7B-95F2-0C444C3C66FB}" presName="spacer" presStyleCnt="0"/>
      <dgm:spPr/>
    </dgm:pt>
    <dgm:pt modelId="{229F0041-11A0-4962-B145-4E356BA7717D}" type="pres">
      <dgm:prSet presAssocID="{C68F2895-3E28-4116-AF9F-2D4879807D01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808CF552-5CAD-473C-AF99-B5E548AB98CC}" type="pres">
      <dgm:prSet presAssocID="{75DF1260-E667-433A-8996-4FA3E771DC78}" presName="spacer" presStyleCnt="0"/>
      <dgm:spPr/>
    </dgm:pt>
    <dgm:pt modelId="{978C2CD0-63B0-4941-99A8-91F0E71D52F5}" type="pres">
      <dgm:prSet presAssocID="{52BAFF4C-BECC-44B8-92A8-3E21367666B6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9E324D53-E1E7-4B28-99D5-031F07FC6876}" type="pres">
      <dgm:prSet presAssocID="{79CDB04A-BAB1-4C16-B4B1-66D01F365C74}" presName="spacer" presStyleCnt="0"/>
      <dgm:spPr/>
    </dgm:pt>
    <dgm:pt modelId="{B15D1C79-4F7F-4049-BB25-D4D148438650}" type="pres">
      <dgm:prSet presAssocID="{B70B1A24-7625-4B3D-8DDD-8ABB11F1E287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08722746-A2E8-4F6C-A878-69C432D4C245}" type="pres">
      <dgm:prSet presAssocID="{74764656-AD6C-4EC2-BD46-DB1C44BD8F70}" presName="spacer" presStyleCnt="0"/>
      <dgm:spPr/>
    </dgm:pt>
    <dgm:pt modelId="{46019C24-1C47-4B2C-953A-AB8E78E8ABC0}" type="pres">
      <dgm:prSet presAssocID="{A94CC42B-4A89-4018-80B4-D8AB3C529FA9}" presName="parentText" presStyleLbl="node1" presStyleIdx="4" presStyleCnt="5" custLinFactNeighborX="-408">
        <dgm:presLayoutVars>
          <dgm:chMax val="0"/>
          <dgm:bulletEnabled val="1"/>
        </dgm:presLayoutVars>
      </dgm:prSet>
      <dgm:spPr/>
    </dgm:pt>
  </dgm:ptLst>
  <dgm:cxnLst>
    <dgm:cxn modelId="{E313C33A-9DA0-4128-AF86-E5CE77E69BBC}" srcId="{F7C00C4E-6AE2-4F89-BFA7-5A4D377157B3}" destId="{C68F2895-3E28-4116-AF9F-2D4879807D01}" srcOrd="1" destOrd="0" parTransId="{FFB5E645-6C25-4856-BAB8-C13B04A50018}" sibTransId="{75DF1260-E667-433A-8996-4FA3E771DC78}"/>
    <dgm:cxn modelId="{00EFDB3F-5BE8-4BFA-B899-B54976FAF1A8}" type="presOf" srcId="{F7C00C4E-6AE2-4F89-BFA7-5A4D377157B3}" destId="{DE2928BF-6285-4007-92BB-C338C475DE17}" srcOrd="0" destOrd="0" presId="urn:microsoft.com/office/officeart/2005/8/layout/vList2"/>
    <dgm:cxn modelId="{BEA7EE40-7129-44FE-B6FA-6FBDE946DCBB}" type="presOf" srcId="{C68F2895-3E28-4116-AF9F-2D4879807D01}" destId="{229F0041-11A0-4962-B145-4E356BA7717D}" srcOrd="0" destOrd="0" presId="urn:microsoft.com/office/officeart/2005/8/layout/vList2"/>
    <dgm:cxn modelId="{707F184E-419A-472F-9206-79EE9C0B0BDC}" srcId="{F7C00C4E-6AE2-4F89-BFA7-5A4D377157B3}" destId="{52BAFF4C-BECC-44B8-92A8-3E21367666B6}" srcOrd="2" destOrd="0" parTransId="{18791C4C-0968-4FB2-B977-16D0025D53C5}" sibTransId="{79CDB04A-BAB1-4C16-B4B1-66D01F365C74}"/>
    <dgm:cxn modelId="{B5DE474E-4BCE-440B-9D90-A27104467894}" type="presOf" srcId="{B70B1A24-7625-4B3D-8DDD-8ABB11F1E287}" destId="{B15D1C79-4F7F-4049-BB25-D4D148438650}" srcOrd="0" destOrd="0" presId="urn:microsoft.com/office/officeart/2005/8/layout/vList2"/>
    <dgm:cxn modelId="{A0E19D7B-F19B-47B3-9206-7E9724B90AC9}" type="presOf" srcId="{52BAFF4C-BECC-44B8-92A8-3E21367666B6}" destId="{978C2CD0-63B0-4941-99A8-91F0E71D52F5}" srcOrd="0" destOrd="0" presId="urn:microsoft.com/office/officeart/2005/8/layout/vList2"/>
    <dgm:cxn modelId="{B789FD85-B008-49AF-AF1B-60A5C7706CBF}" type="presOf" srcId="{FB228FD6-527A-4873-90D3-7FE25544C8A1}" destId="{9C9B9CF6-524A-4FE5-B916-517A030F3DCC}" srcOrd="0" destOrd="0" presId="urn:microsoft.com/office/officeart/2005/8/layout/vList2"/>
    <dgm:cxn modelId="{9F26C3A7-EF9B-48B3-A7C2-60C5492BA170}" srcId="{F7C00C4E-6AE2-4F89-BFA7-5A4D377157B3}" destId="{B70B1A24-7625-4B3D-8DDD-8ABB11F1E287}" srcOrd="3" destOrd="0" parTransId="{8D427AD7-70F5-4DEE-BD34-A97A56E06F4E}" sibTransId="{74764656-AD6C-4EC2-BD46-DB1C44BD8F70}"/>
    <dgm:cxn modelId="{83B1F7C1-CBE8-4F01-B281-968BF4C94912}" type="presOf" srcId="{A94CC42B-4A89-4018-80B4-D8AB3C529FA9}" destId="{46019C24-1C47-4B2C-953A-AB8E78E8ABC0}" srcOrd="0" destOrd="0" presId="urn:microsoft.com/office/officeart/2005/8/layout/vList2"/>
    <dgm:cxn modelId="{F63303DB-EB92-4DAC-A03D-27C87F58C282}" srcId="{F7C00C4E-6AE2-4F89-BFA7-5A4D377157B3}" destId="{FB228FD6-527A-4873-90D3-7FE25544C8A1}" srcOrd="0" destOrd="0" parTransId="{9AFA6AC5-2D07-43EB-B8D0-02738E238C61}" sibTransId="{F7442234-6606-4E7B-95F2-0C444C3C66FB}"/>
    <dgm:cxn modelId="{2D5E06F9-840F-491F-AFFC-A646C52876B4}" srcId="{F7C00C4E-6AE2-4F89-BFA7-5A4D377157B3}" destId="{A94CC42B-4A89-4018-80B4-D8AB3C529FA9}" srcOrd="4" destOrd="0" parTransId="{B92E70B1-37F5-4622-BA75-4E7BC9D519F1}" sibTransId="{493FCB14-8F7D-4F21-B4C7-E1C5FC856013}"/>
    <dgm:cxn modelId="{1180AD84-E8E9-4CDB-B6DE-781534B46726}" type="presParOf" srcId="{DE2928BF-6285-4007-92BB-C338C475DE17}" destId="{9C9B9CF6-524A-4FE5-B916-517A030F3DCC}" srcOrd="0" destOrd="0" presId="urn:microsoft.com/office/officeart/2005/8/layout/vList2"/>
    <dgm:cxn modelId="{00AB6533-EB53-4349-A783-EA451B02F627}" type="presParOf" srcId="{DE2928BF-6285-4007-92BB-C338C475DE17}" destId="{D00DF498-925A-4D31-A153-E53B71D491E3}" srcOrd="1" destOrd="0" presId="urn:microsoft.com/office/officeart/2005/8/layout/vList2"/>
    <dgm:cxn modelId="{73F18F63-69E2-44D1-B489-F08BB813B63F}" type="presParOf" srcId="{DE2928BF-6285-4007-92BB-C338C475DE17}" destId="{229F0041-11A0-4962-B145-4E356BA7717D}" srcOrd="2" destOrd="0" presId="urn:microsoft.com/office/officeart/2005/8/layout/vList2"/>
    <dgm:cxn modelId="{5CCE2E19-DEFE-4BC5-903B-96550ECFA27E}" type="presParOf" srcId="{DE2928BF-6285-4007-92BB-C338C475DE17}" destId="{808CF552-5CAD-473C-AF99-B5E548AB98CC}" srcOrd="3" destOrd="0" presId="urn:microsoft.com/office/officeart/2005/8/layout/vList2"/>
    <dgm:cxn modelId="{022E843A-D0D7-4568-A0AF-040198ED7CA9}" type="presParOf" srcId="{DE2928BF-6285-4007-92BB-C338C475DE17}" destId="{978C2CD0-63B0-4941-99A8-91F0E71D52F5}" srcOrd="4" destOrd="0" presId="urn:microsoft.com/office/officeart/2005/8/layout/vList2"/>
    <dgm:cxn modelId="{AB79EA9F-09BC-4C9B-97FA-457E46D04C9A}" type="presParOf" srcId="{DE2928BF-6285-4007-92BB-C338C475DE17}" destId="{9E324D53-E1E7-4B28-99D5-031F07FC6876}" srcOrd="5" destOrd="0" presId="urn:microsoft.com/office/officeart/2005/8/layout/vList2"/>
    <dgm:cxn modelId="{658DBD0A-B7A1-40BC-A857-54DE3779FDAB}" type="presParOf" srcId="{DE2928BF-6285-4007-92BB-C338C475DE17}" destId="{B15D1C79-4F7F-4049-BB25-D4D148438650}" srcOrd="6" destOrd="0" presId="urn:microsoft.com/office/officeart/2005/8/layout/vList2"/>
    <dgm:cxn modelId="{6A75AFFC-6327-4DCB-AC8C-9103CFCEDFE6}" type="presParOf" srcId="{DE2928BF-6285-4007-92BB-C338C475DE17}" destId="{08722746-A2E8-4F6C-A878-69C432D4C245}" srcOrd="7" destOrd="0" presId="urn:microsoft.com/office/officeart/2005/8/layout/vList2"/>
    <dgm:cxn modelId="{38860431-F122-4FC8-BD84-CD5C9C7718AF}" type="presParOf" srcId="{DE2928BF-6285-4007-92BB-C338C475DE17}" destId="{46019C24-1C47-4B2C-953A-AB8E78E8ABC0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19245B2-43AB-49A3-9129-62F4F5FB5DD7}" type="doc">
      <dgm:prSet loTypeId="urn:microsoft.com/office/officeart/2005/8/layout/process1" loCatId="process" qsTypeId="urn:microsoft.com/office/officeart/2005/8/quickstyle/simple1#1" qsCatId="simple" csTypeId="urn:microsoft.com/office/officeart/2005/8/colors/accent1_2#6" csCatId="accent1" phldr="1"/>
      <dgm:spPr/>
      <dgm:t>
        <a:bodyPr/>
        <a:lstStyle/>
        <a:p>
          <a:endParaRPr lang="en-US"/>
        </a:p>
      </dgm:t>
    </dgm:pt>
    <dgm:pt modelId="{2D32074A-8EA1-411A-9DB4-58DCF0A0980C}">
      <dgm:prSet phldrT="[Text]" phldr="0" custT="1"/>
      <dgm:spPr/>
      <dgm:t>
        <a:bodyPr/>
        <a:lstStyle/>
        <a:p>
          <a:r>
            <a:rPr lang="en-US" sz="1600" dirty="0"/>
            <a:t>Open API standard</a:t>
          </a:r>
        </a:p>
      </dgm:t>
    </dgm:pt>
    <dgm:pt modelId="{40832BE7-22EA-4043-B524-75220123A173}" type="parTrans" cxnId="{196FEDBF-4B7F-45A4-832C-8A8829FB9F48}">
      <dgm:prSet/>
      <dgm:spPr/>
      <dgm:t>
        <a:bodyPr/>
        <a:lstStyle/>
        <a:p>
          <a:endParaRPr lang="en-US"/>
        </a:p>
      </dgm:t>
    </dgm:pt>
    <dgm:pt modelId="{8EC7C088-A2C0-4FE6-BC80-DE1AD3694736}" type="sibTrans" cxnId="{196FEDBF-4B7F-45A4-832C-8A8829FB9F48}">
      <dgm:prSet/>
      <dgm:spPr/>
      <dgm:t>
        <a:bodyPr/>
        <a:lstStyle/>
        <a:p>
          <a:endParaRPr lang="en-US"/>
        </a:p>
      </dgm:t>
    </dgm:pt>
    <dgm:pt modelId="{7CEA18AE-F305-4F76-A57B-3FD417E2D043}">
      <dgm:prSet phldrT="[Text]" phldr="0" custT="1"/>
      <dgm:spPr/>
      <dgm:t>
        <a:bodyPr/>
        <a:lstStyle/>
        <a:p>
          <a:r>
            <a:rPr lang="en-US" sz="1600" dirty="0"/>
            <a:t>(European) Open Source Models</a:t>
          </a:r>
        </a:p>
      </dgm:t>
    </dgm:pt>
    <dgm:pt modelId="{BD9D9458-DA83-4B84-A1D6-4ED8B67979AD}" type="parTrans" cxnId="{CA7F1DA1-7308-439E-A12D-EA204C8F83BA}">
      <dgm:prSet/>
      <dgm:spPr/>
      <dgm:t>
        <a:bodyPr/>
        <a:lstStyle/>
        <a:p>
          <a:endParaRPr lang="en-US"/>
        </a:p>
      </dgm:t>
    </dgm:pt>
    <dgm:pt modelId="{89DEFC47-5562-491C-83EC-99E7C3BF7410}" type="sibTrans" cxnId="{CA7F1DA1-7308-439E-A12D-EA204C8F83BA}">
      <dgm:prSet/>
      <dgm:spPr/>
      <dgm:t>
        <a:bodyPr/>
        <a:lstStyle/>
        <a:p>
          <a:endParaRPr lang="en-US"/>
        </a:p>
      </dgm:t>
    </dgm:pt>
    <dgm:pt modelId="{41777F26-C39A-4378-8661-E2C69A06FEE2}">
      <dgm:prSet phldrT="[Text]" phldr="0" custT="1"/>
      <dgm:spPr/>
      <dgm:t>
        <a:bodyPr/>
        <a:lstStyle/>
        <a:p>
          <a:r>
            <a:rPr lang="en-US" sz="1600" dirty="0"/>
            <a:t>Sovereign Inference Operation</a:t>
          </a:r>
        </a:p>
      </dgm:t>
    </dgm:pt>
    <dgm:pt modelId="{58FA74A5-80CE-415B-AB0E-F5ABB4A4D958}" type="parTrans" cxnId="{B6227C30-2E93-4750-BE0D-0DBBCD0C23FF}">
      <dgm:prSet/>
      <dgm:spPr/>
      <dgm:t>
        <a:bodyPr/>
        <a:lstStyle/>
        <a:p>
          <a:endParaRPr lang="en-US"/>
        </a:p>
      </dgm:t>
    </dgm:pt>
    <dgm:pt modelId="{C7FB7BCD-7636-4CAE-AF41-2B46F5425818}" type="sibTrans" cxnId="{B6227C30-2E93-4750-BE0D-0DBBCD0C23FF}">
      <dgm:prSet/>
      <dgm:spPr/>
      <dgm:t>
        <a:bodyPr/>
        <a:lstStyle/>
        <a:p>
          <a:endParaRPr lang="en-US"/>
        </a:p>
      </dgm:t>
    </dgm:pt>
    <dgm:pt modelId="{23F70A59-6658-495E-ACDF-FECBDAC4BFBA}">
      <dgm:prSet phldrT="[Text]" phldr="0" custT="1"/>
      <dgm:spPr/>
      <dgm:t>
        <a:bodyPr/>
        <a:lstStyle/>
        <a:p>
          <a:r>
            <a:rPr lang="en-US" sz="1600" dirty="0"/>
            <a:t>European Compliance</a:t>
          </a:r>
        </a:p>
      </dgm:t>
    </dgm:pt>
    <dgm:pt modelId="{B2B85701-C94C-4BFB-B419-70594735178D}" type="parTrans" cxnId="{E9343D2E-E312-4052-8ED6-EFFFA6857273}">
      <dgm:prSet/>
      <dgm:spPr/>
      <dgm:t>
        <a:bodyPr/>
        <a:lstStyle/>
        <a:p>
          <a:endParaRPr lang="en-US"/>
        </a:p>
      </dgm:t>
    </dgm:pt>
    <dgm:pt modelId="{6E128AC3-C6B7-4F19-8891-3B2F8991569D}" type="sibTrans" cxnId="{E9343D2E-E312-4052-8ED6-EFFFA6857273}">
      <dgm:prSet/>
      <dgm:spPr/>
      <dgm:t>
        <a:bodyPr/>
        <a:lstStyle/>
        <a:p>
          <a:endParaRPr lang="en-US"/>
        </a:p>
      </dgm:t>
    </dgm:pt>
    <dgm:pt modelId="{69229CC2-09ED-4AE1-BC0C-AC6D1A070895}">
      <dgm:prSet phldrT="[Text]" phldr="0" custT="1"/>
      <dgm:spPr/>
      <dgm:t>
        <a:bodyPr/>
        <a:lstStyle/>
        <a:p>
          <a:r>
            <a:rPr lang="en-US" sz="1600" dirty="0"/>
            <a:t>Enterprise ready operation</a:t>
          </a:r>
          <a:endParaRPr lang="en-US" sz="1800" dirty="0"/>
        </a:p>
      </dgm:t>
    </dgm:pt>
    <dgm:pt modelId="{F258D2F1-C366-43D9-A97C-7CDC0C6C7C68}" type="parTrans" cxnId="{7370AB62-6AA1-4BEC-AA80-CC1E5EF1CCAB}">
      <dgm:prSet/>
      <dgm:spPr/>
      <dgm:t>
        <a:bodyPr/>
        <a:lstStyle/>
        <a:p>
          <a:endParaRPr lang="en-US"/>
        </a:p>
      </dgm:t>
    </dgm:pt>
    <dgm:pt modelId="{5F592A5A-9956-4179-A317-9F86DFA7AB34}" type="sibTrans" cxnId="{7370AB62-6AA1-4BEC-AA80-CC1E5EF1CCAB}">
      <dgm:prSet/>
      <dgm:spPr/>
      <dgm:t>
        <a:bodyPr/>
        <a:lstStyle/>
        <a:p>
          <a:endParaRPr lang="en-US"/>
        </a:p>
      </dgm:t>
    </dgm:pt>
    <dgm:pt modelId="{B0F134B4-309C-4996-B430-19C9AD253944}" type="pres">
      <dgm:prSet presAssocID="{719245B2-43AB-49A3-9129-62F4F5FB5DD7}" presName="Name0" presStyleCnt="0">
        <dgm:presLayoutVars>
          <dgm:dir/>
          <dgm:resizeHandles val="exact"/>
        </dgm:presLayoutVars>
      </dgm:prSet>
      <dgm:spPr/>
    </dgm:pt>
    <dgm:pt modelId="{C60395A7-55CC-4EB7-A026-BDAF45588C78}" type="pres">
      <dgm:prSet presAssocID="{2D32074A-8EA1-411A-9DB4-58DCF0A0980C}" presName="node" presStyleLbl="node1" presStyleIdx="0" presStyleCnt="5">
        <dgm:presLayoutVars>
          <dgm:bulletEnabled val="1"/>
        </dgm:presLayoutVars>
      </dgm:prSet>
      <dgm:spPr/>
    </dgm:pt>
    <dgm:pt modelId="{683F5243-4E98-4D4C-8CE4-7CCBA12EAAF1}" type="pres">
      <dgm:prSet presAssocID="{8EC7C088-A2C0-4FE6-BC80-DE1AD3694736}" presName="sibTrans" presStyleLbl="sibTrans2D1" presStyleIdx="0" presStyleCnt="4"/>
      <dgm:spPr/>
    </dgm:pt>
    <dgm:pt modelId="{65DACC03-134F-4B1E-904F-187497CCE8CF}" type="pres">
      <dgm:prSet presAssocID="{8EC7C088-A2C0-4FE6-BC80-DE1AD3694736}" presName="connectorText" presStyleLbl="sibTrans2D1" presStyleIdx="0" presStyleCnt="4"/>
      <dgm:spPr/>
    </dgm:pt>
    <dgm:pt modelId="{5656F881-4C96-40DB-BB23-E207CE508DAE}" type="pres">
      <dgm:prSet presAssocID="{7CEA18AE-F305-4F76-A57B-3FD417E2D043}" presName="node" presStyleLbl="node1" presStyleIdx="1" presStyleCnt="5">
        <dgm:presLayoutVars>
          <dgm:bulletEnabled val="1"/>
        </dgm:presLayoutVars>
      </dgm:prSet>
      <dgm:spPr/>
    </dgm:pt>
    <dgm:pt modelId="{844FCF21-D7AB-41BC-B4DF-27C8F6B9E2A3}" type="pres">
      <dgm:prSet presAssocID="{89DEFC47-5562-491C-83EC-99E7C3BF7410}" presName="sibTrans" presStyleLbl="sibTrans2D1" presStyleIdx="1" presStyleCnt="4"/>
      <dgm:spPr/>
    </dgm:pt>
    <dgm:pt modelId="{DD065F8A-BFD0-46FD-8B15-42BD40795538}" type="pres">
      <dgm:prSet presAssocID="{89DEFC47-5562-491C-83EC-99E7C3BF7410}" presName="connectorText" presStyleLbl="sibTrans2D1" presStyleIdx="1" presStyleCnt="4"/>
      <dgm:spPr/>
    </dgm:pt>
    <dgm:pt modelId="{56FAF0A1-7C2A-4F43-9075-2EB0A5F76D06}" type="pres">
      <dgm:prSet presAssocID="{41777F26-C39A-4378-8661-E2C69A06FEE2}" presName="node" presStyleLbl="node1" presStyleIdx="2" presStyleCnt="5">
        <dgm:presLayoutVars>
          <dgm:bulletEnabled val="1"/>
        </dgm:presLayoutVars>
      </dgm:prSet>
      <dgm:spPr/>
    </dgm:pt>
    <dgm:pt modelId="{CAAE95BA-6F5F-4511-B892-652C2827042A}" type="pres">
      <dgm:prSet presAssocID="{C7FB7BCD-7636-4CAE-AF41-2B46F5425818}" presName="sibTrans" presStyleLbl="sibTrans2D1" presStyleIdx="2" presStyleCnt="4"/>
      <dgm:spPr/>
    </dgm:pt>
    <dgm:pt modelId="{C4A5CD03-683F-426F-9045-62A528931FE9}" type="pres">
      <dgm:prSet presAssocID="{C7FB7BCD-7636-4CAE-AF41-2B46F5425818}" presName="connectorText" presStyleLbl="sibTrans2D1" presStyleIdx="2" presStyleCnt="4"/>
      <dgm:spPr/>
    </dgm:pt>
    <dgm:pt modelId="{7772B137-10B4-4872-95A4-64CCD16B68DA}" type="pres">
      <dgm:prSet presAssocID="{23F70A59-6658-495E-ACDF-FECBDAC4BFBA}" presName="node" presStyleLbl="node1" presStyleIdx="3" presStyleCnt="5">
        <dgm:presLayoutVars>
          <dgm:bulletEnabled val="1"/>
        </dgm:presLayoutVars>
      </dgm:prSet>
      <dgm:spPr/>
    </dgm:pt>
    <dgm:pt modelId="{378EA718-4611-4F03-A819-D679DA3BABA1}" type="pres">
      <dgm:prSet presAssocID="{6E128AC3-C6B7-4F19-8891-3B2F8991569D}" presName="sibTrans" presStyleLbl="sibTrans2D1" presStyleIdx="3" presStyleCnt="4"/>
      <dgm:spPr/>
    </dgm:pt>
    <dgm:pt modelId="{CAD1CB32-2E32-49D4-A14F-109CEED9EAB3}" type="pres">
      <dgm:prSet presAssocID="{6E128AC3-C6B7-4F19-8891-3B2F8991569D}" presName="connectorText" presStyleLbl="sibTrans2D1" presStyleIdx="3" presStyleCnt="4"/>
      <dgm:spPr/>
    </dgm:pt>
    <dgm:pt modelId="{7C8A0796-5179-4439-8F42-31EE77F8B0BB}" type="pres">
      <dgm:prSet presAssocID="{69229CC2-09ED-4AE1-BC0C-AC6D1A070895}" presName="node" presStyleLbl="node1" presStyleIdx="4" presStyleCnt="5">
        <dgm:presLayoutVars>
          <dgm:bulletEnabled val="1"/>
        </dgm:presLayoutVars>
      </dgm:prSet>
      <dgm:spPr/>
    </dgm:pt>
  </dgm:ptLst>
  <dgm:cxnLst>
    <dgm:cxn modelId="{E9343D2E-E312-4052-8ED6-EFFFA6857273}" srcId="{719245B2-43AB-49A3-9129-62F4F5FB5DD7}" destId="{23F70A59-6658-495E-ACDF-FECBDAC4BFBA}" srcOrd="3" destOrd="0" parTransId="{B2B85701-C94C-4BFB-B419-70594735178D}" sibTransId="{6E128AC3-C6B7-4F19-8891-3B2F8991569D}"/>
    <dgm:cxn modelId="{B013C12E-6C5A-4D1C-9F2E-89FD9A9C83D6}" type="presOf" srcId="{41777F26-C39A-4378-8661-E2C69A06FEE2}" destId="{56FAF0A1-7C2A-4F43-9075-2EB0A5F76D06}" srcOrd="0" destOrd="0" presId="urn:microsoft.com/office/officeart/2005/8/layout/process1"/>
    <dgm:cxn modelId="{B6227C30-2E93-4750-BE0D-0DBBCD0C23FF}" srcId="{719245B2-43AB-49A3-9129-62F4F5FB5DD7}" destId="{41777F26-C39A-4378-8661-E2C69A06FEE2}" srcOrd="2" destOrd="0" parTransId="{58FA74A5-80CE-415B-AB0E-F5ABB4A4D958}" sibTransId="{C7FB7BCD-7636-4CAE-AF41-2B46F5425818}"/>
    <dgm:cxn modelId="{9BF4AF36-44A1-415A-959C-22121C05B996}" type="presOf" srcId="{7CEA18AE-F305-4F76-A57B-3FD417E2D043}" destId="{5656F881-4C96-40DB-BB23-E207CE508DAE}" srcOrd="0" destOrd="0" presId="urn:microsoft.com/office/officeart/2005/8/layout/process1"/>
    <dgm:cxn modelId="{3881113C-8FA1-458C-B32B-2D9E5B67CAA0}" type="presOf" srcId="{C7FB7BCD-7636-4CAE-AF41-2B46F5425818}" destId="{C4A5CD03-683F-426F-9045-62A528931FE9}" srcOrd="1" destOrd="0" presId="urn:microsoft.com/office/officeart/2005/8/layout/process1"/>
    <dgm:cxn modelId="{23D31E5F-085F-443E-9CE6-6FE064BDD88A}" type="presOf" srcId="{C7FB7BCD-7636-4CAE-AF41-2B46F5425818}" destId="{CAAE95BA-6F5F-4511-B892-652C2827042A}" srcOrd="0" destOrd="0" presId="urn:microsoft.com/office/officeart/2005/8/layout/process1"/>
    <dgm:cxn modelId="{B8755761-8901-45C8-BCBA-34CDF58EA601}" type="presOf" srcId="{2D32074A-8EA1-411A-9DB4-58DCF0A0980C}" destId="{C60395A7-55CC-4EB7-A026-BDAF45588C78}" srcOrd="0" destOrd="0" presId="urn:microsoft.com/office/officeart/2005/8/layout/process1"/>
    <dgm:cxn modelId="{7370AB62-6AA1-4BEC-AA80-CC1E5EF1CCAB}" srcId="{719245B2-43AB-49A3-9129-62F4F5FB5DD7}" destId="{69229CC2-09ED-4AE1-BC0C-AC6D1A070895}" srcOrd="4" destOrd="0" parTransId="{F258D2F1-C366-43D9-A97C-7CDC0C6C7C68}" sibTransId="{5F592A5A-9956-4179-A317-9F86DFA7AB34}"/>
    <dgm:cxn modelId="{D6532463-EFAE-4980-9CFB-D9A77DD9B648}" type="presOf" srcId="{719245B2-43AB-49A3-9129-62F4F5FB5DD7}" destId="{B0F134B4-309C-4996-B430-19C9AD253944}" srcOrd="0" destOrd="0" presId="urn:microsoft.com/office/officeart/2005/8/layout/process1"/>
    <dgm:cxn modelId="{01C7AE63-0F88-4406-A583-A0759CC5BFDF}" type="presOf" srcId="{6E128AC3-C6B7-4F19-8891-3B2F8991569D}" destId="{378EA718-4611-4F03-A819-D679DA3BABA1}" srcOrd="0" destOrd="0" presId="urn:microsoft.com/office/officeart/2005/8/layout/process1"/>
    <dgm:cxn modelId="{7F656784-08C7-4DFD-839C-8BDB7E1F477B}" type="presOf" srcId="{89DEFC47-5562-491C-83EC-99E7C3BF7410}" destId="{844FCF21-D7AB-41BC-B4DF-27C8F6B9E2A3}" srcOrd="0" destOrd="0" presId="urn:microsoft.com/office/officeart/2005/8/layout/process1"/>
    <dgm:cxn modelId="{8E549B95-92C3-4A71-ABA2-F7277D32A870}" type="presOf" srcId="{89DEFC47-5562-491C-83EC-99E7C3BF7410}" destId="{DD065F8A-BFD0-46FD-8B15-42BD40795538}" srcOrd="1" destOrd="0" presId="urn:microsoft.com/office/officeart/2005/8/layout/process1"/>
    <dgm:cxn modelId="{CA7F1DA1-7308-439E-A12D-EA204C8F83BA}" srcId="{719245B2-43AB-49A3-9129-62F4F5FB5DD7}" destId="{7CEA18AE-F305-4F76-A57B-3FD417E2D043}" srcOrd="1" destOrd="0" parTransId="{BD9D9458-DA83-4B84-A1D6-4ED8B67979AD}" sibTransId="{89DEFC47-5562-491C-83EC-99E7C3BF7410}"/>
    <dgm:cxn modelId="{4C2599BE-33F6-4490-BF02-DDB5F98B88B3}" type="presOf" srcId="{8EC7C088-A2C0-4FE6-BC80-DE1AD3694736}" destId="{65DACC03-134F-4B1E-904F-187497CCE8CF}" srcOrd="1" destOrd="0" presId="urn:microsoft.com/office/officeart/2005/8/layout/process1"/>
    <dgm:cxn modelId="{196FEDBF-4B7F-45A4-832C-8A8829FB9F48}" srcId="{719245B2-43AB-49A3-9129-62F4F5FB5DD7}" destId="{2D32074A-8EA1-411A-9DB4-58DCF0A0980C}" srcOrd="0" destOrd="0" parTransId="{40832BE7-22EA-4043-B524-75220123A173}" sibTransId="{8EC7C088-A2C0-4FE6-BC80-DE1AD3694736}"/>
    <dgm:cxn modelId="{A290E8C1-A393-4BE2-A30E-6D996645D52A}" type="presOf" srcId="{6E128AC3-C6B7-4F19-8891-3B2F8991569D}" destId="{CAD1CB32-2E32-49D4-A14F-109CEED9EAB3}" srcOrd="1" destOrd="0" presId="urn:microsoft.com/office/officeart/2005/8/layout/process1"/>
    <dgm:cxn modelId="{D060E4D7-5620-40E6-9DC1-B40C2881F2CF}" type="presOf" srcId="{8EC7C088-A2C0-4FE6-BC80-DE1AD3694736}" destId="{683F5243-4E98-4D4C-8CE4-7CCBA12EAAF1}" srcOrd="0" destOrd="0" presId="urn:microsoft.com/office/officeart/2005/8/layout/process1"/>
    <dgm:cxn modelId="{883D8EEA-A098-4A1F-AC17-AF7AFDBC773F}" type="presOf" srcId="{23F70A59-6658-495E-ACDF-FECBDAC4BFBA}" destId="{7772B137-10B4-4872-95A4-64CCD16B68DA}" srcOrd="0" destOrd="0" presId="urn:microsoft.com/office/officeart/2005/8/layout/process1"/>
    <dgm:cxn modelId="{CF8195EB-21E6-42E8-BD12-D455A8D5C5C6}" type="presOf" srcId="{69229CC2-09ED-4AE1-BC0C-AC6D1A070895}" destId="{7C8A0796-5179-4439-8F42-31EE77F8B0BB}" srcOrd="0" destOrd="0" presId="urn:microsoft.com/office/officeart/2005/8/layout/process1"/>
    <dgm:cxn modelId="{EDA5566C-6D4F-4355-872A-65679DEC1D4F}" type="presParOf" srcId="{B0F134B4-309C-4996-B430-19C9AD253944}" destId="{C60395A7-55CC-4EB7-A026-BDAF45588C78}" srcOrd="0" destOrd="0" presId="urn:microsoft.com/office/officeart/2005/8/layout/process1"/>
    <dgm:cxn modelId="{72BD7AFB-324B-447D-ABBE-91ED806A59EF}" type="presParOf" srcId="{B0F134B4-309C-4996-B430-19C9AD253944}" destId="{683F5243-4E98-4D4C-8CE4-7CCBA12EAAF1}" srcOrd="1" destOrd="0" presId="urn:microsoft.com/office/officeart/2005/8/layout/process1"/>
    <dgm:cxn modelId="{38D6167E-FB23-4062-8D77-555A12607D1A}" type="presParOf" srcId="{683F5243-4E98-4D4C-8CE4-7CCBA12EAAF1}" destId="{65DACC03-134F-4B1E-904F-187497CCE8CF}" srcOrd="0" destOrd="0" presId="urn:microsoft.com/office/officeart/2005/8/layout/process1"/>
    <dgm:cxn modelId="{E345FFCC-C24C-4AD9-B872-26BDCACCA597}" type="presParOf" srcId="{B0F134B4-309C-4996-B430-19C9AD253944}" destId="{5656F881-4C96-40DB-BB23-E207CE508DAE}" srcOrd="2" destOrd="0" presId="urn:microsoft.com/office/officeart/2005/8/layout/process1"/>
    <dgm:cxn modelId="{35875CEC-3F7E-4E2B-9F8C-1A102D309DBE}" type="presParOf" srcId="{B0F134B4-309C-4996-B430-19C9AD253944}" destId="{844FCF21-D7AB-41BC-B4DF-27C8F6B9E2A3}" srcOrd="3" destOrd="0" presId="urn:microsoft.com/office/officeart/2005/8/layout/process1"/>
    <dgm:cxn modelId="{A7534BDF-5CE3-433C-9945-C444B4AB9586}" type="presParOf" srcId="{844FCF21-D7AB-41BC-B4DF-27C8F6B9E2A3}" destId="{DD065F8A-BFD0-46FD-8B15-42BD40795538}" srcOrd="0" destOrd="0" presId="urn:microsoft.com/office/officeart/2005/8/layout/process1"/>
    <dgm:cxn modelId="{B968E1E0-8F0D-4C12-82A1-5C22434019E2}" type="presParOf" srcId="{B0F134B4-309C-4996-B430-19C9AD253944}" destId="{56FAF0A1-7C2A-4F43-9075-2EB0A5F76D06}" srcOrd="4" destOrd="0" presId="urn:microsoft.com/office/officeart/2005/8/layout/process1"/>
    <dgm:cxn modelId="{54A9306F-3F40-41BA-AB04-ADDFC783B37D}" type="presParOf" srcId="{B0F134B4-309C-4996-B430-19C9AD253944}" destId="{CAAE95BA-6F5F-4511-B892-652C2827042A}" srcOrd="5" destOrd="0" presId="urn:microsoft.com/office/officeart/2005/8/layout/process1"/>
    <dgm:cxn modelId="{EB9DA02B-0D56-4C80-8C93-DA53BBC9A283}" type="presParOf" srcId="{CAAE95BA-6F5F-4511-B892-652C2827042A}" destId="{C4A5CD03-683F-426F-9045-62A528931FE9}" srcOrd="0" destOrd="0" presId="urn:microsoft.com/office/officeart/2005/8/layout/process1"/>
    <dgm:cxn modelId="{9C48743C-04E7-4A88-9CBB-CA66CA3B0333}" type="presParOf" srcId="{B0F134B4-309C-4996-B430-19C9AD253944}" destId="{7772B137-10B4-4872-95A4-64CCD16B68DA}" srcOrd="6" destOrd="0" presId="urn:microsoft.com/office/officeart/2005/8/layout/process1"/>
    <dgm:cxn modelId="{03B5B642-0A83-4DCC-BFC6-010F4A220D74}" type="presParOf" srcId="{B0F134B4-309C-4996-B430-19C9AD253944}" destId="{378EA718-4611-4F03-A819-D679DA3BABA1}" srcOrd="7" destOrd="0" presId="urn:microsoft.com/office/officeart/2005/8/layout/process1"/>
    <dgm:cxn modelId="{EFCACB3E-C8CD-4998-A894-84D3CB23F860}" type="presParOf" srcId="{378EA718-4611-4F03-A819-D679DA3BABA1}" destId="{CAD1CB32-2E32-49D4-A14F-109CEED9EAB3}" srcOrd="0" destOrd="0" presId="urn:microsoft.com/office/officeart/2005/8/layout/process1"/>
    <dgm:cxn modelId="{C6FA0CE0-3146-47B7-AB26-0EDE92A0EAB7}" type="presParOf" srcId="{B0F134B4-309C-4996-B430-19C9AD253944}" destId="{7C8A0796-5179-4439-8F42-31EE77F8B0BB}" srcOrd="8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DE00BD2-2CFD-4CE6-B76E-E35BDB03F285}" type="doc">
      <dgm:prSet loTypeId="urn:microsoft.com/office/officeart/2005/8/layout/hList1" loCatId="list" qsTypeId="urn:microsoft.com/office/officeart/2005/8/quickstyle/simple1#2" qsCatId="simple" csTypeId="urn:microsoft.com/office/officeart/2005/8/colors/accent1_2#2" csCatId="accent1" phldr="1"/>
      <dgm:spPr/>
      <dgm:t>
        <a:bodyPr/>
        <a:lstStyle/>
        <a:p>
          <a:endParaRPr lang="en-US"/>
        </a:p>
      </dgm:t>
    </dgm:pt>
    <dgm:pt modelId="{BCDBEEE4-8AF9-4277-AF23-FC09E46BD31F}">
      <dgm:prSet phldrT="[Text]" phldr="0" custT="1"/>
      <dgm:spPr/>
      <dgm:t>
        <a:bodyPr/>
        <a:lstStyle/>
        <a:p>
          <a:r>
            <a:rPr lang="en-US" sz="1600" b="1" dirty="0"/>
            <a:t>2026 (Beta Phase)</a:t>
          </a:r>
        </a:p>
      </dgm:t>
    </dgm:pt>
    <dgm:pt modelId="{71642F3B-A66E-4BFE-92D9-0A3B6B712FB6}" type="parTrans" cxnId="{832F9FAE-69C7-4E80-BA7F-BB126FE63F6E}">
      <dgm:prSet/>
      <dgm:spPr/>
      <dgm:t>
        <a:bodyPr/>
        <a:lstStyle/>
        <a:p>
          <a:endParaRPr lang="en-US"/>
        </a:p>
      </dgm:t>
    </dgm:pt>
    <dgm:pt modelId="{2091946D-F39F-4FE0-80B3-06D9BA869EB2}" type="sibTrans" cxnId="{832F9FAE-69C7-4E80-BA7F-BB126FE63F6E}">
      <dgm:prSet/>
      <dgm:spPr/>
      <dgm:t>
        <a:bodyPr/>
        <a:lstStyle/>
        <a:p>
          <a:endParaRPr lang="en-US"/>
        </a:p>
      </dgm:t>
    </dgm:pt>
    <dgm:pt modelId="{3AA7396E-A108-422F-BC5C-9B29975DFB95}">
      <dgm:prSet phldrT="[Text]" phldr="0" custT="1"/>
      <dgm:spPr>
        <a:solidFill>
          <a:schemeClr val="bg1">
            <a:alpha val="90000"/>
          </a:schemeClr>
        </a:solidFill>
      </dgm:spPr>
      <dgm:t>
        <a:bodyPr/>
        <a:lstStyle/>
        <a:p>
          <a:r>
            <a:rPr lang="en-US" sz="1400" b="1" dirty="0"/>
            <a:t>Flinky</a:t>
          </a:r>
          <a:br>
            <a:rPr lang="en-US" sz="1400" b="1" dirty="0"/>
          </a:br>
          <a:r>
            <a:rPr lang="en-US" sz="1400" b="1" dirty="0" err="1"/>
            <a:t>FrontEnd</a:t>
          </a:r>
          <a:r>
            <a:rPr lang="en-US" sz="1400" b="1" dirty="0"/>
            <a:t> and Platform </a:t>
          </a:r>
          <a:br>
            <a:rPr lang="en-US" sz="1400" b="1" dirty="0"/>
          </a:br>
          <a:r>
            <a:rPr lang="en-US" sz="1400" b="1" dirty="0"/>
            <a:t>for AIODP Sovereign Services </a:t>
          </a:r>
          <a:br>
            <a:rPr lang="en-US" sz="1200" dirty="0"/>
          </a:br>
          <a:endParaRPr lang="en-US" sz="1200" dirty="0"/>
        </a:p>
      </dgm:t>
    </dgm:pt>
    <dgm:pt modelId="{E02711DA-F8E4-4218-95F7-C93661E1A9F1}" type="parTrans" cxnId="{DF5E96FA-1962-4200-A690-D6212678351F}">
      <dgm:prSet/>
      <dgm:spPr/>
      <dgm:t>
        <a:bodyPr/>
        <a:lstStyle/>
        <a:p>
          <a:endParaRPr lang="en-US"/>
        </a:p>
      </dgm:t>
    </dgm:pt>
    <dgm:pt modelId="{65C9EA6D-AE4D-47C6-858D-D45248B2B2CA}" type="sibTrans" cxnId="{DF5E96FA-1962-4200-A690-D6212678351F}">
      <dgm:prSet/>
      <dgm:spPr/>
      <dgm:t>
        <a:bodyPr/>
        <a:lstStyle/>
        <a:p>
          <a:endParaRPr lang="en-US"/>
        </a:p>
      </dgm:t>
    </dgm:pt>
    <dgm:pt modelId="{2CFB0307-B37C-4DC4-A06D-EE105772ADA6}">
      <dgm:prSet phldrT="[Text]" phldr="0" custT="1"/>
      <dgm:spPr/>
      <dgm:t>
        <a:bodyPr/>
        <a:lstStyle/>
        <a:p>
          <a:r>
            <a:rPr lang="en-US" sz="1600" b="1" dirty="0"/>
            <a:t>Q1-Q2 2027</a:t>
          </a:r>
        </a:p>
      </dgm:t>
    </dgm:pt>
    <dgm:pt modelId="{8DB3812F-E256-46E9-8E41-57852D4E7C45}" type="parTrans" cxnId="{4DEED6DB-AEC3-4115-8D7F-1FA211D88E60}">
      <dgm:prSet/>
      <dgm:spPr/>
      <dgm:t>
        <a:bodyPr/>
        <a:lstStyle/>
        <a:p>
          <a:endParaRPr lang="en-US"/>
        </a:p>
      </dgm:t>
    </dgm:pt>
    <dgm:pt modelId="{5176A360-ECAD-449D-857C-A5F1A14AF43A}" type="sibTrans" cxnId="{4DEED6DB-AEC3-4115-8D7F-1FA211D88E60}">
      <dgm:prSet/>
      <dgm:spPr/>
      <dgm:t>
        <a:bodyPr/>
        <a:lstStyle/>
        <a:p>
          <a:endParaRPr lang="en-US"/>
        </a:p>
      </dgm:t>
    </dgm:pt>
    <dgm:pt modelId="{D349B4B1-D617-42A1-AAAA-600139A92F24}">
      <dgm:prSet phldrT="[Text]" phldr="0" custT="1"/>
      <dgm:spPr>
        <a:solidFill>
          <a:schemeClr val="bg1">
            <a:alpha val="90000"/>
          </a:schemeClr>
        </a:solidFill>
      </dgm:spPr>
      <dgm:t>
        <a:bodyPr/>
        <a:lstStyle/>
        <a:p>
          <a:r>
            <a:rPr lang="en-US" sz="1200" b="1" dirty="0"/>
            <a:t>Agentic Development Workflow Automation</a:t>
          </a:r>
        </a:p>
      </dgm:t>
    </dgm:pt>
    <dgm:pt modelId="{A39F28B3-C46A-4E7D-8968-90B646EE605F}" type="parTrans" cxnId="{FD2A29FD-E89C-46AE-A81A-A4DA153D16AF}">
      <dgm:prSet/>
      <dgm:spPr/>
      <dgm:t>
        <a:bodyPr/>
        <a:lstStyle/>
        <a:p>
          <a:endParaRPr lang="en-US"/>
        </a:p>
      </dgm:t>
    </dgm:pt>
    <dgm:pt modelId="{091DABF4-848A-4E98-9C74-81DEC6238BF4}" type="sibTrans" cxnId="{FD2A29FD-E89C-46AE-A81A-A4DA153D16AF}">
      <dgm:prSet/>
      <dgm:spPr/>
      <dgm:t>
        <a:bodyPr/>
        <a:lstStyle/>
        <a:p>
          <a:endParaRPr lang="en-US"/>
        </a:p>
      </dgm:t>
    </dgm:pt>
    <dgm:pt modelId="{BD2A1A8F-18E0-4344-8F58-116E4423D73F}">
      <dgm:prSet phldrT="[Text]" phldr="0" custT="1"/>
      <dgm:spPr/>
      <dgm:t>
        <a:bodyPr/>
        <a:lstStyle/>
        <a:p>
          <a:r>
            <a:rPr lang="en-US" sz="1600" b="1" dirty="0"/>
            <a:t>YE 2027</a:t>
          </a:r>
        </a:p>
      </dgm:t>
    </dgm:pt>
    <dgm:pt modelId="{15D63249-4DEF-4C30-B728-A4A37941FC87}" type="parTrans" cxnId="{047982FE-160F-4193-87B6-6AD701E8CAD5}">
      <dgm:prSet/>
      <dgm:spPr/>
      <dgm:t>
        <a:bodyPr/>
        <a:lstStyle/>
        <a:p>
          <a:endParaRPr lang="en-US"/>
        </a:p>
      </dgm:t>
    </dgm:pt>
    <dgm:pt modelId="{20F94C4A-6878-4323-88B1-F855CB8AD167}" type="sibTrans" cxnId="{047982FE-160F-4193-87B6-6AD701E8CAD5}">
      <dgm:prSet/>
      <dgm:spPr/>
      <dgm:t>
        <a:bodyPr/>
        <a:lstStyle/>
        <a:p>
          <a:endParaRPr lang="en-US"/>
        </a:p>
      </dgm:t>
    </dgm:pt>
    <dgm:pt modelId="{F9E1E14D-8D1B-4504-ACF2-7BB05FAD57C4}">
      <dgm:prSet phldrT="[Text]" phldr="0" custT="1"/>
      <dgm:spPr>
        <a:solidFill>
          <a:schemeClr val="bg1">
            <a:alpha val="90000"/>
          </a:schemeClr>
        </a:solidFill>
      </dgm:spPr>
      <dgm:t>
        <a:bodyPr anchor="ctr"/>
        <a:lstStyle/>
        <a:p>
          <a:r>
            <a:rPr lang="en-US" sz="1200" b="1" dirty="0"/>
            <a:t>White Label Portfolio</a:t>
          </a:r>
        </a:p>
      </dgm:t>
    </dgm:pt>
    <dgm:pt modelId="{79E0751C-328D-49F8-9AD5-E71546AB5043}" type="parTrans" cxnId="{E91F65CC-BE5F-4D46-BCD5-C9415FB6FAE2}">
      <dgm:prSet/>
      <dgm:spPr/>
      <dgm:t>
        <a:bodyPr/>
        <a:lstStyle/>
        <a:p>
          <a:endParaRPr lang="en-US"/>
        </a:p>
      </dgm:t>
    </dgm:pt>
    <dgm:pt modelId="{8379B42A-136D-4DD2-A8FC-B76292B79AA6}" type="sibTrans" cxnId="{E91F65CC-BE5F-4D46-BCD5-C9415FB6FAE2}">
      <dgm:prSet/>
      <dgm:spPr/>
      <dgm:t>
        <a:bodyPr/>
        <a:lstStyle/>
        <a:p>
          <a:endParaRPr lang="en-US"/>
        </a:p>
      </dgm:t>
    </dgm:pt>
    <dgm:pt modelId="{4C70FC09-0B86-4710-B2A7-859A6CA6B2DE}">
      <dgm:prSet phldrT="[Text]" phldr="0" custT="1"/>
      <dgm:spPr>
        <a:solidFill>
          <a:schemeClr val="bg1">
            <a:alpha val="90000"/>
          </a:schemeClr>
        </a:solidFill>
      </dgm:spPr>
      <dgm:t>
        <a:bodyPr/>
        <a:lstStyle/>
        <a:p>
          <a:r>
            <a:rPr lang="en-US" sz="1200" b="1" dirty="0"/>
            <a:t>Inference Services Providers Connected</a:t>
          </a:r>
        </a:p>
      </dgm:t>
    </dgm:pt>
    <dgm:pt modelId="{B58ACA4F-8B86-4FE6-A22C-1EA88FB871AE}" type="parTrans" cxnId="{BC0E4F5C-9F4A-49A2-8B61-AB21898B24A4}">
      <dgm:prSet/>
      <dgm:spPr/>
      <dgm:t>
        <a:bodyPr/>
        <a:lstStyle/>
        <a:p>
          <a:endParaRPr lang="en-US"/>
        </a:p>
      </dgm:t>
    </dgm:pt>
    <dgm:pt modelId="{152EA986-7BDA-4EF7-966B-8990F2EE3F6A}" type="sibTrans" cxnId="{BC0E4F5C-9F4A-49A2-8B61-AB21898B24A4}">
      <dgm:prSet/>
      <dgm:spPr/>
      <dgm:t>
        <a:bodyPr/>
        <a:lstStyle/>
        <a:p>
          <a:endParaRPr lang="en-US"/>
        </a:p>
      </dgm:t>
    </dgm:pt>
    <dgm:pt modelId="{1AD66144-A623-4743-8219-1FF851648796}">
      <dgm:prSet phldrT="[Text]" phldr="0" custT="1"/>
      <dgm:spPr>
        <a:solidFill>
          <a:schemeClr val="bg1">
            <a:alpha val="90000"/>
          </a:schemeClr>
        </a:solidFill>
      </dgm:spPr>
      <dgm:t>
        <a:bodyPr/>
        <a:lstStyle/>
        <a:p>
          <a:r>
            <a:rPr lang="en-US" sz="1200" dirty="0" err="1"/>
            <a:t>Meluxina</a:t>
          </a:r>
          <a:endParaRPr lang="en-US" sz="1200" dirty="0"/>
        </a:p>
      </dgm:t>
    </dgm:pt>
    <dgm:pt modelId="{51C9E81F-07A7-4135-9365-F059FB179E3C}" type="parTrans" cxnId="{BF6831BA-DEF0-4EE2-8F98-22284B11BB5B}">
      <dgm:prSet/>
      <dgm:spPr/>
      <dgm:t>
        <a:bodyPr/>
        <a:lstStyle/>
        <a:p>
          <a:endParaRPr lang="en-US"/>
        </a:p>
      </dgm:t>
    </dgm:pt>
    <dgm:pt modelId="{31C2D657-024C-412B-8B85-6B6BF8C68830}" type="sibTrans" cxnId="{BF6831BA-DEF0-4EE2-8F98-22284B11BB5B}">
      <dgm:prSet/>
      <dgm:spPr/>
      <dgm:t>
        <a:bodyPr/>
        <a:lstStyle/>
        <a:p>
          <a:endParaRPr lang="en-US"/>
        </a:p>
      </dgm:t>
    </dgm:pt>
    <dgm:pt modelId="{F08AB753-3B9D-4E64-ACC4-8009D9DCD16B}">
      <dgm:prSet phldrT="[Text]" phldr="0" custT="1"/>
      <dgm:spPr>
        <a:solidFill>
          <a:schemeClr val="bg1">
            <a:alpha val="90000"/>
          </a:schemeClr>
        </a:solidFill>
      </dgm:spPr>
      <dgm:t>
        <a:bodyPr/>
        <a:lstStyle/>
        <a:p>
          <a:r>
            <a:rPr lang="en-US" sz="1200" dirty="0"/>
            <a:t>Lumi</a:t>
          </a:r>
          <a:br>
            <a:rPr lang="en-US" sz="1200" dirty="0"/>
          </a:br>
          <a:endParaRPr lang="en-US" sz="1200" dirty="0"/>
        </a:p>
      </dgm:t>
    </dgm:pt>
    <dgm:pt modelId="{DFC383A6-F14C-441E-ABA5-02F3CEE43667}" type="parTrans" cxnId="{8E956ECE-8C53-46CB-B13E-E5FFFAC3A01D}">
      <dgm:prSet/>
      <dgm:spPr/>
      <dgm:t>
        <a:bodyPr/>
        <a:lstStyle/>
        <a:p>
          <a:endParaRPr lang="en-US"/>
        </a:p>
      </dgm:t>
    </dgm:pt>
    <dgm:pt modelId="{486914E1-46B4-4D5D-A7C2-2E4E160295BC}" type="sibTrans" cxnId="{8E956ECE-8C53-46CB-B13E-E5FFFAC3A01D}">
      <dgm:prSet/>
      <dgm:spPr/>
      <dgm:t>
        <a:bodyPr/>
        <a:lstStyle/>
        <a:p>
          <a:endParaRPr lang="en-US"/>
        </a:p>
      </dgm:t>
    </dgm:pt>
    <dgm:pt modelId="{3A1DC77D-E660-4D6F-BEF0-9DC5A1E1E426}">
      <dgm:prSet phldrT="[Text]" phldr="0" custT="1"/>
      <dgm:spPr>
        <a:solidFill>
          <a:schemeClr val="bg1">
            <a:alpha val="90000"/>
          </a:schemeClr>
        </a:solidFill>
      </dgm:spPr>
      <dgm:t>
        <a:bodyPr/>
        <a:lstStyle/>
        <a:p>
          <a:r>
            <a:rPr lang="en-US" sz="1200" b="1" dirty="0"/>
            <a:t>Cloud/Kubernetes DevOps</a:t>
          </a:r>
        </a:p>
      </dgm:t>
    </dgm:pt>
    <dgm:pt modelId="{2314CD82-3096-43B1-B27A-485E7A10D7FF}" type="parTrans" cxnId="{A2699F7E-6865-4951-8B9D-3C9294B1365F}">
      <dgm:prSet/>
      <dgm:spPr/>
      <dgm:t>
        <a:bodyPr/>
        <a:lstStyle/>
        <a:p>
          <a:endParaRPr lang="en-US"/>
        </a:p>
      </dgm:t>
    </dgm:pt>
    <dgm:pt modelId="{BDB2330B-7A3B-42C2-A2A7-92D02A859988}" type="sibTrans" cxnId="{A2699F7E-6865-4951-8B9D-3C9294B1365F}">
      <dgm:prSet/>
      <dgm:spPr/>
      <dgm:t>
        <a:bodyPr/>
        <a:lstStyle/>
        <a:p>
          <a:endParaRPr lang="en-US"/>
        </a:p>
      </dgm:t>
    </dgm:pt>
    <dgm:pt modelId="{C01B39C6-6FDB-4D1A-AF5F-78C669F7C607}">
      <dgm:prSet phldrT="[Text]" phldr="0" custT="1"/>
      <dgm:spPr>
        <a:solidFill>
          <a:schemeClr val="bg1">
            <a:alpha val="90000"/>
          </a:schemeClr>
        </a:solidFill>
      </dgm:spPr>
      <dgm:t>
        <a:bodyPr/>
        <a:lstStyle/>
        <a:p>
          <a:r>
            <a:rPr lang="en-US" sz="1200" b="1" dirty="0"/>
            <a:t>Open Industry APIs Interoperability</a:t>
          </a:r>
        </a:p>
      </dgm:t>
    </dgm:pt>
    <dgm:pt modelId="{3E22C0E9-915A-4C31-B97A-4BED952FA67C}" type="parTrans" cxnId="{FDB7C7E2-161A-492F-BA84-24253F2CA7C6}">
      <dgm:prSet/>
      <dgm:spPr/>
      <dgm:t>
        <a:bodyPr/>
        <a:lstStyle/>
        <a:p>
          <a:endParaRPr lang="en-US"/>
        </a:p>
      </dgm:t>
    </dgm:pt>
    <dgm:pt modelId="{E1101428-DFC6-419B-ABA9-01EC88A42DCD}" type="sibTrans" cxnId="{FDB7C7E2-161A-492F-BA84-24253F2CA7C6}">
      <dgm:prSet/>
      <dgm:spPr/>
      <dgm:t>
        <a:bodyPr/>
        <a:lstStyle/>
        <a:p>
          <a:endParaRPr lang="en-US"/>
        </a:p>
      </dgm:t>
    </dgm:pt>
    <dgm:pt modelId="{BBBDA41A-E09E-418D-888B-7D298164ED0A}">
      <dgm:prSet phldrT="[Text]" phldr="0" custT="1"/>
      <dgm:spPr>
        <a:solidFill>
          <a:schemeClr val="bg1">
            <a:alpha val="90000"/>
          </a:schemeClr>
        </a:solidFill>
      </dgm:spPr>
      <dgm:t>
        <a:bodyPr/>
        <a:lstStyle/>
        <a:p>
          <a:r>
            <a:rPr lang="en-US" sz="1200" b="1" dirty="0"/>
            <a:t>Tools</a:t>
          </a:r>
        </a:p>
      </dgm:t>
    </dgm:pt>
    <dgm:pt modelId="{3B78482A-2853-4510-995C-930E48BE70B0}" type="parTrans" cxnId="{CAAAFF76-4AD6-4763-BE7E-2655465482B0}">
      <dgm:prSet/>
      <dgm:spPr/>
      <dgm:t>
        <a:bodyPr/>
        <a:lstStyle/>
        <a:p>
          <a:endParaRPr lang="en-US"/>
        </a:p>
      </dgm:t>
    </dgm:pt>
    <dgm:pt modelId="{FFA089BB-0310-4669-99E4-597EAD2161FB}" type="sibTrans" cxnId="{CAAAFF76-4AD6-4763-BE7E-2655465482B0}">
      <dgm:prSet/>
      <dgm:spPr/>
      <dgm:t>
        <a:bodyPr/>
        <a:lstStyle/>
        <a:p>
          <a:endParaRPr lang="en-US"/>
        </a:p>
      </dgm:t>
    </dgm:pt>
    <dgm:pt modelId="{0945266F-13B3-4651-967D-E9FF46B7D84A}">
      <dgm:prSet phldrT="[Text]" phldr="0" custT="1"/>
      <dgm:spPr>
        <a:solidFill>
          <a:schemeClr val="bg1">
            <a:alpha val="90000"/>
          </a:schemeClr>
        </a:solidFill>
      </dgm:spPr>
      <dgm:t>
        <a:bodyPr/>
        <a:lstStyle/>
        <a:p>
          <a:r>
            <a:rPr lang="en-US" sz="1200" dirty="0" err="1"/>
            <a:t>Convotis</a:t>
          </a:r>
          <a:endParaRPr lang="en-US" sz="1200" dirty="0"/>
        </a:p>
      </dgm:t>
    </dgm:pt>
    <dgm:pt modelId="{B5970625-3496-4C26-A8A3-8487EE0ED7CC}" type="parTrans" cxnId="{1DCFE757-8DDF-456C-9FA2-A652864541C8}">
      <dgm:prSet/>
      <dgm:spPr/>
      <dgm:t>
        <a:bodyPr/>
        <a:lstStyle/>
        <a:p>
          <a:endParaRPr lang="en-US"/>
        </a:p>
      </dgm:t>
    </dgm:pt>
    <dgm:pt modelId="{843E3733-52CB-48BA-87DC-E9352E8734FD}" type="sibTrans" cxnId="{1DCFE757-8DDF-456C-9FA2-A652864541C8}">
      <dgm:prSet/>
      <dgm:spPr/>
      <dgm:t>
        <a:bodyPr/>
        <a:lstStyle/>
        <a:p>
          <a:endParaRPr lang="en-US"/>
        </a:p>
      </dgm:t>
    </dgm:pt>
    <dgm:pt modelId="{6FF7854F-A18F-4A53-81F2-F9978574BCC3}">
      <dgm:prSet phldrT="[Text]" phldr="0" custT="1"/>
      <dgm:spPr>
        <a:solidFill>
          <a:schemeClr val="bg1">
            <a:alpha val="90000"/>
          </a:schemeClr>
        </a:solidFill>
      </dgm:spPr>
      <dgm:t>
        <a:bodyPr/>
        <a:lstStyle/>
        <a:p>
          <a:r>
            <a:rPr lang="en-US" sz="1200" dirty="0" err="1"/>
            <a:t>LuxProvide</a:t>
          </a:r>
          <a:br>
            <a:rPr lang="en-US" sz="1200" dirty="0"/>
          </a:br>
          <a:endParaRPr lang="en-US" sz="1200" dirty="0"/>
        </a:p>
      </dgm:t>
    </dgm:pt>
    <dgm:pt modelId="{C074165C-C6BC-4478-B57E-604D63BF4FF6}" type="parTrans" cxnId="{451CE25C-E49E-4A72-A1C4-FF72710E4706}">
      <dgm:prSet/>
      <dgm:spPr/>
      <dgm:t>
        <a:bodyPr/>
        <a:lstStyle/>
        <a:p>
          <a:endParaRPr lang="en-US"/>
        </a:p>
      </dgm:t>
    </dgm:pt>
    <dgm:pt modelId="{06AF592D-B6CD-4B77-BA53-26185C3CE213}" type="sibTrans" cxnId="{451CE25C-E49E-4A72-A1C4-FF72710E4706}">
      <dgm:prSet/>
      <dgm:spPr/>
      <dgm:t>
        <a:bodyPr/>
        <a:lstStyle/>
        <a:p>
          <a:endParaRPr lang="en-US"/>
        </a:p>
      </dgm:t>
    </dgm:pt>
    <dgm:pt modelId="{973BC2C0-E69F-4488-A08C-8DCF8B924739}">
      <dgm:prSet phldrT="[Text]" phldr="0" custT="1"/>
      <dgm:spPr>
        <a:solidFill>
          <a:schemeClr val="bg1">
            <a:alpha val="90000"/>
          </a:schemeClr>
        </a:solidFill>
      </dgm:spPr>
      <dgm:t>
        <a:bodyPr/>
        <a:lstStyle/>
        <a:p>
          <a:r>
            <a:rPr lang="en-US" sz="1200" dirty="0"/>
            <a:t>Compliance/SALL, other</a:t>
          </a:r>
        </a:p>
      </dgm:t>
    </dgm:pt>
    <dgm:pt modelId="{A5D617FE-45A9-4CA5-B9BF-A3717696C109}" type="parTrans" cxnId="{2E84B16B-D61D-4CEC-8F51-4225EC50C701}">
      <dgm:prSet/>
      <dgm:spPr/>
      <dgm:t>
        <a:bodyPr/>
        <a:lstStyle/>
        <a:p>
          <a:endParaRPr lang="en-US"/>
        </a:p>
      </dgm:t>
    </dgm:pt>
    <dgm:pt modelId="{C87A72B1-5435-4D04-BFB4-AD0D8291B05F}" type="sibTrans" cxnId="{2E84B16B-D61D-4CEC-8F51-4225EC50C701}">
      <dgm:prSet/>
      <dgm:spPr/>
      <dgm:t>
        <a:bodyPr/>
        <a:lstStyle/>
        <a:p>
          <a:endParaRPr lang="en-US"/>
        </a:p>
      </dgm:t>
    </dgm:pt>
    <dgm:pt modelId="{7C553529-DFB0-4D6D-8B22-29C0B24809A5}">
      <dgm:prSet phldrT="[Text]" phldr="0" custT="1"/>
      <dgm:spPr>
        <a:solidFill>
          <a:schemeClr val="bg1">
            <a:alpha val="90000"/>
          </a:schemeClr>
        </a:solidFill>
      </dgm:spPr>
      <dgm:t>
        <a:bodyPr/>
        <a:lstStyle/>
        <a:p>
          <a:r>
            <a:rPr lang="en-US" sz="1200" dirty="0"/>
            <a:t>AI Builder</a:t>
          </a:r>
        </a:p>
      </dgm:t>
    </dgm:pt>
    <dgm:pt modelId="{FD90014F-1395-49F8-B556-DB305C769144}" type="parTrans" cxnId="{6F70507F-621C-4534-B638-49F0BF25C512}">
      <dgm:prSet/>
      <dgm:spPr/>
      <dgm:t>
        <a:bodyPr/>
        <a:lstStyle/>
        <a:p>
          <a:endParaRPr lang="en-US"/>
        </a:p>
      </dgm:t>
    </dgm:pt>
    <dgm:pt modelId="{87ED6E7D-4F5F-4F48-89B2-54C60690C8CA}" type="sibTrans" cxnId="{6F70507F-621C-4534-B638-49F0BF25C512}">
      <dgm:prSet/>
      <dgm:spPr/>
      <dgm:t>
        <a:bodyPr/>
        <a:lstStyle/>
        <a:p>
          <a:endParaRPr lang="en-US"/>
        </a:p>
      </dgm:t>
    </dgm:pt>
    <dgm:pt modelId="{DA35E795-64A0-439A-B0FB-AA0CC5A7D9FF}">
      <dgm:prSet phldrT="[Text]" phldr="0" custT="1"/>
      <dgm:spPr>
        <a:solidFill>
          <a:schemeClr val="bg1">
            <a:alpha val="90000"/>
          </a:schemeClr>
        </a:solidFill>
      </dgm:spPr>
      <dgm:t>
        <a:bodyPr/>
        <a:lstStyle/>
        <a:p>
          <a:r>
            <a:rPr lang="en-US" sz="1200" dirty="0"/>
            <a:t>GenAI Gateway</a:t>
          </a:r>
        </a:p>
      </dgm:t>
    </dgm:pt>
    <dgm:pt modelId="{47817EA8-FA16-4666-B8FA-174257C906D3}" type="parTrans" cxnId="{744A20A1-11FC-49D3-B339-1E03F5C11F4D}">
      <dgm:prSet/>
      <dgm:spPr/>
      <dgm:t>
        <a:bodyPr/>
        <a:lstStyle/>
        <a:p>
          <a:endParaRPr lang="en-US"/>
        </a:p>
      </dgm:t>
    </dgm:pt>
    <dgm:pt modelId="{ACC63BE4-9696-4D5D-ADCD-F7159197C07A}" type="sibTrans" cxnId="{744A20A1-11FC-49D3-B339-1E03F5C11F4D}">
      <dgm:prSet/>
      <dgm:spPr/>
      <dgm:t>
        <a:bodyPr/>
        <a:lstStyle/>
        <a:p>
          <a:endParaRPr lang="en-US"/>
        </a:p>
      </dgm:t>
    </dgm:pt>
    <dgm:pt modelId="{A1F1BAE1-56A9-43D3-AC6C-B5DC17303A77}">
      <dgm:prSet phldrT="[Text]" phldr="0" custT="1"/>
      <dgm:spPr>
        <a:solidFill>
          <a:schemeClr val="bg1">
            <a:alpha val="90000"/>
          </a:schemeClr>
        </a:solidFill>
      </dgm:spPr>
      <dgm:t>
        <a:bodyPr/>
        <a:lstStyle/>
        <a:p>
          <a:r>
            <a:rPr lang="en-US" sz="1200" dirty="0"/>
            <a:t>Enterprise Portal</a:t>
          </a:r>
        </a:p>
      </dgm:t>
    </dgm:pt>
    <dgm:pt modelId="{0F646032-DFF9-41D3-8B1C-E423F6885180}" type="parTrans" cxnId="{3DD75A00-E3F5-4214-8F31-760940FF46BE}">
      <dgm:prSet/>
      <dgm:spPr/>
      <dgm:t>
        <a:bodyPr/>
        <a:lstStyle/>
        <a:p>
          <a:endParaRPr lang="en-US"/>
        </a:p>
      </dgm:t>
    </dgm:pt>
    <dgm:pt modelId="{6E0F2DC6-D4E9-4A17-AA09-E47E00F03DA0}" type="sibTrans" cxnId="{3DD75A00-E3F5-4214-8F31-760940FF46BE}">
      <dgm:prSet/>
      <dgm:spPr/>
      <dgm:t>
        <a:bodyPr/>
        <a:lstStyle/>
        <a:p>
          <a:endParaRPr lang="en-US"/>
        </a:p>
      </dgm:t>
    </dgm:pt>
    <dgm:pt modelId="{CAEF1351-02A8-4B1C-8AD6-F6CE52748ECA}">
      <dgm:prSet phldrT="[Text]" phldr="0" custT="1"/>
      <dgm:spPr>
        <a:solidFill>
          <a:schemeClr val="bg1">
            <a:alpha val="90000"/>
          </a:schemeClr>
        </a:solidFill>
      </dgm:spPr>
      <dgm:t>
        <a:bodyPr/>
        <a:lstStyle/>
        <a:p>
          <a:r>
            <a:rPr lang="en-US" sz="1200" dirty="0"/>
            <a:t>Other</a:t>
          </a:r>
          <a:br>
            <a:rPr lang="en-US" sz="1200" dirty="0"/>
          </a:br>
          <a:endParaRPr lang="en-US" sz="1200" dirty="0"/>
        </a:p>
      </dgm:t>
    </dgm:pt>
    <dgm:pt modelId="{91DA36F7-5C9C-46FB-BF32-A8EF1DF76F31}" type="parTrans" cxnId="{BC7F3454-A0E9-4276-8957-3CD90C1F2FF0}">
      <dgm:prSet/>
      <dgm:spPr/>
      <dgm:t>
        <a:bodyPr/>
        <a:lstStyle/>
        <a:p>
          <a:endParaRPr lang="en-US"/>
        </a:p>
      </dgm:t>
    </dgm:pt>
    <dgm:pt modelId="{3E839534-9B0E-434C-8B17-880E1B07A7C4}" type="sibTrans" cxnId="{BC7F3454-A0E9-4276-8957-3CD90C1F2FF0}">
      <dgm:prSet/>
      <dgm:spPr/>
      <dgm:t>
        <a:bodyPr/>
        <a:lstStyle/>
        <a:p>
          <a:endParaRPr lang="en-US"/>
        </a:p>
      </dgm:t>
    </dgm:pt>
    <dgm:pt modelId="{1F2362F3-205C-41AA-A4E8-2C813588A4F7}">
      <dgm:prSet phldrT="[Text]" phldr="0" custT="1"/>
      <dgm:spPr>
        <a:solidFill>
          <a:schemeClr val="bg1">
            <a:alpha val="90000"/>
          </a:schemeClr>
        </a:solidFill>
      </dgm:spPr>
      <dgm:t>
        <a:bodyPr/>
        <a:lstStyle/>
        <a:p>
          <a:r>
            <a:rPr lang="en-US" sz="1200" dirty="0"/>
            <a:t>Dedicated Use Cases</a:t>
          </a:r>
        </a:p>
      </dgm:t>
    </dgm:pt>
    <dgm:pt modelId="{6B5E7AAF-3451-4C74-8798-AC4B3B2482F1}" type="parTrans" cxnId="{F83340CE-17E9-4A4F-8AB5-59D160086C1F}">
      <dgm:prSet/>
      <dgm:spPr/>
      <dgm:t>
        <a:bodyPr/>
        <a:lstStyle/>
        <a:p>
          <a:endParaRPr lang="en-US"/>
        </a:p>
      </dgm:t>
    </dgm:pt>
    <dgm:pt modelId="{DBD96705-1F8D-4ED8-BE00-C243D9BB8D4D}" type="sibTrans" cxnId="{F83340CE-17E9-4A4F-8AB5-59D160086C1F}">
      <dgm:prSet/>
      <dgm:spPr/>
      <dgm:t>
        <a:bodyPr/>
        <a:lstStyle/>
        <a:p>
          <a:endParaRPr lang="en-US"/>
        </a:p>
      </dgm:t>
    </dgm:pt>
    <dgm:pt modelId="{EBE8924B-C648-4C0C-AD6A-21CC0728AB5D}">
      <dgm:prSet phldrT="[Text]" phldr="0" custT="1"/>
      <dgm:spPr>
        <a:solidFill>
          <a:schemeClr val="bg1">
            <a:alpha val="90000"/>
          </a:schemeClr>
        </a:solidFill>
      </dgm:spPr>
      <dgm:t>
        <a:bodyPr/>
        <a:lstStyle/>
        <a:p>
          <a:r>
            <a:rPr lang="en-US" sz="1200" dirty="0" err="1"/>
            <a:t>LightOn</a:t>
          </a:r>
          <a:r>
            <a:rPr lang="en-US" sz="1200" dirty="0"/>
            <a:t> Console</a:t>
          </a:r>
        </a:p>
      </dgm:t>
    </dgm:pt>
    <dgm:pt modelId="{FB28C3CF-6CE8-4F9B-A2CE-A38130ABCAAF}" type="parTrans" cxnId="{D1D5B749-B29E-4181-9EE0-CB0CE0AC6E51}">
      <dgm:prSet/>
      <dgm:spPr/>
      <dgm:t>
        <a:bodyPr/>
        <a:lstStyle/>
        <a:p>
          <a:endParaRPr lang="en-US"/>
        </a:p>
      </dgm:t>
    </dgm:pt>
    <dgm:pt modelId="{6F5BE9C1-A1AC-4DFB-A235-A34AB55EA3BB}" type="sibTrans" cxnId="{D1D5B749-B29E-4181-9EE0-CB0CE0AC6E51}">
      <dgm:prSet/>
      <dgm:spPr/>
      <dgm:t>
        <a:bodyPr/>
        <a:lstStyle/>
        <a:p>
          <a:endParaRPr lang="en-US"/>
        </a:p>
      </dgm:t>
    </dgm:pt>
    <dgm:pt modelId="{485170B9-C600-4275-9D2C-E5E81CA4FAFA}">
      <dgm:prSet phldrT="[Text]" phldr="0" custT="1"/>
      <dgm:spPr>
        <a:solidFill>
          <a:schemeClr val="bg1">
            <a:alpha val="90000"/>
          </a:schemeClr>
        </a:solidFill>
      </dgm:spPr>
      <dgm:t>
        <a:bodyPr/>
        <a:lstStyle/>
        <a:p>
          <a:r>
            <a:rPr lang="en-US" sz="1200" dirty="0"/>
            <a:t>Tools and Services Integration</a:t>
          </a:r>
          <a:br>
            <a:rPr lang="en-US" sz="1200" dirty="0"/>
          </a:br>
          <a:endParaRPr lang="en-US" sz="1200" dirty="0"/>
        </a:p>
      </dgm:t>
    </dgm:pt>
    <dgm:pt modelId="{BD45BF86-A764-4A87-BB0B-D8B128EF7F04}" type="parTrans" cxnId="{3926E3F6-DA28-4375-8004-214B8976CE05}">
      <dgm:prSet/>
      <dgm:spPr/>
      <dgm:t>
        <a:bodyPr/>
        <a:lstStyle/>
        <a:p>
          <a:endParaRPr lang="en-US"/>
        </a:p>
      </dgm:t>
    </dgm:pt>
    <dgm:pt modelId="{EFA2B4D3-1BD7-4849-9E66-C260C30142CC}" type="sibTrans" cxnId="{3926E3F6-DA28-4375-8004-214B8976CE05}">
      <dgm:prSet/>
      <dgm:spPr/>
      <dgm:t>
        <a:bodyPr/>
        <a:lstStyle/>
        <a:p>
          <a:endParaRPr lang="en-US"/>
        </a:p>
      </dgm:t>
    </dgm:pt>
    <dgm:pt modelId="{0D58AF00-8AB8-4C71-BAC2-7E2307AA04A0}">
      <dgm:prSet phldrT="[Text]" phldr="0" custT="1"/>
      <dgm:spPr>
        <a:solidFill>
          <a:schemeClr val="bg1">
            <a:alpha val="90000"/>
          </a:schemeClr>
        </a:solidFill>
      </dgm:spPr>
      <dgm:t>
        <a:bodyPr/>
        <a:lstStyle/>
        <a:p>
          <a:r>
            <a:rPr lang="en-US" sz="1200" b="1" dirty="0"/>
            <a:t>AI Enterprise Suite Integration</a:t>
          </a:r>
        </a:p>
      </dgm:t>
    </dgm:pt>
    <dgm:pt modelId="{76AA8A66-D08C-4541-BB0F-9718A8F660EB}" type="parTrans" cxnId="{5ED4A961-8DA5-42DB-9332-E3D461CCFD48}">
      <dgm:prSet/>
      <dgm:spPr/>
      <dgm:t>
        <a:bodyPr/>
        <a:lstStyle/>
        <a:p>
          <a:endParaRPr lang="en-US"/>
        </a:p>
      </dgm:t>
    </dgm:pt>
    <dgm:pt modelId="{C191F289-24CD-4011-A9EE-2260BE769FA9}" type="sibTrans" cxnId="{5ED4A961-8DA5-42DB-9332-E3D461CCFD48}">
      <dgm:prSet/>
      <dgm:spPr/>
      <dgm:t>
        <a:bodyPr/>
        <a:lstStyle/>
        <a:p>
          <a:endParaRPr lang="en-US"/>
        </a:p>
      </dgm:t>
    </dgm:pt>
    <dgm:pt modelId="{79F84E72-514A-4BCA-8CF1-26FF1BADBA20}">
      <dgm:prSet phldrT="[Text]" phldr="0" custT="1"/>
      <dgm:spPr>
        <a:solidFill>
          <a:schemeClr val="bg1">
            <a:alpha val="90000"/>
          </a:schemeClr>
        </a:solidFill>
      </dgm:spPr>
      <dgm:t>
        <a:bodyPr/>
        <a:lstStyle/>
        <a:p>
          <a:r>
            <a:rPr lang="en-US" sz="1200" b="1" dirty="0"/>
            <a:t>Onboarding additional</a:t>
          </a:r>
          <a:br>
            <a:rPr lang="en-US" sz="1200" b="1" dirty="0"/>
          </a:br>
          <a:r>
            <a:rPr lang="en-US" sz="1200" b="1" dirty="0"/>
            <a:t>HPCs/AI-Factories</a:t>
          </a:r>
          <a:endParaRPr lang="en-US" sz="1200" dirty="0"/>
        </a:p>
      </dgm:t>
    </dgm:pt>
    <dgm:pt modelId="{3B1805D5-E1FC-4F19-9D66-5D7C1D2B4A9D}" type="parTrans" cxnId="{03FC1D06-126A-4098-8C85-53DF33F9B1C2}">
      <dgm:prSet/>
      <dgm:spPr/>
      <dgm:t>
        <a:bodyPr/>
        <a:lstStyle/>
        <a:p>
          <a:endParaRPr lang="en-US"/>
        </a:p>
      </dgm:t>
    </dgm:pt>
    <dgm:pt modelId="{01B14C1C-27FB-4735-9621-0ACF740FA09A}" type="sibTrans" cxnId="{03FC1D06-126A-4098-8C85-53DF33F9B1C2}">
      <dgm:prSet/>
      <dgm:spPr/>
      <dgm:t>
        <a:bodyPr/>
        <a:lstStyle/>
        <a:p>
          <a:endParaRPr lang="en-US"/>
        </a:p>
      </dgm:t>
    </dgm:pt>
    <dgm:pt modelId="{59DFABF3-8C55-4172-AC20-37071F96710C}">
      <dgm:prSet phldrT="[Text]" phldr="0" custT="1"/>
      <dgm:spPr>
        <a:solidFill>
          <a:schemeClr val="bg1">
            <a:alpha val="90000"/>
          </a:schemeClr>
        </a:solidFill>
      </dgm:spPr>
      <dgm:t>
        <a:bodyPr/>
        <a:lstStyle/>
        <a:p>
          <a:r>
            <a:rPr lang="en-US" sz="1200" b="1" dirty="0"/>
            <a:t>Functional enhancements</a:t>
          </a:r>
          <a:br>
            <a:rPr lang="en-US" sz="1200" dirty="0"/>
          </a:br>
          <a:endParaRPr lang="en-US" sz="1200" b="1" dirty="0"/>
        </a:p>
      </dgm:t>
    </dgm:pt>
    <dgm:pt modelId="{FD0086B8-13D5-4206-A8E9-37A4FC72645F}" type="parTrans" cxnId="{8CA85766-6B7C-4542-A6BB-1BC73D61124E}">
      <dgm:prSet/>
      <dgm:spPr/>
      <dgm:t>
        <a:bodyPr/>
        <a:lstStyle/>
        <a:p>
          <a:endParaRPr lang="en-US"/>
        </a:p>
      </dgm:t>
    </dgm:pt>
    <dgm:pt modelId="{D7044272-2A3E-4B99-8880-3A77BBC7FE8B}" type="sibTrans" cxnId="{8CA85766-6B7C-4542-A6BB-1BC73D61124E}">
      <dgm:prSet/>
      <dgm:spPr/>
      <dgm:t>
        <a:bodyPr/>
        <a:lstStyle/>
        <a:p>
          <a:endParaRPr lang="en-US"/>
        </a:p>
      </dgm:t>
    </dgm:pt>
    <dgm:pt modelId="{6EDD1F3F-0B1A-4A86-9828-AE6534551FCE}">
      <dgm:prSet phldrT="[Text]" phldr="0" custT="1"/>
      <dgm:spPr>
        <a:solidFill>
          <a:schemeClr val="bg1">
            <a:alpha val="90000"/>
          </a:schemeClr>
        </a:solidFill>
      </dgm:spPr>
      <dgm:t>
        <a:bodyPr/>
        <a:lstStyle/>
        <a:p>
          <a:r>
            <a:rPr lang="en-US" sz="1200" dirty="0"/>
            <a:t>AMD Suite</a:t>
          </a:r>
        </a:p>
      </dgm:t>
    </dgm:pt>
    <dgm:pt modelId="{92296ECB-E605-41B3-9401-31169CD2AD38}" type="parTrans" cxnId="{9966E753-6A85-4CA4-96D6-C0AAFBF0BB8F}">
      <dgm:prSet/>
      <dgm:spPr/>
      <dgm:t>
        <a:bodyPr/>
        <a:lstStyle/>
        <a:p>
          <a:endParaRPr lang="en-US"/>
        </a:p>
      </dgm:t>
    </dgm:pt>
    <dgm:pt modelId="{B311AAFC-A541-4F63-9CF8-59A024D1C892}" type="sibTrans" cxnId="{9966E753-6A85-4CA4-96D6-C0AAFBF0BB8F}">
      <dgm:prSet/>
      <dgm:spPr/>
      <dgm:t>
        <a:bodyPr/>
        <a:lstStyle/>
        <a:p>
          <a:endParaRPr lang="en-US"/>
        </a:p>
      </dgm:t>
    </dgm:pt>
    <dgm:pt modelId="{9530BDE2-2FF1-440A-BB0D-6EDC819E45A6}">
      <dgm:prSet phldrT="[Text]" phldr="0" custT="1"/>
      <dgm:spPr>
        <a:solidFill>
          <a:schemeClr val="bg1">
            <a:alpha val="90000"/>
          </a:schemeClr>
        </a:solidFill>
      </dgm:spPr>
      <dgm:t>
        <a:bodyPr/>
        <a:lstStyle/>
        <a:p>
          <a:r>
            <a:rPr lang="en-US" sz="1200"/>
            <a:t>AI Builder ?</a:t>
          </a:r>
          <a:endParaRPr lang="en-US" sz="1200" dirty="0"/>
        </a:p>
      </dgm:t>
    </dgm:pt>
    <dgm:pt modelId="{50F8458D-4937-4563-9551-EDEBB34B3FFA}" type="parTrans" cxnId="{5772ECBF-64D4-4F31-A768-28754C489875}">
      <dgm:prSet/>
      <dgm:spPr/>
      <dgm:t>
        <a:bodyPr/>
        <a:lstStyle/>
        <a:p>
          <a:endParaRPr lang="en-US"/>
        </a:p>
      </dgm:t>
    </dgm:pt>
    <dgm:pt modelId="{BB5F21C3-58A9-4375-BB52-2CF330BFE4BD}" type="sibTrans" cxnId="{5772ECBF-64D4-4F31-A768-28754C489875}">
      <dgm:prSet/>
      <dgm:spPr/>
      <dgm:t>
        <a:bodyPr/>
        <a:lstStyle/>
        <a:p>
          <a:endParaRPr lang="en-US"/>
        </a:p>
      </dgm:t>
    </dgm:pt>
    <dgm:pt modelId="{210CB6A9-EBFA-4008-BFEC-E991BB46E688}">
      <dgm:prSet phldrT="[Text]" phldr="0" custT="1"/>
      <dgm:spPr>
        <a:solidFill>
          <a:schemeClr val="bg1">
            <a:alpha val="90000"/>
          </a:schemeClr>
        </a:solidFill>
      </dgm:spPr>
      <dgm:t>
        <a:bodyPr/>
        <a:lstStyle/>
        <a:p>
          <a:r>
            <a:rPr lang="en-US" sz="1200" dirty="0"/>
            <a:t>Combine with Kubernetes?</a:t>
          </a:r>
        </a:p>
      </dgm:t>
    </dgm:pt>
    <dgm:pt modelId="{DE09405E-046D-4890-86D4-37DC3A9B70D8}" type="parTrans" cxnId="{CAB898DB-5237-47AF-9CC4-C85DDB24A3F3}">
      <dgm:prSet/>
      <dgm:spPr/>
      <dgm:t>
        <a:bodyPr/>
        <a:lstStyle/>
        <a:p>
          <a:endParaRPr lang="en-US"/>
        </a:p>
      </dgm:t>
    </dgm:pt>
    <dgm:pt modelId="{AEAEA318-3D58-407A-8FC8-F4490CD15785}" type="sibTrans" cxnId="{CAB898DB-5237-47AF-9CC4-C85DDB24A3F3}">
      <dgm:prSet/>
      <dgm:spPr/>
      <dgm:t>
        <a:bodyPr/>
        <a:lstStyle/>
        <a:p>
          <a:endParaRPr lang="en-US"/>
        </a:p>
      </dgm:t>
    </dgm:pt>
    <dgm:pt modelId="{07A7311A-E0A9-4257-A660-F7D2EF8C6318}">
      <dgm:prSet phldrT="[Text]" phldr="0" custT="1"/>
      <dgm:spPr>
        <a:solidFill>
          <a:schemeClr val="bg1">
            <a:alpha val="90000"/>
          </a:schemeClr>
        </a:solidFill>
      </dgm:spPr>
      <dgm:t>
        <a:bodyPr/>
        <a:lstStyle/>
        <a:p>
          <a:r>
            <a:rPr lang="en-US" sz="1200" dirty="0"/>
            <a:t>other</a:t>
          </a:r>
          <a:br>
            <a:rPr lang="en-US" sz="1200" dirty="0"/>
          </a:br>
          <a:endParaRPr lang="en-US" sz="1200" dirty="0"/>
        </a:p>
      </dgm:t>
    </dgm:pt>
    <dgm:pt modelId="{7E4817D5-1D01-4385-BC33-0A7B2AA7692A}" type="parTrans" cxnId="{96E07219-FFE0-461A-B3A0-17BBFC490DA9}">
      <dgm:prSet/>
      <dgm:spPr/>
      <dgm:t>
        <a:bodyPr/>
        <a:lstStyle/>
        <a:p>
          <a:endParaRPr lang="en-US"/>
        </a:p>
      </dgm:t>
    </dgm:pt>
    <dgm:pt modelId="{ABF9C8B0-EBB0-44F0-846D-C227F51101A9}" type="sibTrans" cxnId="{96E07219-FFE0-461A-B3A0-17BBFC490DA9}">
      <dgm:prSet/>
      <dgm:spPr/>
      <dgm:t>
        <a:bodyPr/>
        <a:lstStyle/>
        <a:p>
          <a:endParaRPr lang="en-US"/>
        </a:p>
      </dgm:t>
    </dgm:pt>
    <dgm:pt modelId="{9CE83AFF-2D68-4798-8270-29E7BA4EA304}">
      <dgm:prSet phldrT="[Text]" phldr="0" custT="1"/>
      <dgm:spPr>
        <a:solidFill>
          <a:schemeClr val="bg1">
            <a:alpha val="90000"/>
          </a:schemeClr>
        </a:solidFill>
      </dgm:spPr>
      <dgm:t>
        <a:bodyPr/>
        <a:lstStyle/>
        <a:p>
          <a:r>
            <a:rPr lang="en-US" sz="1200" dirty="0"/>
            <a:t>Capacity increase / Increase traffic</a:t>
          </a:r>
        </a:p>
      </dgm:t>
    </dgm:pt>
    <dgm:pt modelId="{8ADA775B-60E5-4319-84F4-A16F028AA66C}" type="parTrans" cxnId="{CE68D99D-C839-4731-8E56-E24A4C48CF49}">
      <dgm:prSet/>
      <dgm:spPr/>
      <dgm:t>
        <a:bodyPr/>
        <a:lstStyle/>
        <a:p>
          <a:endParaRPr lang="en-US"/>
        </a:p>
      </dgm:t>
    </dgm:pt>
    <dgm:pt modelId="{239584CF-4D2E-4C36-AC48-4251527206B9}" type="sibTrans" cxnId="{CE68D99D-C839-4731-8E56-E24A4C48CF49}">
      <dgm:prSet/>
      <dgm:spPr/>
      <dgm:t>
        <a:bodyPr/>
        <a:lstStyle/>
        <a:p>
          <a:endParaRPr lang="en-US"/>
        </a:p>
      </dgm:t>
    </dgm:pt>
    <dgm:pt modelId="{1EF64075-AFE5-413E-A75D-241020F6F59B}">
      <dgm:prSet phldrT="[Text]" phldr="0" custT="1"/>
      <dgm:spPr>
        <a:solidFill>
          <a:schemeClr val="bg1">
            <a:alpha val="90000"/>
          </a:schemeClr>
        </a:solidFill>
      </dgm:spPr>
      <dgm:t>
        <a:bodyPr/>
        <a:lstStyle/>
        <a:p>
          <a:r>
            <a:rPr lang="en-US" sz="1200" dirty="0"/>
            <a:t>Competitive Positioning for Sovereignty </a:t>
          </a:r>
          <a:br>
            <a:rPr lang="en-US" sz="1200" dirty="0"/>
          </a:br>
          <a:endParaRPr lang="en-US" sz="1200" dirty="0"/>
        </a:p>
      </dgm:t>
    </dgm:pt>
    <dgm:pt modelId="{9A5D292D-152A-47D2-8922-B147B9D5C12C}" type="parTrans" cxnId="{B3262584-F41A-4399-B79F-A475F813E869}">
      <dgm:prSet/>
      <dgm:spPr/>
      <dgm:t>
        <a:bodyPr/>
        <a:lstStyle/>
        <a:p>
          <a:endParaRPr lang="en-US"/>
        </a:p>
      </dgm:t>
    </dgm:pt>
    <dgm:pt modelId="{818EBA71-B4A6-45BD-A799-4588FD0A4B92}" type="sibTrans" cxnId="{B3262584-F41A-4399-B79F-A475F813E869}">
      <dgm:prSet/>
      <dgm:spPr/>
      <dgm:t>
        <a:bodyPr/>
        <a:lstStyle/>
        <a:p>
          <a:endParaRPr lang="en-US"/>
        </a:p>
      </dgm:t>
    </dgm:pt>
    <dgm:pt modelId="{151C662C-49E7-40B8-A6EF-930DBF03206C}">
      <dgm:prSet phldrT="[Text]" phldr="0" custT="1"/>
      <dgm:spPr>
        <a:solidFill>
          <a:schemeClr val="bg1">
            <a:alpha val="90000"/>
          </a:schemeClr>
        </a:solidFill>
      </dgm:spPr>
      <dgm:t>
        <a:bodyPr anchor="ctr"/>
        <a:lstStyle/>
        <a:p>
          <a:r>
            <a:rPr lang="en-US" sz="1200" dirty="0"/>
            <a:t>Marketplace</a:t>
          </a:r>
        </a:p>
      </dgm:t>
    </dgm:pt>
    <dgm:pt modelId="{9C550603-04E0-4012-A18D-B2E8DCDBF2A1}" type="parTrans" cxnId="{9FCE3CD0-D3D6-4AA5-8286-36E5CBE82BFF}">
      <dgm:prSet/>
      <dgm:spPr/>
      <dgm:t>
        <a:bodyPr/>
        <a:lstStyle/>
        <a:p>
          <a:endParaRPr lang="en-US"/>
        </a:p>
      </dgm:t>
    </dgm:pt>
    <dgm:pt modelId="{4AE684C4-F5E5-428F-B4F1-15CF83C06C2B}" type="sibTrans" cxnId="{9FCE3CD0-D3D6-4AA5-8286-36E5CBE82BFF}">
      <dgm:prSet/>
      <dgm:spPr/>
      <dgm:t>
        <a:bodyPr/>
        <a:lstStyle/>
        <a:p>
          <a:endParaRPr lang="en-US"/>
        </a:p>
      </dgm:t>
    </dgm:pt>
    <dgm:pt modelId="{DE415D6A-71B6-4A16-93C2-9B0955AC2435}">
      <dgm:prSet phldrT="[Text]" phldr="0" custT="1"/>
      <dgm:spPr>
        <a:solidFill>
          <a:schemeClr val="bg1">
            <a:alpha val="90000"/>
          </a:schemeClr>
        </a:solidFill>
      </dgm:spPr>
      <dgm:t>
        <a:bodyPr anchor="ctr"/>
        <a:lstStyle/>
        <a:p>
          <a:r>
            <a:rPr lang="en-US" sz="1200" dirty="0"/>
            <a:t>Flinky</a:t>
          </a:r>
          <a:br>
            <a:rPr lang="en-US" sz="1200" dirty="0"/>
          </a:br>
          <a:endParaRPr lang="en-US" sz="1200" dirty="0"/>
        </a:p>
      </dgm:t>
    </dgm:pt>
    <dgm:pt modelId="{615B342C-A016-48C8-BC74-6F4140BDFB88}" type="parTrans" cxnId="{837A64DF-E635-4CA5-AA33-31506EF12B10}">
      <dgm:prSet/>
      <dgm:spPr/>
      <dgm:t>
        <a:bodyPr/>
        <a:lstStyle/>
        <a:p>
          <a:endParaRPr lang="en-US"/>
        </a:p>
      </dgm:t>
    </dgm:pt>
    <dgm:pt modelId="{ECF69541-7903-45F4-999E-C58C7A6A27CA}" type="sibTrans" cxnId="{837A64DF-E635-4CA5-AA33-31506EF12B10}">
      <dgm:prSet/>
      <dgm:spPr/>
      <dgm:t>
        <a:bodyPr/>
        <a:lstStyle/>
        <a:p>
          <a:endParaRPr lang="en-US"/>
        </a:p>
      </dgm:t>
    </dgm:pt>
    <dgm:pt modelId="{F7BDDEA7-6BB0-4AF6-836C-953F826FF396}">
      <dgm:prSet phldrT="[Text]" phldr="0" custT="1"/>
      <dgm:spPr>
        <a:solidFill>
          <a:schemeClr val="bg1">
            <a:alpha val="90000"/>
          </a:schemeClr>
        </a:solidFill>
      </dgm:spPr>
      <dgm:t>
        <a:bodyPr anchor="ctr"/>
        <a:lstStyle/>
        <a:p>
          <a:r>
            <a:rPr lang="en-US" sz="1200" dirty="0"/>
            <a:t>Customization</a:t>
          </a:r>
        </a:p>
      </dgm:t>
    </dgm:pt>
    <dgm:pt modelId="{8D40D731-036A-4E27-BAAD-87EB6B2FCC09}" type="parTrans" cxnId="{54F1FE07-011D-439B-8FB8-79B6922C26F5}">
      <dgm:prSet/>
      <dgm:spPr/>
      <dgm:t>
        <a:bodyPr/>
        <a:lstStyle/>
        <a:p>
          <a:endParaRPr lang="en-US"/>
        </a:p>
      </dgm:t>
    </dgm:pt>
    <dgm:pt modelId="{F0744633-FD0E-4A14-AD1E-30259D5C391F}" type="sibTrans" cxnId="{54F1FE07-011D-439B-8FB8-79B6922C26F5}">
      <dgm:prSet/>
      <dgm:spPr/>
      <dgm:t>
        <a:bodyPr/>
        <a:lstStyle/>
        <a:p>
          <a:endParaRPr lang="en-US"/>
        </a:p>
      </dgm:t>
    </dgm:pt>
    <dgm:pt modelId="{BFE6A32C-87E6-4339-B883-94B1AA5CB6D1}">
      <dgm:prSet phldrT="[Text]" phldr="0" custT="1"/>
      <dgm:spPr>
        <a:solidFill>
          <a:schemeClr val="bg1">
            <a:alpha val="90000"/>
          </a:schemeClr>
        </a:solidFill>
      </dgm:spPr>
      <dgm:t>
        <a:bodyPr anchor="ctr"/>
        <a:lstStyle/>
        <a:p>
          <a:r>
            <a:rPr lang="en-US" sz="1200" dirty="0"/>
            <a:t>Implementation</a:t>
          </a:r>
        </a:p>
      </dgm:t>
    </dgm:pt>
    <dgm:pt modelId="{468B652F-42C6-4CF1-BCC6-5677E773F5B2}" type="parTrans" cxnId="{35419D80-29F0-4E86-A76A-DFF9BF3F8082}">
      <dgm:prSet/>
      <dgm:spPr/>
      <dgm:t>
        <a:bodyPr/>
        <a:lstStyle/>
        <a:p>
          <a:endParaRPr lang="en-US"/>
        </a:p>
      </dgm:t>
    </dgm:pt>
    <dgm:pt modelId="{7E18BCF7-0493-4597-9991-9DBC9C0F414A}" type="sibTrans" cxnId="{35419D80-29F0-4E86-A76A-DFF9BF3F8082}">
      <dgm:prSet/>
      <dgm:spPr/>
      <dgm:t>
        <a:bodyPr/>
        <a:lstStyle/>
        <a:p>
          <a:endParaRPr lang="en-US"/>
        </a:p>
      </dgm:t>
    </dgm:pt>
    <dgm:pt modelId="{8032DC82-CBD1-4F7F-ADCC-85DF8C132126}">
      <dgm:prSet phldrT="[Text]" phldr="0" custT="1"/>
      <dgm:spPr>
        <a:solidFill>
          <a:schemeClr val="bg1">
            <a:alpha val="90000"/>
          </a:schemeClr>
        </a:solidFill>
      </dgm:spPr>
      <dgm:t>
        <a:bodyPr anchor="ctr"/>
        <a:lstStyle/>
        <a:p>
          <a:r>
            <a:rPr lang="en-US" sz="1200" dirty="0"/>
            <a:t>Support</a:t>
          </a:r>
        </a:p>
      </dgm:t>
    </dgm:pt>
    <dgm:pt modelId="{F4D8CD04-5043-48CA-B51F-38B400787540}" type="parTrans" cxnId="{5F5C805B-6DEC-404D-BEFE-1BBEC67A4E88}">
      <dgm:prSet/>
      <dgm:spPr/>
      <dgm:t>
        <a:bodyPr/>
        <a:lstStyle/>
        <a:p>
          <a:endParaRPr lang="en-US"/>
        </a:p>
      </dgm:t>
    </dgm:pt>
    <dgm:pt modelId="{C64022BF-54B2-41AA-A1F3-181FE90EA34C}" type="sibTrans" cxnId="{5F5C805B-6DEC-404D-BEFE-1BBEC67A4E88}">
      <dgm:prSet/>
      <dgm:spPr/>
      <dgm:t>
        <a:bodyPr/>
        <a:lstStyle/>
        <a:p>
          <a:endParaRPr lang="en-US"/>
        </a:p>
      </dgm:t>
    </dgm:pt>
    <dgm:pt modelId="{04EF49BA-C031-4601-A766-B01306A8E69E}">
      <dgm:prSet phldrT="[Text]" phldr="0" custT="1"/>
      <dgm:spPr>
        <a:solidFill>
          <a:schemeClr val="bg1">
            <a:alpha val="90000"/>
          </a:schemeClr>
        </a:solidFill>
      </dgm:spPr>
      <dgm:t>
        <a:bodyPr anchor="ctr"/>
        <a:lstStyle/>
        <a:p>
          <a:endParaRPr lang="en-US" sz="1200" dirty="0"/>
        </a:p>
      </dgm:t>
    </dgm:pt>
    <dgm:pt modelId="{674F5B9E-A922-4C0F-A700-8F68CE86B4AA}" type="parTrans" cxnId="{02A67B5F-5A78-47EE-85D7-D529180B4616}">
      <dgm:prSet/>
      <dgm:spPr/>
      <dgm:t>
        <a:bodyPr/>
        <a:lstStyle/>
        <a:p>
          <a:endParaRPr lang="en-US"/>
        </a:p>
      </dgm:t>
    </dgm:pt>
    <dgm:pt modelId="{F9BADD18-DE7C-43C3-8577-3D5AA3D2DD3B}" type="sibTrans" cxnId="{02A67B5F-5A78-47EE-85D7-D529180B4616}">
      <dgm:prSet/>
      <dgm:spPr/>
      <dgm:t>
        <a:bodyPr/>
        <a:lstStyle/>
        <a:p>
          <a:endParaRPr lang="en-US"/>
        </a:p>
      </dgm:t>
    </dgm:pt>
    <dgm:pt modelId="{3E7D7DA4-F31F-4B17-BAB6-9D7979C1CBC9}">
      <dgm:prSet phldrT="[Text]" phldr="0" custT="1"/>
      <dgm:spPr>
        <a:solidFill>
          <a:schemeClr val="bg1">
            <a:alpha val="90000"/>
          </a:schemeClr>
        </a:solidFill>
      </dgm:spPr>
      <dgm:t>
        <a:bodyPr anchor="ctr"/>
        <a:lstStyle/>
        <a:p>
          <a:r>
            <a:rPr lang="en-US" sz="1200" b="1" dirty="0"/>
            <a:t>Legal Entity Hand-Over</a:t>
          </a:r>
        </a:p>
      </dgm:t>
    </dgm:pt>
    <dgm:pt modelId="{DC348939-62AB-4EDB-B746-FA0209EEF3AA}" type="parTrans" cxnId="{54D247CB-2749-44F8-98B1-F0AC11F45745}">
      <dgm:prSet/>
      <dgm:spPr/>
      <dgm:t>
        <a:bodyPr/>
        <a:lstStyle/>
        <a:p>
          <a:endParaRPr lang="en-US"/>
        </a:p>
      </dgm:t>
    </dgm:pt>
    <dgm:pt modelId="{0AF65DA9-0F48-48D2-9FE5-8AE25E55AD8C}" type="sibTrans" cxnId="{54D247CB-2749-44F8-98B1-F0AC11F45745}">
      <dgm:prSet/>
      <dgm:spPr/>
      <dgm:t>
        <a:bodyPr/>
        <a:lstStyle/>
        <a:p>
          <a:endParaRPr lang="en-US"/>
        </a:p>
      </dgm:t>
    </dgm:pt>
    <dgm:pt modelId="{04C6EE81-B772-4ADE-AA82-F87E4A189C4A}" type="pres">
      <dgm:prSet presAssocID="{1DE00BD2-2CFD-4CE6-B76E-E35BDB03F285}" presName="Name0" presStyleCnt="0">
        <dgm:presLayoutVars>
          <dgm:dir/>
          <dgm:animLvl val="lvl"/>
          <dgm:resizeHandles val="exact"/>
        </dgm:presLayoutVars>
      </dgm:prSet>
      <dgm:spPr/>
    </dgm:pt>
    <dgm:pt modelId="{5BAEEC69-D959-4EBA-928E-E5BD805FFEED}" type="pres">
      <dgm:prSet presAssocID="{BCDBEEE4-8AF9-4277-AF23-FC09E46BD31F}" presName="composite" presStyleCnt="0"/>
      <dgm:spPr/>
    </dgm:pt>
    <dgm:pt modelId="{DBA2DE36-7795-4D51-A8CA-AF46B616FB2C}" type="pres">
      <dgm:prSet presAssocID="{BCDBEEE4-8AF9-4277-AF23-FC09E46BD31F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B9BAE133-BD42-4258-BC05-E28BCDF097C4}" type="pres">
      <dgm:prSet presAssocID="{BCDBEEE4-8AF9-4277-AF23-FC09E46BD31F}" presName="desTx" presStyleLbl="alignAccFollowNode1" presStyleIdx="0" presStyleCnt="3" custLinFactNeighborX="-103" custLinFactNeighborY="809">
        <dgm:presLayoutVars>
          <dgm:bulletEnabled val="1"/>
        </dgm:presLayoutVars>
      </dgm:prSet>
      <dgm:spPr/>
    </dgm:pt>
    <dgm:pt modelId="{7FCA43F9-7BB8-4FE4-BC29-049FD215B5D3}" type="pres">
      <dgm:prSet presAssocID="{2091946D-F39F-4FE0-80B3-06D9BA869EB2}" presName="space" presStyleCnt="0"/>
      <dgm:spPr/>
    </dgm:pt>
    <dgm:pt modelId="{8120A8A1-C787-4488-9554-42574D01742D}" type="pres">
      <dgm:prSet presAssocID="{2CFB0307-B37C-4DC4-A06D-EE105772ADA6}" presName="composite" presStyleCnt="0"/>
      <dgm:spPr/>
    </dgm:pt>
    <dgm:pt modelId="{01706A2F-6CB3-47CD-BB07-FEDE5E6767FF}" type="pres">
      <dgm:prSet presAssocID="{2CFB0307-B37C-4DC4-A06D-EE105772ADA6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EC1F9132-0855-4CD7-BD31-5143575E240F}" type="pres">
      <dgm:prSet presAssocID="{2CFB0307-B37C-4DC4-A06D-EE105772ADA6}" presName="desTx" presStyleLbl="alignAccFollowNode1" presStyleIdx="1" presStyleCnt="3">
        <dgm:presLayoutVars>
          <dgm:bulletEnabled val="1"/>
        </dgm:presLayoutVars>
      </dgm:prSet>
      <dgm:spPr/>
    </dgm:pt>
    <dgm:pt modelId="{D206E679-4A4F-44F7-AE38-0B25EEFEA5D6}" type="pres">
      <dgm:prSet presAssocID="{5176A360-ECAD-449D-857C-A5F1A14AF43A}" presName="space" presStyleCnt="0"/>
      <dgm:spPr/>
    </dgm:pt>
    <dgm:pt modelId="{CCE33B74-09B7-4AC0-ABAE-F1E40CC10472}" type="pres">
      <dgm:prSet presAssocID="{BD2A1A8F-18E0-4344-8F58-116E4423D73F}" presName="composite" presStyleCnt="0"/>
      <dgm:spPr/>
    </dgm:pt>
    <dgm:pt modelId="{B6025370-1B14-41F8-961B-894179D61A1D}" type="pres">
      <dgm:prSet presAssocID="{BD2A1A8F-18E0-4344-8F58-116E4423D73F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49255472-93FD-48FA-89C5-22A420D42AD2}" type="pres">
      <dgm:prSet presAssocID="{BD2A1A8F-18E0-4344-8F58-116E4423D73F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3DD75A00-E3F5-4214-8F31-760940FF46BE}" srcId="{C01B39C6-6FDB-4D1A-AF5F-78C669F7C607}" destId="{A1F1BAE1-56A9-43D3-AC6C-B5DC17303A77}" srcOrd="1" destOrd="0" parTransId="{0F646032-DFF9-41D3-8B1C-E423F6885180}" sibTransId="{6E0F2DC6-D4E9-4A17-AA09-E47E00F03DA0}"/>
    <dgm:cxn modelId="{173A2103-20D8-4E95-8F06-94175334709F}" type="presOf" srcId="{1DE00BD2-2CFD-4CE6-B76E-E35BDB03F285}" destId="{04C6EE81-B772-4ADE-AA82-F87E4A189C4A}" srcOrd="0" destOrd="0" presId="urn:microsoft.com/office/officeart/2005/8/layout/hList1"/>
    <dgm:cxn modelId="{97E29304-9EB9-49E4-9A2E-19814C1FB17F}" type="presOf" srcId="{4C70FC09-0B86-4710-B2A7-859A6CA6B2DE}" destId="{B9BAE133-BD42-4258-BC05-E28BCDF097C4}" srcOrd="0" destOrd="1" presId="urn:microsoft.com/office/officeart/2005/8/layout/hList1"/>
    <dgm:cxn modelId="{03FC1D06-126A-4098-8C85-53DF33F9B1C2}" srcId="{2CFB0307-B37C-4DC4-A06D-EE105772ADA6}" destId="{79F84E72-514A-4BCA-8CF1-26FF1BADBA20}" srcOrd="2" destOrd="0" parTransId="{3B1805D5-E1FC-4F19-9D66-5D7C1D2B4A9D}" sibTransId="{01B14C1C-27FB-4735-9621-0ACF740FA09A}"/>
    <dgm:cxn modelId="{54F1FE07-011D-439B-8FB8-79B6922C26F5}" srcId="{F9E1E14D-8D1B-4504-ACF2-7BB05FAD57C4}" destId="{F7BDDEA7-6BB0-4AF6-836C-953F826FF396}" srcOrd="2" destOrd="0" parTransId="{8D40D731-036A-4E27-BAAD-87EB6B2FCC09}" sibTransId="{F0744633-FD0E-4A14-AD1E-30259D5C391F}"/>
    <dgm:cxn modelId="{9E60A808-571D-4FA4-9EE8-72C7B35FB778}" type="presOf" srcId="{EBE8924B-C648-4C0C-AD6A-21CC0728AB5D}" destId="{EC1F9132-0855-4CD7-BD31-5143575E240F}" srcOrd="0" destOrd="2" presId="urn:microsoft.com/office/officeart/2005/8/layout/hList1"/>
    <dgm:cxn modelId="{90E23C0D-69EC-44FE-8ACF-443D648E98D7}" type="presOf" srcId="{3AA7396E-A108-422F-BC5C-9B29975DFB95}" destId="{B9BAE133-BD42-4258-BC05-E28BCDF097C4}" srcOrd="0" destOrd="0" presId="urn:microsoft.com/office/officeart/2005/8/layout/hList1"/>
    <dgm:cxn modelId="{0000BF10-B751-4EB9-BF15-97F0514D743A}" type="presOf" srcId="{A1F1BAE1-56A9-43D3-AC6C-B5DC17303A77}" destId="{B9BAE133-BD42-4258-BC05-E28BCDF097C4}" srcOrd="0" destOrd="9" presId="urn:microsoft.com/office/officeart/2005/8/layout/hList1"/>
    <dgm:cxn modelId="{96E07219-FFE0-461A-B3A0-17BBFC490DA9}" srcId="{0D58AF00-8AB8-4C71-BAC2-7E2307AA04A0}" destId="{07A7311A-E0A9-4257-A660-F7D2EF8C6318}" srcOrd="3" destOrd="0" parTransId="{7E4817D5-1D01-4385-BC33-0A7B2AA7692A}" sibTransId="{ABF9C8B0-EBB0-44F0-846D-C227F51101A9}"/>
    <dgm:cxn modelId="{D4C4F91D-3F83-407C-AA30-A4B87FA4A7E3}" type="presOf" srcId="{C01B39C6-6FDB-4D1A-AF5F-78C669F7C607}" destId="{B9BAE133-BD42-4258-BC05-E28BCDF097C4}" srcOrd="0" destOrd="7" presId="urn:microsoft.com/office/officeart/2005/8/layout/hList1"/>
    <dgm:cxn modelId="{9F42FB1F-7061-439E-BA96-E747C6273E73}" type="presOf" srcId="{8032DC82-CBD1-4F7F-ADCC-85DF8C132126}" destId="{49255472-93FD-48FA-89C5-22A420D42AD2}" srcOrd="0" destOrd="5" presId="urn:microsoft.com/office/officeart/2005/8/layout/hList1"/>
    <dgm:cxn modelId="{73DC1929-88D9-471D-B11B-3DF317A8AE5A}" type="presOf" srcId="{3E7D7DA4-F31F-4B17-BAB6-9D7979C1CBC9}" destId="{49255472-93FD-48FA-89C5-22A420D42AD2}" srcOrd="0" destOrd="7" presId="urn:microsoft.com/office/officeart/2005/8/layout/hList1"/>
    <dgm:cxn modelId="{B70A822B-D233-4496-AD5C-6A8EF4671641}" type="presOf" srcId="{04EF49BA-C031-4601-A766-B01306A8E69E}" destId="{49255472-93FD-48FA-89C5-22A420D42AD2}" srcOrd="0" destOrd="6" presId="urn:microsoft.com/office/officeart/2005/8/layout/hList1"/>
    <dgm:cxn modelId="{5F5C805B-6DEC-404D-BEFE-1BBEC67A4E88}" srcId="{F9E1E14D-8D1B-4504-ACF2-7BB05FAD57C4}" destId="{8032DC82-CBD1-4F7F-ADCC-85DF8C132126}" srcOrd="4" destOrd="0" parTransId="{F4D8CD04-5043-48CA-B51F-38B400787540}" sibTransId="{C64022BF-54B2-41AA-A1F3-181FE90EA34C}"/>
    <dgm:cxn modelId="{25B5915B-02FA-4890-A97F-8FE7FC0D4A8E}" type="presOf" srcId="{D349B4B1-D617-42A1-AAAA-600139A92F24}" destId="{EC1F9132-0855-4CD7-BD31-5143575E240F}" srcOrd="0" destOrd="0" presId="urn:microsoft.com/office/officeart/2005/8/layout/hList1"/>
    <dgm:cxn modelId="{BC0E4F5C-9F4A-49A2-8B61-AB21898B24A4}" srcId="{BCDBEEE4-8AF9-4277-AF23-FC09E46BD31F}" destId="{4C70FC09-0B86-4710-B2A7-859A6CA6B2DE}" srcOrd="1" destOrd="0" parTransId="{B58ACA4F-8B86-4FE6-A22C-1EA88FB871AE}" sibTransId="{152EA986-7BDA-4EF7-966B-8990F2EE3F6A}"/>
    <dgm:cxn modelId="{451CE25C-E49E-4A72-A1C4-FF72710E4706}" srcId="{3A1DC77D-E660-4D6F-BEF0-9DC5A1E1E426}" destId="{6FF7854F-A18F-4A53-81F2-F9978574BCC3}" srcOrd="1" destOrd="0" parTransId="{C074165C-C6BC-4478-B57E-604D63BF4FF6}" sibTransId="{06AF592D-B6CD-4B77-BA53-26185C3CE213}"/>
    <dgm:cxn modelId="{A1A7EE5E-DA56-4641-B5C6-F1A95242E49B}" type="presOf" srcId="{CAEF1351-02A8-4B1C-8AD6-F6CE52748ECA}" destId="{B9BAE133-BD42-4258-BC05-E28BCDF097C4}" srcOrd="0" destOrd="10" presId="urn:microsoft.com/office/officeart/2005/8/layout/hList1"/>
    <dgm:cxn modelId="{02A67B5F-5A78-47EE-85D7-D529180B4616}" srcId="{F9E1E14D-8D1B-4504-ACF2-7BB05FAD57C4}" destId="{04EF49BA-C031-4601-A766-B01306A8E69E}" srcOrd="5" destOrd="0" parTransId="{674F5B9E-A922-4C0F-A700-8F68CE86B4AA}" sibTransId="{F9BADD18-DE7C-43C3-8577-3D5AA3D2DD3B}"/>
    <dgm:cxn modelId="{5ED4A961-8DA5-42DB-9332-E3D461CCFD48}" srcId="{2CFB0307-B37C-4DC4-A06D-EE105772ADA6}" destId="{0D58AF00-8AB8-4C71-BAC2-7E2307AA04A0}" srcOrd="1" destOrd="0" parTransId="{76AA8A66-D08C-4541-BB0F-9718A8F660EB}" sibTransId="{C191F289-24CD-4011-A9EE-2260BE769FA9}"/>
    <dgm:cxn modelId="{F88A1A66-373F-4221-875B-70D62FE374B2}" type="presOf" srcId="{1AD66144-A623-4743-8219-1FF851648796}" destId="{B9BAE133-BD42-4258-BC05-E28BCDF097C4}" srcOrd="0" destOrd="2" presId="urn:microsoft.com/office/officeart/2005/8/layout/hList1"/>
    <dgm:cxn modelId="{8CA85766-6B7C-4542-A6BB-1BC73D61124E}" srcId="{2CFB0307-B37C-4DC4-A06D-EE105772ADA6}" destId="{59DFABF3-8C55-4172-AC20-37071F96710C}" srcOrd="3" destOrd="0" parTransId="{FD0086B8-13D5-4206-A8E9-37A4FC72645F}" sibTransId="{D7044272-2A3E-4B99-8880-3A77BBC7FE8B}"/>
    <dgm:cxn modelId="{D1D5B749-B29E-4181-9EE0-CB0CE0AC6E51}" srcId="{D349B4B1-D617-42A1-AAAA-600139A92F24}" destId="{EBE8924B-C648-4C0C-AD6A-21CC0728AB5D}" srcOrd="1" destOrd="0" parTransId="{FB28C3CF-6CE8-4F9B-A2CE-A38130ABCAAF}" sibTransId="{6F5BE9C1-A1AC-4DFB-A235-A34AB55EA3BB}"/>
    <dgm:cxn modelId="{6122D549-0F08-41D6-9C1D-9699F0F4F9C6}" type="presOf" srcId="{BBBDA41A-E09E-418D-888B-7D298164ED0A}" destId="{B9BAE133-BD42-4258-BC05-E28BCDF097C4}" srcOrd="0" destOrd="11" presId="urn:microsoft.com/office/officeart/2005/8/layout/hList1"/>
    <dgm:cxn modelId="{2E84B16B-D61D-4CEC-8F51-4225EC50C701}" srcId="{BBBDA41A-E09E-418D-888B-7D298164ED0A}" destId="{973BC2C0-E69F-4488-A08C-8DCF8B924739}" srcOrd="0" destOrd="0" parTransId="{A5D617FE-45A9-4CA5-B9BF-A3717696C109}" sibTransId="{C87A72B1-5435-4D04-BFB4-AD0D8291B05F}"/>
    <dgm:cxn modelId="{8C3D166F-3EA7-4C36-9302-9C510700A246}" type="presOf" srcId="{1EF64075-AFE5-413E-A75D-241020F6F59B}" destId="{EC1F9132-0855-4CD7-BD31-5143575E240F}" srcOrd="0" destOrd="11" presId="urn:microsoft.com/office/officeart/2005/8/layout/hList1"/>
    <dgm:cxn modelId="{D1143453-55FC-48D9-BD7F-32B209923CE3}" type="presOf" srcId="{79F84E72-514A-4BCA-8CF1-26FF1BADBA20}" destId="{EC1F9132-0855-4CD7-BD31-5143575E240F}" srcOrd="0" destOrd="9" presId="urn:microsoft.com/office/officeart/2005/8/layout/hList1"/>
    <dgm:cxn modelId="{9966E753-6A85-4CA4-96D6-C0AAFBF0BB8F}" srcId="{0D58AF00-8AB8-4C71-BAC2-7E2307AA04A0}" destId="{6EDD1F3F-0B1A-4A86-9828-AE6534551FCE}" srcOrd="0" destOrd="0" parTransId="{92296ECB-E605-41B3-9401-31169CD2AD38}" sibTransId="{B311AAFC-A541-4F63-9CF8-59A024D1C892}"/>
    <dgm:cxn modelId="{BC7F3454-A0E9-4276-8957-3CD90C1F2FF0}" srcId="{C01B39C6-6FDB-4D1A-AF5F-78C669F7C607}" destId="{CAEF1351-02A8-4B1C-8AD6-F6CE52748ECA}" srcOrd="2" destOrd="0" parTransId="{91DA36F7-5C9C-46FB-BF32-A8EF1DF76F31}" sibTransId="{3E839534-9B0E-434C-8B17-880E1B07A7C4}"/>
    <dgm:cxn modelId="{29763276-0271-4F58-A902-F4F772E382D4}" type="presOf" srcId="{0945266F-13B3-4651-967D-E9FF46B7D84A}" destId="{B9BAE133-BD42-4258-BC05-E28BCDF097C4}" srcOrd="0" destOrd="5" presId="urn:microsoft.com/office/officeart/2005/8/layout/hList1"/>
    <dgm:cxn modelId="{CAAAFF76-4AD6-4763-BE7E-2655465482B0}" srcId="{BCDBEEE4-8AF9-4277-AF23-FC09E46BD31F}" destId="{BBBDA41A-E09E-418D-888B-7D298164ED0A}" srcOrd="4" destOrd="0" parTransId="{3B78482A-2853-4510-995C-930E48BE70B0}" sibTransId="{FFA089BB-0310-4669-99E4-597EAD2161FB}"/>
    <dgm:cxn modelId="{4A602B57-F5FC-420A-ADA8-E862C47D931E}" type="presOf" srcId="{1F2362F3-205C-41AA-A4E8-2C813588A4F7}" destId="{EC1F9132-0855-4CD7-BD31-5143575E240F}" srcOrd="0" destOrd="1" presId="urn:microsoft.com/office/officeart/2005/8/layout/hList1"/>
    <dgm:cxn modelId="{1DCFE757-8DDF-456C-9FA2-A652864541C8}" srcId="{3A1DC77D-E660-4D6F-BEF0-9DC5A1E1E426}" destId="{0945266F-13B3-4651-967D-E9FF46B7D84A}" srcOrd="0" destOrd="0" parTransId="{B5970625-3496-4C26-A8A3-8487EE0ED7CC}" sibTransId="{843E3733-52CB-48BA-87DC-E9352E8734FD}"/>
    <dgm:cxn modelId="{6E03F359-90FF-40EF-9DB1-1AD4C80B4267}" type="presOf" srcId="{59DFABF3-8C55-4172-AC20-37071F96710C}" destId="{EC1F9132-0855-4CD7-BD31-5143575E240F}" srcOrd="0" destOrd="12" presId="urn:microsoft.com/office/officeart/2005/8/layout/hList1"/>
    <dgm:cxn modelId="{A2699F7E-6865-4951-8B9D-3C9294B1365F}" srcId="{BCDBEEE4-8AF9-4277-AF23-FC09E46BD31F}" destId="{3A1DC77D-E660-4D6F-BEF0-9DC5A1E1E426}" srcOrd="2" destOrd="0" parTransId="{2314CD82-3096-43B1-B27A-485E7A10D7FF}" sibTransId="{BDB2330B-7A3B-42C2-A2A7-92D02A859988}"/>
    <dgm:cxn modelId="{6F70507F-621C-4534-B638-49F0BF25C512}" srcId="{BBBDA41A-E09E-418D-888B-7D298164ED0A}" destId="{7C553529-DFB0-4D6D-8B22-29C0B24809A5}" srcOrd="1" destOrd="0" parTransId="{FD90014F-1395-49F8-B556-DB305C769144}" sibTransId="{87ED6E7D-4F5F-4F48-89B2-54C60690C8CA}"/>
    <dgm:cxn modelId="{35419D80-29F0-4E86-A76A-DFF9BF3F8082}" srcId="{F9E1E14D-8D1B-4504-ACF2-7BB05FAD57C4}" destId="{BFE6A32C-87E6-4339-B883-94B1AA5CB6D1}" srcOrd="3" destOrd="0" parTransId="{468B652F-42C6-4CF1-BCC6-5677E773F5B2}" sibTransId="{7E18BCF7-0493-4597-9991-9DBC9C0F414A}"/>
    <dgm:cxn modelId="{B3262584-F41A-4399-B79F-A475F813E869}" srcId="{79F84E72-514A-4BCA-8CF1-26FF1BADBA20}" destId="{1EF64075-AFE5-413E-A75D-241020F6F59B}" srcOrd="1" destOrd="0" parTransId="{9A5D292D-152A-47D2-8922-B147B9D5C12C}" sibTransId="{818EBA71-B4A6-45BD-A799-4588FD0A4B92}"/>
    <dgm:cxn modelId="{996BFE8E-C2DE-4D41-B6B1-3B5CEEF4CFD8}" type="presOf" srcId="{DE415D6A-71B6-4A16-93C2-9B0955AC2435}" destId="{49255472-93FD-48FA-89C5-22A420D42AD2}" srcOrd="0" destOrd="2" presId="urn:microsoft.com/office/officeart/2005/8/layout/hList1"/>
    <dgm:cxn modelId="{CAE0BB92-71FC-4AFF-9C4C-417A0528655F}" type="presOf" srcId="{F7BDDEA7-6BB0-4AF6-836C-953F826FF396}" destId="{49255472-93FD-48FA-89C5-22A420D42AD2}" srcOrd="0" destOrd="3" presId="urn:microsoft.com/office/officeart/2005/8/layout/hList1"/>
    <dgm:cxn modelId="{78CF6D95-2C2A-4C94-9A39-85BAC83CAB70}" type="presOf" srcId="{151C662C-49E7-40B8-A6EF-930DBF03206C}" destId="{49255472-93FD-48FA-89C5-22A420D42AD2}" srcOrd="0" destOrd="1" presId="urn:microsoft.com/office/officeart/2005/8/layout/hList1"/>
    <dgm:cxn modelId="{D9175895-E3E7-41D5-8298-01B83671F16E}" type="presOf" srcId="{F08AB753-3B9D-4E64-ACC4-8009D9DCD16B}" destId="{B9BAE133-BD42-4258-BC05-E28BCDF097C4}" srcOrd="0" destOrd="3" presId="urn:microsoft.com/office/officeart/2005/8/layout/hList1"/>
    <dgm:cxn modelId="{5F6BB19B-270B-44D5-A727-2FCF160995BD}" type="presOf" srcId="{9CE83AFF-2D68-4798-8270-29E7BA4EA304}" destId="{EC1F9132-0855-4CD7-BD31-5143575E240F}" srcOrd="0" destOrd="10" presId="urn:microsoft.com/office/officeart/2005/8/layout/hList1"/>
    <dgm:cxn modelId="{CE68D99D-C839-4731-8E56-E24A4C48CF49}" srcId="{79F84E72-514A-4BCA-8CF1-26FF1BADBA20}" destId="{9CE83AFF-2D68-4798-8270-29E7BA4EA304}" srcOrd="0" destOrd="0" parTransId="{8ADA775B-60E5-4319-84F4-A16F028AA66C}" sibTransId="{239584CF-4D2E-4C36-AC48-4251527206B9}"/>
    <dgm:cxn modelId="{C4E90E9F-8247-4433-A397-6CB9FA11FEF6}" type="presOf" srcId="{07A7311A-E0A9-4257-A660-F7D2EF8C6318}" destId="{EC1F9132-0855-4CD7-BD31-5143575E240F}" srcOrd="0" destOrd="8" presId="urn:microsoft.com/office/officeart/2005/8/layout/hList1"/>
    <dgm:cxn modelId="{235C23A0-58E8-4833-9064-43C759996A34}" type="presOf" srcId="{210CB6A9-EBFA-4008-BFEC-E991BB46E688}" destId="{EC1F9132-0855-4CD7-BD31-5143575E240F}" srcOrd="0" destOrd="7" presId="urn:microsoft.com/office/officeart/2005/8/layout/hList1"/>
    <dgm:cxn modelId="{E8569EA0-1925-4D4E-8D23-9443BFB05B74}" type="presOf" srcId="{6FF7854F-A18F-4A53-81F2-F9978574BCC3}" destId="{B9BAE133-BD42-4258-BC05-E28BCDF097C4}" srcOrd="0" destOrd="6" presId="urn:microsoft.com/office/officeart/2005/8/layout/hList1"/>
    <dgm:cxn modelId="{744A20A1-11FC-49D3-B339-1E03F5C11F4D}" srcId="{C01B39C6-6FDB-4D1A-AF5F-78C669F7C607}" destId="{DA35E795-64A0-439A-B0FB-AA0CC5A7D9FF}" srcOrd="0" destOrd="0" parTransId="{47817EA8-FA16-4666-B8FA-174257C906D3}" sibTransId="{ACC63BE4-9696-4D5D-ADCD-F7159197C07A}"/>
    <dgm:cxn modelId="{D84E86A2-3622-424C-8D38-D5D42A826026}" type="presOf" srcId="{BFE6A32C-87E6-4339-B883-94B1AA5CB6D1}" destId="{49255472-93FD-48FA-89C5-22A420D42AD2}" srcOrd="0" destOrd="4" presId="urn:microsoft.com/office/officeart/2005/8/layout/hList1"/>
    <dgm:cxn modelId="{0BA60EA3-4A6E-47F6-8468-11A32CD5E3B8}" type="presOf" srcId="{6EDD1F3F-0B1A-4A86-9828-AE6534551FCE}" destId="{EC1F9132-0855-4CD7-BD31-5143575E240F}" srcOrd="0" destOrd="5" presId="urn:microsoft.com/office/officeart/2005/8/layout/hList1"/>
    <dgm:cxn modelId="{832F9FAE-69C7-4E80-BA7F-BB126FE63F6E}" srcId="{1DE00BD2-2CFD-4CE6-B76E-E35BDB03F285}" destId="{BCDBEEE4-8AF9-4277-AF23-FC09E46BD31F}" srcOrd="0" destOrd="0" parTransId="{71642F3B-A66E-4BFE-92D9-0A3B6B712FB6}" sibTransId="{2091946D-F39F-4FE0-80B3-06D9BA869EB2}"/>
    <dgm:cxn modelId="{D91CE6AE-2B86-4E6C-8F69-AB119B5385C5}" type="presOf" srcId="{2CFB0307-B37C-4DC4-A06D-EE105772ADA6}" destId="{01706A2F-6CB3-47CD-BB07-FEDE5E6767FF}" srcOrd="0" destOrd="0" presId="urn:microsoft.com/office/officeart/2005/8/layout/hList1"/>
    <dgm:cxn modelId="{F77D9DB0-27DD-49C2-966F-F80BEECA26C7}" type="presOf" srcId="{F9E1E14D-8D1B-4504-ACF2-7BB05FAD57C4}" destId="{49255472-93FD-48FA-89C5-22A420D42AD2}" srcOrd="0" destOrd="0" presId="urn:microsoft.com/office/officeart/2005/8/layout/hList1"/>
    <dgm:cxn modelId="{7B1E8DB1-FD55-4AF4-B29B-25D7AF12473B}" type="presOf" srcId="{3A1DC77D-E660-4D6F-BEF0-9DC5A1E1E426}" destId="{B9BAE133-BD42-4258-BC05-E28BCDF097C4}" srcOrd="0" destOrd="4" presId="urn:microsoft.com/office/officeart/2005/8/layout/hList1"/>
    <dgm:cxn modelId="{B1AE3AB4-58A8-41CA-BD77-A7A482790BFB}" type="presOf" srcId="{973BC2C0-E69F-4488-A08C-8DCF8B924739}" destId="{B9BAE133-BD42-4258-BC05-E28BCDF097C4}" srcOrd="0" destOrd="12" presId="urn:microsoft.com/office/officeart/2005/8/layout/hList1"/>
    <dgm:cxn modelId="{DC5DDFB6-59B6-4262-A463-7EAA2DD7126D}" type="presOf" srcId="{BCDBEEE4-8AF9-4277-AF23-FC09E46BD31F}" destId="{DBA2DE36-7795-4D51-A8CA-AF46B616FB2C}" srcOrd="0" destOrd="0" presId="urn:microsoft.com/office/officeart/2005/8/layout/hList1"/>
    <dgm:cxn modelId="{BF6831BA-DEF0-4EE2-8F98-22284B11BB5B}" srcId="{4C70FC09-0B86-4710-B2A7-859A6CA6B2DE}" destId="{1AD66144-A623-4743-8219-1FF851648796}" srcOrd="0" destOrd="0" parTransId="{51C9E81F-07A7-4135-9365-F059FB179E3C}" sibTransId="{31C2D657-024C-412B-8B85-6B6BF8C68830}"/>
    <dgm:cxn modelId="{5772ECBF-64D4-4F31-A768-28754C489875}" srcId="{0D58AF00-8AB8-4C71-BAC2-7E2307AA04A0}" destId="{9530BDE2-2FF1-440A-BB0D-6EDC819E45A6}" srcOrd="1" destOrd="0" parTransId="{50F8458D-4937-4563-9551-EDEBB34B3FFA}" sibTransId="{BB5F21C3-58A9-4375-BB52-2CF330BFE4BD}"/>
    <dgm:cxn modelId="{54D247CB-2749-44F8-98B1-F0AC11F45745}" srcId="{BD2A1A8F-18E0-4344-8F58-116E4423D73F}" destId="{3E7D7DA4-F31F-4B17-BAB6-9D7979C1CBC9}" srcOrd="1" destOrd="0" parTransId="{DC348939-62AB-4EDB-B746-FA0209EEF3AA}" sibTransId="{0AF65DA9-0F48-48D2-9FE5-8AE25E55AD8C}"/>
    <dgm:cxn modelId="{E91F65CC-BE5F-4D46-BCD5-C9415FB6FAE2}" srcId="{BD2A1A8F-18E0-4344-8F58-116E4423D73F}" destId="{F9E1E14D-8D1B-4504-ACF2-7BB05FAD57C4}" srcOrd="0" destOrd="0" parTransId="{79E0751C-328D-49F8-9AD5-E71546AB5043}" sibTransId="{8379B42A-136D-4DD2-A8FC-B76292B79AA6}"/>
    <dgm:cxn modelId="{F83340CE-17E9-4A4F-8AB5-59D160086C1F}" srcId="{D349B4B1-D617-42A1-AAAA-600139A92F24}" destId="{1F2362F3-205C-41AA-A4E8-2C813588A4F7}" srcOrd="0" destOrd="0" parTransId="{6B5E7AAF-3451-4C74-8798-AC4B3B2482F1}" sibTransId="{DBD96705-1F8D-4ED8-BE00-C243D9BB8D4D}"/>
    <dgm:cxn modelId="{8E956ECE-8C53-46CB-B13E-E5FFFAC3A01D}" srcId="{4C70FC09-0B86-4710-B2A7-859A6CA6B2DE}" destId="{F08AB753-3B9D-4E64-ACC4-8009D9DCD16B}" srcOrd="1" destOrd="0" parTransId="{DFC383A6-F14C-441E-ABA5-02F3CEE43667}" sibTransId="{486914E1-46B4-4D5D-A7C2-2E4E160295BC}"/>
    <dgm:cxn modelId="{9FCE3CD0-D3D6-4AA5-8286-36E5CBE82BFF}" srcId="{F9E1E14D-8D1B-4504-ACF2-7BB05FAD57C4}" destId="{151C662C-49E7-40B8-A6EF-930DBF03206C}" srcOrd="0" destOrd="0" parTransId="{9C550603-04E0-4012-A18D-B2E8DCDBF2A1}" sibTransId="{4AE684C4-F5E5-428F-B4F1-15CF83C06C2B}"/>
    <dgm:cxn modelId="{BE68DCDA-570A-4475-98BF-A3D1A9B15474}" type="presOf" srcId="{0D58AF00-8AB8-4C71-BAC2-7E2307AA04A0}" destId="{EC1F9132-0855-4CD7-BD31-5143575E240F}" srcOrd="0" destOrd="4" presId="urn:microsoft.com/office/officeart/2005/8/layout/hList1"/>
    <dgm:cxn modelId="{CAB898DB-5237-47AF-9CC4-C85DDB24A3F3}" srcId="{0D58AF00-8AB8-4C71-BAC2-7E2307AA04A0}" destId="{210CB6A9-EBFA-4008-BFEC-E991BB46E688}" srcOrd="2" destOrd="0" parTransId="{DE09405E-046D-4890-86D4-37DC3A9B70D8}" sibTransId="{AEAEA318-3D58-407A-8FC8-F4490CD15785}"/>
    <dgm:cxn modelId="{4DEED6DB-AEC3-4115-8D7F-1FA211D88E60}" srcId="{1DE00BD2-2CFD-4CE6-B76E-E35BDB03F285}" destId="{2CFB0307-B37C-4DC4-A06D-EE105772ADA6}" srcOrd="1" destOrd="0" parTransId="{8DB3812F-E256-46E9-8E41-57852D4E7C45}" sibTransId="{5176A360-ECAD-449D-857C-A5F1A14AF43A}"/>
    <dgm:cxn modelId="{6FEA9FDE-766F-4107-BE84-5DC770ECC643}" type="presOf" srcId="{9530BDE2-2FF1-440A-BB0D-6EDC819E45A6}" destId="{EC1F9132-0855-4CD7-BD31-5143575E240F}" srcOrd="0" destOrd="6" presId="urn:microsoft.com/office/officeart/2005/8/layout/hList1"/>
    <dgm:cxn modelId="{837A64DF-E635-4CA5-AA33-31506EF12B10}" srcId="{F9E1E14D-8D1B-4504-ACF2-7BB05FAD57C4}" destId="{DE415D6A-71B6-4A16-93C2-9B0955AC2435}" srcOrd="1" destOrd="0" parTransId="{615B342C-A016-48C8-BC74-6F4140BDFB88}" sibTransId="{ECF69541-7903-45F4-999E-C58C7A6A27CA}"/>
    <dgm:cxn modelId="{E961B9E0-2911-4DE1-AC37-4431D84A02A9}" type="presOf" srcId="{7C553529-DFB0-4D6D-8B22-29C0B24809A5}" destId="{B9BAE133-BD42-4258-BC05-E28BCDF097C4}" srcOrd="0" destOrd="13" presId="urn:microsoft.com/office/officeart/2005/8/layout/hList1"/>
    <dgm:cxn modelId="{FDB7C7E2-161A-492F-BA84-24253F2CA7C6}" srcId="{BCDBEEE4-8AF9-4277-AF23-FC09E46BD31F}" destId="{C01B39C6-6FDB-4D1A-AF5F-78C669F7C607}" srcOrd="3" destOrd="0" parTransId="{3E22C0E9-915A-4C31-B97A-4BED952FA67C}" sibTransId="{E1101428-DFC6-419B-ABA9-01EC88A42DCD}"/>
    <dgm:cxn modelId="{EC5CA2E3-5025-4894-9381-387215F43168}" type="presOf" srcId="{485170B9-C600-4275-9D2C-E5E81CA4FAFA}" destId="{EC1F9132-0855-4CD7-BD31-5143575E240F}" srcOrd="0" destOrd="3" presId="urn:microsoft.com/office/officeart/2005/8/layout/hList1"/>
    <dgm:cxn modelId="{F3C3B2EC-01D3-462F-851E-1F26812BEF24}" type="presOf" srcId="{BD2A1A8F-18E0-4344-8F58-116E4423D73F}" destId="{B6025370-1B14-41F8-961B-894179D61A1D}" srcOrd="0" destOrd="0" presId="urn:microsoft.com/office/officeart/2005/8/layout/hList1"/>
    <dgm:cxn modelId="{3926E3F6-DA28-4375-8004-214B8976CE05}" srcId="{D349B4B1-D617-42A1-AAAA-600139A92F24}" destId="{485170B9-C600-4275-9D2C-E5E81CA4FAFA}" srcOrd="2" destOrd="0" parTransId="{BD45BF86-A764-4A87-BB0B-D8B128EF7F04}" sibTransId="{EFA2B4D3-1BD7-4849-9E66-C260C30142CC}"/>
    <dgm:cxn modelId="{71F153F9-325E-44EF-8064-B4E5405E7292}" type="presOf" srcId="{DA35E795-64A0-439A-B0FB-AA0CC5A7D9FF}" destId="{B9BAE133-BD42-4258-BC05-E28BCDF097C4}" srcOrd="0" destOrd="8" presId="urn:microsoft.com/office/officeart/2005/8/layout/hList1"/>
    <dgm:cxn modelId="{DF5E96FA-1962-4200-A690-D6212678351F}" srcId="{BCDBEEE4-8AF9-4277-AF23-FC09E46BD31F}" destId="{3AA7396E-A108-422F-BC5C-9B29975DFB95}" srcOrd="0" destOrd="0" parTransId="{E02711DA-F8E4-4218-95F7-C93661E1A9F1}" sibTransId="{65C9EA6D-AE4D-47C6-858D-D45248B2B2CA}"/>
    <dgm:cxn modelId="{FD2A29FD-E89C-46AE-A81A-A4DA153D16AF}" srcId="{2CFB0307-B37C-4DC4-A06D-EE105772ADA6}" destId="{D349B4B1-D617-42A1-AAAA-600139A92F24}" srcOrd="0" destOrd="0" parTransId="{A39F28B3-C46A-4E7D-8968-90B646EE605F}" sibTransId="{091DABF4-848A-4E98-9C74-81DEC6238BF4}"/>
    <dgm:cxn modelId="{047982FE-160F-4193-87B6-6AD701E8CAD5}" srcId="{1DE00BD2-2CFD-4CE6-B76E-E35BDB03F285}" destId="{BD2A1A8F-18E0-4344-8F58-116E4423D73F}" srcOrd="2" destOrd="0" parTransId="{15D63249-4DEF-4C30-B728-A4A37941FC87}" sibTransId="{20F94C4A-6878-4323-88B1-F855CB8AD167}"/>
    <dgm:cxn modelId="{48ECA5B9-1B04-4996-A590-FED141A68DFC}" type="presParOf" srcId="{04C6EE81-B772-4ADE-AA82-F87E4A189C4A}" destId="{5BAEEC69-D959-4EBA-928E-E5BD805FFEED}" srcOrd="0" destOrd="0" presId="urn:microsoft.com/office/officeart/2005/8/layout/hList1"/>
    <dgm:cxn modelId="{29EA9BCE-ED91-4CBB-84C2-F8544C0DE4F9}" type="presParOf" srcId="{5BAEEC69-D959-4EBA-928E-E5BD805FFEED}" destId="{DBA2DE36-7795-4D51-A8CA-AF46B616FB2C}" srcOrd="0" destOrd="0" presId="urn:microsoft.com/office/officeart/2005/8/layout/hList1"/>
    <dgm:cxn modelId="{33107015-FD2E-40F0-8075-C6F74E867F97}" type="presParOf" srcId="{5BAEEC69-D959-4EBA-928E-E5BD805FFEED}" destId="{B9BAE133-BD42-4258-BC05-E28BCDF097C4}" srcOrd="1" destOrd="0" presId="urn:microsoft.com/office/officeart/2005/8/layout/hList1"/>
    <dgm:cxn modelId="{9572E0E8-B971-4A64-A6C1-C01B5E3FA829}" type="presParOf" srcId="{04C6EE81-B772-4ADE-AA82-F87E4A189C4A}" destId="{7FCA43F9-7BB8-4FE4-BC29-049FD215B5D3}" srcOrd="1" destOrd="0" presId="urn:microsoft.com/office/officeart/2005/8/layout/hList1"/>
    <dgm:cxn modelId="{F8C65DFD-7739-4483-B158-2B32884947EE}" type="presParOf" srcId="{04C6EE81-B772-4ADE-AA82-F87E4A189C4A}" destId="{8120A8A1-C787-4488-9554-42574D01742D}" srcOrd="2" destOrd="0" presId="urn:microsoft.com/office/officeart/2005/8/layout/hList1"/>
    <dgm:cxn modelId="{07DFB397-E5F9-48FF-9538-8ADD6CDA5507}" type="presParOf" srcId="{8120A8A1-C787-4488-9554-42574D01742D}" destId="{01706A2F-6CB3-47CD-BB07-FEDE5E6767FF}" srcOrd="0" destOrd="0" presId="urn:microsoft.com/office/officeart/2005/8/layout/hList1"/>
    <dgm:cxn modelId="{DE2ABCCD-76C5-46FC-A736-E9FC73F1A067}" type="presParOf" srcId="{8120A8A1-C787-4488-9554-42574D01742D}" destId="{EC1F9132-0855-4CD7-BD31-5143575E240F}" srcOrd="1" destOrd="0" presId="urn:microsoft.com/office/officeart/2005/8/layout/hList1"/>
    <dgm:cxn modelId="{3D6777A7-1E38-4ED4-BCA5-B26D12EB3BFA}" type="presParOf" srcId="{04C6EE81-B772-4ADE-AA82-F87E4A189C4A}" destId="{D206E679-4A4F-44F7-AE38-0B25EEFEA5D6}" srcOrd="3" destOrd="0" presId="urn:microsoft.com/office/officeart/2005/8/layout/hList1"/>
    <dgm:cxn modelId="{D6B1315D-B6A4-42A5-A4D2-A6A120F156CD}" type="presParOf" srcId="{04C6EE81-B772-4ADE-AA82-F87E4A189C4A}" destId="{CCE33B74-09B7-4AC0-ABAE-F1E40CC10472}" srcOrd="4" destOrd="0" presId="urn:microsoft.com/office/officeart/2005/8/layout/hList1"/>
    <dgm:cxn modelId="{DBCBAF91-02C5-4013-A33E-EE60FEAE9BC6}" type="presParOf" srcId="{CCE33B74-09B7-4AC0-ABAE-F1E40CC10472}" destId="{B6025370-1B14-41F8-961B-894179D61A1D}" srcOrd="0" destOrd="0" presId="urn:microsoft.com/office/officeart/2005/8/layout/hList1"/>
    <dgm:cxn modelId="{EC33061E-9ECA-43D4-8FC7-9969B10CB99A}" type="presParOf" srcId="{CCE33B74-09B7-4AC0-ABAE-F1E40CC10472}" destId="{49255472-93FD-48FA-89C5-22A420D42AD2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C9B9CF6-524A-4FE5-B916-517A030F3DCC}">
      <dsp:nvSpPr>
        <dsp:cNvPr id="0" name=""/>
        <dsp:cNvSpPr/>
      </dsp:nvSpPr>
      <dsp:spPr>
        <a:xfrm>
          <a:off x="0" y="13634"/>
          <a:ext cx="10284134" cy="673920"/>
        </a:xfrm>
        <a:prstGeom prst="roundRect">
          <a:avLst/>
        </a:prstGeom>
        <a:solidFill>
          <a:schemeClr val="tx2">
            <a:lumMod val="75000"/>
            <a:lumOff val="25000"/>
          </a:schemeClr>
        </a:solidFill>
        <a:ln>
          <a:noFill/>
        </a:ln>
        <a:effectLst>
          <a:glow rad="63500">
            <a:schemeClr val="accent1">
              <a:satMod val="175000"/>
              <a:alpha val="40000"/>
            </a:schemeClr>
          </a:glo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noProof="0" dirty="0">
              <a:solidFill>
                <a:srgbClr val="FFFF00"/>
              </a:solidFill>
              <a:ea typeface="+mn-ea"/>
              <a:cs typeface="+mn-cs"/>
            </a:rPr>
            <a:t>Sovereign </a:t>
          </a:r>
          <a:r>
            <a:rPr lang="en-US" sz="1800" b="1" kern="1200" noProof="0" dirty="0">
              <a:solidFill>
                <a:srgbClr val="FFFF00"/>
              </a:solidFill>
              <a:latin typeface="Jura"/>
              <a:ea typeface="+mn-ea"/>
              <a:cs typeface="+mn-cs"/>
            </a:rPr>
            <a:t>Services</a:t>
          </a:r>
          <a:r>
            <a:rPr lang="en-US" sz="1800" b="1" kern="1200" noProof="0" dirty="0">
              <a:solidFill>
                <a:srgbClr val="FFFF00"/>
              </a:solidFill>
              <a:ea typeface="+mn-ea"/>
              <a:cs typeface="+mn-cs"/>
            </a:rPr>
            <a:t> Strategy Discussion</a:t>
          </a:r>
        </a:p>
      </dsp:txBody>
      <dsp:txXfrm>
        <a:off x="32898" y="46532"/>
        <a:ext cx="10218338" cy="608124"/>
      </dsp:txXfrm>
    </dsp:sp>
    <dsp:sp modelId="{229F0041-11A0-4962-B145-4E356BA7717D}">
      <dsp:nvSpPr>
        <dsp:cNvPr id="0" name=""/>
        <dsp:cNvSpPr/>
      </dsp:nvSpPr>
      <dsp:spPr>
        <a:xfrm>
          <a:off x="0" y="791234"/>
          <a:ext cx="10284134" cy="673920"/>
        </a:xfrm>
        <a:prstGeom prst="roundRect">
          <a:avLst/>
        </a:prstGeom>
        <a:solidFill>
          <a:schemeClr val="tx2">
            <a:lumMod val="75000"/>
            <a:lumOff val="25000"/>
          </a:schemeClr>
        </a:solidFill>
        <a:ln>
          <a:noFill/>
        </a:ln>
        <a:effectLst>
          <a:glow rad="63500">
            <a:schemeClr val="accent1">
              <a:satMod val="175000"/>
              <a:alpha val="40000"/>
            </a:schemeClr>
          </a:glo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noProof="0" dirty="0">
              <a:solidFill>
                <a:srgbClr val="FFFF00"/>
              </a:solidFill>
              <a:ea typeface="+mn-ea"/>
              <a:cs typeface="+mn-cs"/>
            </a:rPr>
            <a:t>Flinky Integration / Release Plan</a:t>
          </a:r>
        </a:p>
      </dsp:txBody>
      <dsp:txXfrm>
        <a:off x="32898" y="824132"/>
        <a:ext cx="10218338" cy="608124"/>
      </dsp:txXfrm>
    </dsp:sp>
    <dsp:sp modelId="{978C2CD0-63B0-4941-99A8-91F0E71D52F5}">
      <dsp:nvSpPr>
        <dsp:cNvPr id="0" name=""/>
        <dsp:cNvSpPr/>
      </dsp:nvSpPr>
      <dsp:spPr>
        <a:xfrm>
          <a:off x="0" y="1568834"/>
          <a:ext cx="10284134" cy="673920"/>
        </a:xfrm>
        <a:prstGeom prst="roundRect">
          <a:avLst/>
        </a:prstGeom>
        <a:solidFill>
          <a:schemeClr val="tx2">
            <a:lumMod val="75000"/>
            <a:lumOff val="25000"/>
          </a:schemeClr>
        </a:solidFill>
        <a:ln>
          <a:noFill/>
        </a:ln>
        <a:effectLst>
          <a:glow rad="63500">
            <a:schemeClr val="accent1">
              <a:satMod val="175000"/>
              <a:alpha val="40000"/>
            </a:schemeClr>
          </a:glo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noProof="0" dirty="0">
              <a:solidFill>
                <a:schemeClr val="bg1">
                  <a:lumMod val="85000"/>
                </a:schemeClr>
              </a:solidFill>
              <a:ea typeface="+mn-ea"/>
              <a:cs typeface="+mn-cs"/>
            </a:rPr>
            <a:t>Interoperability: Open Industry API / Marketplace &lt;-&gt; Sovereign Services</a:t>
          </a:r>
        </a:p>
      </dsp:txBody>
      <dsp:txXfrm>
        <a:off x="32898" y="1601732"/>
        <a:ext cx="10218338" cy="608124"/>
      </dsp:txXfrm>
    </dsp:sp>
    <dsp:sp modelId="{B15D1C79-4F7F-4049-BB25-D4D148438650}">
      <dsp:nvSpPr>
        <dsp:cNvPr id="0" name=""/>
        <dsp:cNvSpPr/>
      </dsp:nvSpPr>
      <dsp:spPr>
        <a:xfrm>
          <a:off x="0" y="2346434"/>
          <a:ext cx="10284134" cy="673920"/>
        </a:xfrm>
        <a:prstGeom prst="roundRect">
          <a:avLst/>
        </a:prstGeom>
        <a:solidFill>
          <a:schemeClr val="tx2">
            <a:lumMod val="75000"/>
            <a:lumOff val="25000"/>
          </a:schemeClr>
        </a:solidFill>
        <a:ln>
          <a:noFill/>
        </a:ln>
        <a:effectLst>
          <a:glow rad="63500">
            <a:schemeClr val="accent1">
              <a:satMod val="175000"/>
              <a:alpha val="40000"/>
            </a:schemeClr>
          </a:glo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noProof="0" dirty="0">
              <a:solidFill>
                <a:schemeClr val="bg1">
                  <a:lumMod val="85000"/>
                </a:schemeClr>
              </a:solidFill>
              <a:ea typeface="+mn-ea"/>
              <a:cs typeface="+mn-cs"/>
            </a:rPr>
            <a:t>Tool Suite: AI compliance Suite / Flinky DevOps Components / Open Source Enterprise AI </a:t>
          </a:r>
          <a:endParaRPr lang="en-US" sz="1600" kern="1200" noProof="0" dirty="0">
            <a:solidFill>
              <a:schemeClr val="bg1">
                <a:lumMod val="85000"/>
              </a:schemeClr>
            </a:solidFill>
            <a:ea typeface="+mn-ea"/>
            <a:cs typeface="+mn-cs"/>
          </a:endParaRPr>
        </a:p>
      </dsp:txBody>
      <dsp:txXfrm>
        <a:off x="32898" y="2379332"/>
        <a:ext cx="10218338" cy="608124"/>
      </dsp:txXfrm>
    </dsp:sp>
    <dsp:sp modelId="{46019C24-1C47-4B2C-953A-AB8E78E8ABC0}">
      <dsp:nvSpPr>
        <dsp:cNvPr id="0" name=""/>
        <dsp:cNvSpPr/>
      </dsp:nvSpPr>
      <dsp:spPr>
        <a:xfrm>
          <a:off x="0" y="3124034"/>
          <a:ext cx="10284134" cy="673920"/>
        </a:xfrm>
        <a:prstGeom prst="roundRect">
          <a:avLst/>
        </a:prstGeom>
        <a:solidFill>
          <a:schemeClr val="tx2">
            <a:lumMod val="75000"/>
            <a:lumOff val="25000"/>
          </a:schemeClr>
        </a:solidFill>
        <a:ln>
          <a:noFill/>
        </a:ln>
        <a:effectLst>
          <a:glow rad="63500">
            <a:schemeClr val="accent1">
              <a:satMod val="175000"/>
              <a:alpha val="40000"/>
            </a:schemeClr>
          </a:glo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i="0" kern="1200" noProof="0" dirty="0">
              <a:solidFill>
                <a:schemeClr val="bg1">
                  <a:lumMod val="85000"/>
                </a:schemeClr>
              </a:solidFill>
              <a:ea typeface="+mn-ea"/>
              <a:cs typeface="+mn-cs"/>
            </a:rPr>
            <a:t>White Label Packages </a:t>
          </a:r>
        </a:p>
      </dsp:txBody>
      <dsp:txXfrm>
        <a:off x="32898" y="3156932"/>
        <a:ext cx="10218338" cy="60812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60395A7-55CC-4EB7-A026-BDAF45588C78}">
      <dsp:nvSpPr>
        <dsp:cNvPr id="0" name=""/>
        <dsp:cNvSpPr/>
      </dsp:nvSpPr>
      <dsp:spPr>
        <a:xfrm>
          <a:off x="5313" y="2215192"/>
          <a:ext cx="1647137" cy="98828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Open API standard</a:t>
          </a:r>
        </a:p>
      </dsp:txBody>
      <dsp:txXfrm>
        <a:off x="34259" y="2244138"/>
        <a:ext cx="1589245" cy="930390"/>
      </dsp:txXfrm>
    </dsp:sp>
    <dsp:sp modelId="{683F5243-4E98-4D4C-8CE4-7CCBA12EAAF1}">
      <dsp:nvSpPr>
        <dsp:cNvPr id="0" name=""/>
        <dsp:cNvSpPr/>
      </dsp:nvSpPr>
      <dsp:spPr>
        <a:xfrm>
          <a:off x="1817164" y="2505088"/>
          <a:ext cx="349193" cy="40848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/>
        </a:p>
      </dsp:txBody>
      <dsp:txXfrm>
        <a:off x="1817164" y="2586786"/>
        <a:ext cx="244435" cy="245093"/>
      </dsp:txXfrm>
    </dsp:sp>
    <dsp:sp modelId="{5656F881-4C96-40DB-BB23-E207CE508DAE}">
      <dsp:nvSpPr>
        <dsp:cNvPr id="0" name=""/>
        <dsp:cNvSpPr/>
      </dsp:nvSpPr>
      <dsp:spPr>
        <a:xfrm>
          <a:off x="2311305" y="2215192"/>
          <a:ext cx="1647137" cy="98828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(European) Open Source Models</a:t>
          </a:r>
        </a:p>
      </dsp:txBody>
      <dsp:txXfrm>
        <a:off x="2340251" y="2244138"/>
        <a:ext cx="1589245" cy="930390"/>
      </dsp:txXfrm>
    </dsp:sp>
    <dsp:sp modelId="{844FCF21-D7AB-41BC-B4DF-27C8F6B9E2A3}">
      <dsp:nvSpPr>
        <dsp:cNvPr id="0" name=""/>
        <dsp:cNvSpPr/>
      </dsp:nvSpPr>
      <dsp:spPr>
        <a:xfrm>
          <a:off x="4123155" y="2505088"/>
          <a:ext cx="349193" cy="40848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/>
        </a:p>
      </dsp:txBody>
      <dsp:txXfrm>
        <a:off x="4123155" y="2586786"/>
        <a:ext cx="244435" cy="245093"/>
      </dsp:txXfrm>
    </dsp:sp>
    <dsp:sp modelId="{56FAF0A1-7C2A-4F43-9075-2EB0A5F76D06}">
      <dsp:nvSpPr>
        <dsp:cNvPr id="0" name=""/>
        <dsp:cNvSpPr/>
      </dsp:nvSpPr>
      <dsp:spPr>
        <a:xfrm>
          <a:off x="4617296" y="2215192"/>
          <a:ext cx="1647137" cy="98828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Sovereign Inference Operation</a:t>
          </a:r>
        </a:p>
      </dsp:txBody>
      <dsp:txXfrm>
        <a:off x="4646242" y="2244138"/>
        <a:ext cx="1589245" cy="930390"/>
      </dsp:txXfrm>
    </dsp:sp>
    <dsp:sp modelId="{CAAE95BA-6F5F-4511-B892-652C2827042A}">
      <dsp:nvSpPr>
        <dsp:cNvPr id="0" name=""/>
        <dsp:cNvSpPr/>
      </dsp:nvSpPr>
      <dsp:spPr>
        <a:xfrm>
          <a:off x="6429147" y="2505088"/>
          <a:ext cx="349193" cy="40848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/>
        </a:p>
      </dsp:txBody>
      <dsp:txXfrm>
        <a:off x="6429147" y="2586786"/>
        <a:ext cx="244435" cy="245093"/>
      </dsp:txXfrm>
    </dsp:sp>
    <dsp:sp modelId="{7772B137-10B4-4872-95A4-64CCD16B68DA}">
      <dsp:nvSpPr>
        <dsp:cNvPr id="0" name=""/>
        <dsp:cNvSpPr/>
      </dsp:nvSpPr>
      <dsp:spPr>
        <a:xfrm>
          <a:off x="6923288" y="2215192"/>
          <a:ext cx="1647137" cy="98828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European Compliance</a:t>
          </a:r>
        </a:p>
      </dsp:txBody>
      <dsp:txXfrm>
        <a:off x="6952234" y="2244138"/>
        <a:ext cx="1589245" cy="930390"/>
      </dsp:txXfrm>
    </dsp:sp>
    <dsp:sp modelId="{378EA718-4611-4F03-A819-D679DA3BABA1}">
      <dsp:nvSpPr>
        <dsp:cNvPr id="0" name=""/>
        <dsp:cNvSpPr/>
      </dsp:nvSpPr>
      <dsp:spPr>
        <a:xfrm>
          <a:off x="8735139" y="2505088"/>
          <a:ext cx="349193" cy="40848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/>
        </a:p>
      </dsp:txBody>
      <dsp:txXfrm>
        <a:off x="8735139" y="2586786"/>
        <a:ext cx="244435" cy="245093"/>
      </dsp:txXfrm>
    </dsp:sp>
    <dsp:sp modelId="{7C8A0796-5179-4439-8F42-31EE77F8B0BB}">
      <dsp:nvSpPr>
        <dsp:cNvPr id="0" name=""/>
        <dsp:cNvSpPr/>
      </dsp:nvSpPr>
      <dsp:spPr>
        <a:xfrm>
          <a:off x="9229280" y="2215192"/>
          <a:ext cx="1647137" cy="98828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Enterprise ready operation</a:t>
          </a:r>
          <a:endParaRPr lang="en-US" sz="1800" kern="1200" dirty="0"/>
        </a:p>
      </dsp:txBody>
      <dsp:txXfrm>
        <a:off x="9258226" y="2244138"/>
        <a:ext cx="1589245" cy="93039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BA2DE36-7795-4D51-A8CA-AF46B616FB2C}">
      <dsp:nvSpPr>
        <dsp:cNvPr id="0" name=""/>
        <dsp:cNvSpPr/>
      </dsp:nvSpPr>
      <dsp:spPr>
        <a:xfrm>
          <a:off x="3286" y="15237"/>
          <a:ext cx="3203971" cy="6048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65024" rIns="113792" bIns="65024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2026 (Beta Phase)</a:t>
          </a:r>
        </a:p>
      </dsp:txBody>
      <dsp:txXfrm>
        <a:off x="3286" y="15237"/>
        <a:ext cx="3203971" cy="604800"/>
      </dsp:txXfrm>
    </dsp:sp>
    <dsp:sp modelId="{B9BAE133-BD42-4258-BC05-E28BCDF097C4}">
      <dsp:nvSpPr>
        <dsp:cNvPr id="0" name=""/>
        <dsp:cNvSpPr/>
      </dsp:nvSpPr>
      <dsp:spPr>
        <a:xfrm>
          <a:off x="0" y="635275"/>
          <a:ext cx="3203971" cy="4035150"/>
        </a:xfrm>
        <a:prstGeom prst="rect">
          <a:avLst/>
        </a:prstGeom>
        <a:solidFill>
          <a:schemeClr val="bg1">
            <a:alpha val="9000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676" tIns="74676" rIns="99568" bIns="112014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b="1" kern="1200" dirty="0"/>
            <a:t>Flinky</a:t>
          </a:r>
          <a:br>
            <a:rPr lang="en-US" sz="1400" b="1" kern="1200" dirty="0"/>
          </a:br>
          <a:r>
            <a:rPr lang="en-US" sz="1400" b="1" kern="1200" dirty="0" err="1"/>
            <a:t>FrontEnd</a:t>
          </a:r>
          <a:r>
            <a:rPr lang="en-US" sz="1400" b="1" kern="1200" dirty="0"/>
            <a:t> and Platform </a:t>
          </a:r>
          <a:br>
            <a:rPr lang="en-US" sz="1400" b="1" kern="1200" dirty="0"/>
          </a:br>
          <a:r>
            <a:rPr lang="en-US" sz="1400" b="1" kern="1200" dirty="0"/>
            <a:t>for AIODP Sovereign Services </a:t>
          </a:r>
          <a:br>
            <a:rPr lang="en-US" sz="1200" kern="1200" dirty="0"/>
          </a:br>
          <a:endParaRPr lang="en-US" sz="12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b="1" kern="1200" dirty="0"/>
            <a:t>Inference Services Providers Connected</a:t>
          </a:r>
        </a:p>
        <a:p>
          <a:pPr marL="228600" lvl="2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 err="1"/>
            <a:t>Meluxina</a:t>
          </a:r>
          <a:endParaRPr lang="en-US" sz="1200" kern="1200" dirty="0"/>
        </a:p>
        <a:p>
          <a:pPr marL="228600" lvl="2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Lumi</a:t>
          </a:r>
          <a:br>
            <a:rPr lang="en-US" sz="1200" kern="1200" dirty="0"/>
          </a:br>
          <a:endParaRPr lang="en-US" sz="12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b="1" kern="1200" dirty="0"/>
            <a:t>Cloud/Kubernetes DevOps</a:t>
          </a:r>
        </a:p>
        <a:p>
          <a:pPr marL="228600" lvl="2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 err="1"/>
            <a:t>Convotis</a:t>
          </a:r>
          <a:endParaRPr lang="en-US" sz="1200" kern="1200" dirty="0"/>
        </a:p>
        <a:p>
          <a:pPr marL="228600" lvl="2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 err="1"/>
            <a:t>LuxProvide</a:t>
          </a:r>
          <a:br>
            <a:rPr lang="en-US" sz="1200" kern="1200" dirty="0"/>
          </a:br>
          <a:endParaRPr lang="en-US" sz="12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b="1" kern="1200" dirty="0"/>
            <a:t>Open Industry APIs Interoperability</a:t>
          </a:r>
        </a:p>
        <a:p>
          <a:pPr marL="228600" lvl="2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GenAI Gateway</a:t>
          </a:r>
        </a:p>
        <a:p>
          <a:pPr marL="228600" lvl="2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Enterprise Portal</a:t>
          </a:r>
        </a:p>
        <a:p>
          <a:pPr marL="228600" lvl="2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Other</a:t>
          </a:r>
          <a:br>
            <a:rPr lang="en-US" sz="1200" kern="1200" dirty="0"/>
          </a:br>
          <a:endParaRPr lang="en-US" sz="12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b="1" kern="1200" dirty="0"/>
            <a:t>Tools</a:t>
          </a:r>
        </a:p>
        <a:p>
          <a:pPr marL="228600" lvl="2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Compliance/SALL, other</a:t>
          </a:r>
        </a:p>
        <a:p>
          <a:pPr marL="228600" lvl="2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AI Builder</a:t>
          </a:r>
        </a:p>
      </dsp:txBody>
      <dsp:txXfrm>
        <a:off x="0" y="635275"/>
        <a:ext cx="3203971" cy="4035150"/>
      </dsp:txXfrm>
    </dsp:sp>
    <dsp:sp modelId="{01706A2F-6CB3-47CD-BB07-FEDE5E6767FF}">
      <dsp:nvSpPr>
        <dsp:cNvPr id="0" name=""/>
        <dsp:cNvSpPr/>
      </dsp:nvSpPr>
      <dsp:spPr>
        <a:xfrm>
          <a:off x="3655814" y="15237"/>
          <a:ext cx="3203971" cy="6048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65024" rIns="113792" bIns="65024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Q1-Q2 2027</a:t>
          </a:r>
        </a:p>
      </dsp:txBody>
      <dsp:txXfrm>
        <a:off x="3655814" y="15237"/>
        <a:ext cx="3203971" cy="604800"/>
      </dsp:txXfrm>
    </dsp:sp>
    <dsp:sp modelId="{EC1F9132-0855-4CD7-BD31-5143575E240F}">
      <dsp:nvSpPr>
        <dsp:cNvPr id="0" name=""/>
        <dsp:cNvSpPr/>
      </dsp:nvSpPr>
      <dsp:spPr>
        <a:xfrm>
          <a:off x="3655814" y="620037"/>
          <a:ext cx="3203971" cy="4035150"/>
        </a:xfrm>
        <a:prstGeom prst="rect">
          <a:avLst/>
        </a:prstGeom>
        <a:solidFill>
          <a:schemeClr val="bg1">
            <a:alpha val="9000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008" tIns="64008" rIns="85344" bIns="96012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b="1" kern="1200" dirty="0"/>
            <a:t>Agentic Development Workflow Automation</a:t>
          </a:r>
        </a:p>
        <a:p>
          <a:pPr marL="228600" lvl="2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Dedicated Use Cases</a:t>
          </a:r>
        </a:p>
        <a:p>
          <a:pPr marL="228600" lvl="2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 err="1"/>
            <a:t>LightOn</a:t>
          </a:r>
          <a:r>
            <a:rPr lang="en-US" sz="1200" kern="1200" dirty="0"/>
            <a:t> Console</a:t>
          </a:r>
        </a:p>
        <a:p>
          <a:pPr marL="228600" lvl="2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Tools and Services Integration</a:t>
          </a:r>
          <a:br>
            <a:rPr lang="en-US" sz="1200" kern="1200" dirty="0"/>
          </a:br>
          <a:endParaRPr lang="en-US" sz="12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b="1" kern="1200" dirty="0"/>
            <a:t>AI Enterprise Suite Integration</a:t>
          </a:r>
        </a:p>
        <a:p>
          <a:pPr marL="228600" lvl="2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AMD Suite</a:t>
          </a:r>
        </a:p>
        <a:p>
          <a:pPr marL="228600" lvl="2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/>
            <a:t>AI Builder ?</a:t>
          </a:r>
          <a:endParaRPr lang="en-US" sz="1200" kern="1200" dirty="0"/>
        </a:p>
        <a:p>
          <a:pPr marL="228600" lvl="2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Combine with Kubernetes?</a:t>
          </a:r>
        </a:p>
        <a:p>
          <a:pPr marL="228600" lvl="2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other</a:t>
          </a:r>
          <a:br>
            <a:rPr lang="en-US" sz="1200" kern="1200" dirty="0"/>
          </a:br>
          <a:endParaRPr lang="en-US" sz="12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b="1" kern="1200" dirty="0"/>
            <a:t>Onboarding additional</a:t>
          </a:r>
          <a:br>
            <a:rPr lang="en-US" sz="1200" b="1" kern="1200" dirty="0"/>
          </a:br>
          <a:r>
            <a:rPr lang="en-US" sz="1200" b="1" kern="1200" dirty="0"/>
            <a:t>HPCs/AI-Factories</a:t>
          </a:r>
          <a:endParaRPr lang="en-US" sz="1200" kern="1200" dirty="0"/>
        </a:p>
        <a:p>
          <a:pPr marL="228600" lvl="2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Capacity increase / Increase traffic</a:t>
          </a:r>
        </a:p>
        <a:p>
          <a:pPr marL="228600" lvl="2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Competitive Positioning for Sovereignty </a:t>
          </a:r>
          <a:br>
            <a:rPr lang="en-US" sz="1200" kern="1200" dirty="0"/>
          </a:br>
          <a:endParaRPr lang="en-US" sz="12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b="1" kern="1200" dirty="0"/>
            <a:t>Functional enhancements</a:t>
          </a:r>
          <a:br>
            <a:rPr lang="en-US" sz="1200" kern="1200" dirty="0"/>
          </a:br>
          <a:endParaRPr lang="en-US" sz="1200" b="1" kern="1200" dirty="0"/>
        </a:p>
      </dsp:txBody>
      <dsp:txXfrm>
        <a:off x="3655814" y="620037"/>
        <a:ext cx="3203971" cy="4035150"/>
      </dsp:txXfrm>
    </dsp:sp>
    <dsp:sp modelId="{B6025370-1B14-41F8-961B-894179D61A1D}">
      <dsp:nvSpPr>
        <dsp:cNvPr id="0" name=""/>
        <dsp:cNvSpPr/>
      </dsp:nvSpPr>
      <dsp:spPr>
        <a:xfrm>
          <a:off x="7308342" y="15237"/>
          <a:ext cx="3203971" cy="6048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65024" rIns="113792" bIns="65024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YE 2027</a:t>
          </a:r>
        </a:p>
      </dsp:txBody>
      <dsp:txXfrm>
        <a:off x="7308342" y="15237"/>
        <a:ext cx="3203971" cy="604800"/>
      </dsp:txXfrm>
    </dsp:sp>
    <dsp:sp modelId="{49255472-93FD-48FA-89C5-22A420D42AD2}">
      <dsp:nvSpPr>
        <dsp:cNvPr id="0" name=""/>
        <dsp:cNvSpPr/>
      </dsp:nvSpPr>
      <dsp:spPr>
        <a:xfrm>
          <a:off x="7308342" y="620037"/>
          <a:ext cx="3203971" cy="4035150"/>
        </a:xfrm>
        <a:prstGeom prst="rect">
          <a:avLst/>
        </a:prstGeom>
        <a:solidFill>
          <a:schemeClr val="bg1">
            <a:alpha val="9000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008" tIns="64008" rIns="85344" bIns="96012" numCol="1" spcCol="1270" anchor="ctr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b="1" kern="1200" dirty="0"/>
            <a:t>White Label Portfolio</a:t>
          </a:r>
        </a:p>
        <a:p>
          <a:pPr marL="228600" lvl="2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Marketplace</a:t>
          </a:r>
        </a:p>
        <a:p>
          <a:pPr marL="228600" lvl="2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Flinky</a:t>
          </a:r>
          <a:br>
            <a:rPr lang="en-US" sz="1200" kern="1200" dirty="0"/>
          </a:br>
          <a:endParaRPr lang="en-US" sz="1200" kern="1200" dirty="0"/>
        </a:p>
        <a:p>
          <a:pPr marL="228600" lvl="2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Customization</a:t>
          </a:r>
        </a:p>
        <a:p>
          <a:pPr marL="228600" lvl="2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Implementation</a:t>
          </a:r>
        </a:p>
        <a:p>
          <a:pPr marL="228600" lvl="2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Support</a:t>
          </a:r>
        </a:p>
        <a:p>
          <a:pPr marL="228600" lvl="2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12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b="1" kern="1200" dirty="0"/>
            <a:t>Legal Entity Hand-Over</a:t>
          </a:r>
        </a:p>
      </dsp:txBody>
      <dsp:txXfrm>
        <a:off x="7308342" y="620037"/>
        <a:ext cx="3203971" cy="403515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#1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#2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04775" y="750888"/>
            <a:ext cx="6678613" cy="375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lIns="96606" tIns="48303" rIns="96606" bIns="48303"/>
          <a:lstStyle/>
          <a:p>
            <a:endParaRPr lang="en-AT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8817" y="4758889"/>
            <a:ext cx="5510530" cy="45084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591" tIns="96591" rIns="96591" bIns="96591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BA0AD-9A13-E807-5663-CD8D49BF19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8893D6-68BB-6FA8-7EBA-1E19018766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04775" y="750888"/>
            <a:ext cx="6678613" cy="3757612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9E1FA6-B011-756D-2E34-DD51BF2786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94405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64452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C5ADC0-20DA-A073-D84F-CD3BAA201F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651514-1E8E-AD48-210C-7904B61036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E66FEB-BDA1-8D63-1B15-D40C73F5D6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6672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52282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23862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03A23B4-0665-9E10-C744-B1BF5D8CBE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C5B71C32-D412-29A3-E159-5CE88C7EBA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0E9C3AE-B869-C5FB-A601-239D3D7331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742537" y="6365875"/>
            <a:ext cx="78500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rgbClr val="FFFFFF"/>
                </a:solidFill>
                <a:latin typeface="Jura" panose="020B0604020202020204" charset="0"/>
                <a:ea typeface="Jura" panose="020B0604020202020204" charset="0"/>
              </a:defRPr>
            </a:lvl1pPr>
          </a:lstStyle>
          <a:p>
            <a:r>
              <a:rPr lang="en-US" dirty="0"/>
              <a:t>DeployAI EU WA3 2026_2027 Strategy &amp; Roll-Out Planning  |  Luxembourg, September 10, 2026  |  Private &amp; Confidential</a:t>
            </a:r>
          </a:p>
        </p:txBody>
      </p:sp>
    </p:spTree>
    <p:extLst>
      <p:ext uri="{BB962C8B-B14F-4D97-AF65-F5344CB8AC3E}">
        <p14:creationId xmlns:p14="http://schemas.microsoft.com/office/powerpoint/2010/main" val="23908037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8582851-52C5-544F-B1A1-150049BE2B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D022EF3-2A71-0626-956F-F0DAA8A810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Fußzeilenplatzhalter 4">
            <a:extLst>
              <a:ext uri="{FF2B5EF4-FFF2-40B4-BE49-F238E27FC236}">
                <a16:creationId xmlns:a16="http://schemas.microsoft.com/office/drawing/2014/main" id="{71A2A0FC-6F07-2E96-6DD3-71CD3E42E8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742537" y="6365875"/>
            <a:ext cx="78500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rgbClr val="FFFFFF"/>
                </a:solidFill>
                <a:latin typeface="Jura" panose="020B0604020202020204" charset="0"/>
                <a:ea typeface="Jura" panose="020B0604020202020204" charset="0"/>
              </a:defRPr>
            </a:lvl1pPr>
          </a:lstStyle>
          <a:p>
            <a:r>
              <a:rPr lang="en-US" dirty="0"/>
              <a:t>DeployAI EU WA3 2026_2027 Strategy &amp; Roll-Out Planning  |  Luxembourg, September 10, 2026  |  Private &amp; Confidential</a:t>
            </a:r>
          </a:p>
        </p:txBody>
      </p:sp>
    </p:spTree>
    <p:extLst>
      <p:ext uri="{BB962C8B-B14F-4D97-AF65-F5344CB8AC3E}">
        <p14:creationId xmlns:p14="http://schemas.microsoft.com/office/powerpoint/2010/main" val="30954927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B04E09A-F048-974A-6295-D1846E04E6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54F6AC0-3036-2FC3-31E4-E8152A1242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Fußzeilenplatzhalter 4">
            <a:extLst>
              <a:ext uri="{FF2B5EF4-FFF2-40B4-BE49-F238E27FC236}">
                <a16:creationId xmlns:a16="http://schemas.microsoft.com/office/drawing/2014/main" id="{BCE33F10-641E-8BB0-76AD-7B795A82F5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742537" y="6365875"/>
            <a:ext cx="78500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rgbClr val="FFFFFF"/>
                </a:solidFill>
                <a:latin typeface="Jura" panose="020B0604020202020204" charset="0"/>
                <a:ea typeface="Jura" panose="020B0604020202020204" charset="0"/>
              </a:defRPr>
            </a:lvl1pPr>
          </a:lstStyle>
          <a:p>
            <a:r>
              <a:rPr lang="en-US" dirty="0"/>
              <a:t>DeployAI EU WA3 2026_2027 Strategy &amp; Roll-Out Planning  |  Luxembourg, September 10, 2026  |  Private &amp; Confidential</a:t>
            </a:r>
          </a:p>
        </p:txBody>
      </p:sp>
    </p:spTree>
    <p:extLst>
      <p:ext uri="{BB962C8B-B14F-4D97-AF65-F5344CB8AC3E}">
        <p14:creationId xmlns:p14="http://schemas.microsoft.com/office/powerpoint/2010/main" val="24839636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6455437-ED64-716B-01AD-28727C200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E3EC539-181D-BAE6-D05F-5CE0F7EA10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5B7822AB-E233-2C90-D009-55D3A3810D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9F493DE-CA47-A37D-45CB-ECC0263F88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742537" y="6365875"/>
            <a:ext cx="78500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rgbClr val="FFFFFF"/>
                </a:solidFill>
                <a:latin typeface="Jura" panose="020B0604020202020204" charset="0"/>
                <a:ea typeface="Jura" panose="020B0604020202020204" charset="0"/>
              </a:defRPr>
            </a:lvl1pPr>
          </a:lstStyle>
          <a:p>
            <a:r>
              <a:rPr lang="en-US" dirty="0"/>
              <a:t>DeployAI EU WA3 2026_2027 Strategy &amp; Roll-Out Planning  |  Luxembourg, September 10, 2026  |  Private &amp; Confidential</a:t>
            </a:r>
          </a:p>
        </p:txBody>
      </p:sp>
    </p:spTree>
    <p:extLst>
      <p:ext uri="{BB962C8B-B14F-4D97-AF65-F5344CB8AC3E}">
        <p14:creationId xmlns:p14="http://schemas.microsoft.com/office/powerpoint/2010/main" val="36271848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BAC1CA1-CCBE-2471-2AC9-9D407633D2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5E38946-A8F7-CA9B-58CB-8B2CE71DD7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F28AB52F-BF63-047E-F6BA-7CAA12B381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6612" y="254144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A676BFBC-79D9-3F76-B9F7-C7140CE1C2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8AE8DD92-86FF-891F-2612-DBDD78E8D0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7" name="Fußzeilenplatzhalter 4">
            <a:extLst>
              <a:ext uri="{FF2B5EF4-FFF2-40B4-BE49-F238E27FC236}">
                <a16:creationId xmlns:a16="http://schemas.microsoft.com/office/drawing/2014/main" id="{EDED56E4-4800-3CC8-2760-B32A43FF2E8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742537" y="6365875"/>
            <a:ext cx="78500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rgbClr val="FFFFFF"/>
                </a:solidFill>
                <a:latin typeface="Jura" panose="020B0604020202020204" charset="0"/>
                <a:ea typeface="Jura" panose="020B0604020202020204" charset="0"/>
              </a:defRPr>
            </a:lvl1pPr>
          </a:lstStyle>
          <a:p>
            <a:r>
              <a:rPr lang="en-US" dirty="0"/>
              <a:t>DeployAI EU WA3 2026_2027 Strategy &amp; Roll-Out Planning  |  Luxembourg, September 10, 2026  |  Private &amp; Confidential</a:t>
            </a:r>
          </a:p>
        </p:txBody>
      </p:sp>
    </p:spTree>
    <p:extLst>
      <p:ext uri="{BB962C8B-B14F-4D97-AF65-F5344CB8AC3E}">
        <p14:creationId xmlns:p14="http://schemas.microsoft.com/office/powerpoint/2010/main" val="10020546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FF2357A-660E-A786-AF11-50980F1D5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Fußzeilenplatzhalter 4">
            <a:extLst>
              <a:ext uri="{FF2B5EF4-FFF2-40B4-BE49-F238E27FC236}">
                <a16:creationId xmlns:a16="http://schemas.microsoft.com/office/drawing/2014/main" id="{D0A5E2B1-E491-41D7-6716-7E2EA97FCB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742537" y="6365875"/>
            <a:ext cx="78500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rgbClr val="FFFFFF"/>
                </a:solidFill>
                <a:latin typeface="Jura" panose="020B0604020202020204" charset="0"/>
                <a:ea typeface="Jura" panose="020B0604020202020204" charset="0"/>
              </a:defRPr>
            </a:lvl1pPr>
          </a:lstStyle>
          <a:p>
            <a:r>
              <a:rPr lang="en-US" dirty="0"/>
              <a:t>DeployAI EU WA3 2026_2027 Strategy &amp; Roll-Out Planning  |  Luxembourg, September 10, 2026  |  Private &amp; Confidential</a:t>
            </a:r>
          </a:p>
        </p:txBody>
      </p:sp>
    </p:spTree>
    <p:extLst>
      <p:ext uri="{BB962C8B-B14F-4D97-AF65-F5344CB8AC3E}">
        <p14:creationId xmlns:p14="http://schemas.microsoft.com/office/powerpoint/2010/main" val="10531602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ußzeilenplatzhalter 4">
            <a:extLst>
              <a:ext uri="{FF2B5EF4-FFF2-40B4-BE49-F238E27FC236}">
                <a16:creationId xmlns:a16="http://schemas.microsoft.com/office/drawing/2014/main" id="{3B723E97-D016-4829-2B44-29BD739452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742537" y="6365875"/>
            <a:ext cx="78500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rgbClr val="FFFFFF"/>
                </a:solidFill>
                <a:latin typeface="Jura" panose="020B0604020202020204" charset="0"/>
                <a:ea typeface="Jura" panose="020B0604020202020204" charset="0"/>
              </a:defRPr>
            </a:lvl1pPr>
          </a:lstStyle>
          <a:p>
            <a:r>
              <a:rPr lang="en-US" dirty="0"/>
              <a:t>DeployAI EU WA3 2026_2027 Strategy &amp; Roll-Out Planning  |  Luxembourg, September 10, 2026  |  Private &amp; Confidential</a:t>
            </a:r>
          </a:p>
        </p:txBody>
      </p:sp>
    </p:spTree>
    <p:extLst>
      <p:ext uri="{BB962C8B-B14F-4D97-AF65-F5344CB8AC3E}">
        <p14:creationId xmlns:p14="http://schemas.microsoft.com/office/powerpoint/2010/main" val="2409621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EBD182D-BF53-CECF-1E15-716598528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1BEC425-3AD4-43F9-F7FD-CB4B24651B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A63EF03E-2297-887B-CC7E-FAC5276DCC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C40DAB6-EF12-049E-B4E7-8AC6DD7F59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742537" y="6365875"/>
            <a:ext cx="78500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rgbClr val="FFFFFF"/>
                </a:solidFill>
                <a:latin typeface="Jura" panose="020B0604020202020204" charset="0"/>
                <a:ea typeface="Jura" panose="020B0604020202020204" charset="0"/>
              </a:defRPr>
            </a:lvl1pPr>
          </a:lstStyle>
          <a:p>
            <a:r>
              <a:rPr lang="en-US" dirty="0"/>
              <a:t>DeployAI EU WA3 2026_2027 Strategy &amp; Roll-Out Planning  |  Luxembourg, September 10, 2026  |  Private &amp; Confidential</a:t>
            </a:r>
          </a:p>
        </p:txBody>
      </p:sp>
    </p:spTree>
    <p:extLst>
      <p:ext uri="{BB962C8B-B14F-4D97-AF65-F5344CB8AC3E}">
        <p14:creationId xmlns:p14="http://schemas.microsoft.com/office/powerpoint/2010/main" val="42082992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4004336-B068-FCDA-EFAA-79C2B60B30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55EE0D19-776D-E68A-D3AE-E5153978E9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08600EDF-EC7D-967B-55B9-B10BCC044D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9379820-BB08-8C85-10AB-E8ABDF18C7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742537" y="6365875"/>
            <a:ext cx="78500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rgbClr val="FFFFFF"/>
                </a:solidFill>
                <a:latin typeface="Jura" panose="020B0604020202020204" charset="0"/>
                <a:ea typeface="Jura" panose="020B0604020202020204" charset="0"/>
              </a:defRPr>
            </a:lvl1pPr>
          </a:lstStyle>
          <a:p>
            <a:r>
              <a:rPr lang="en-US" dirty="0"/>
              <a:t>DeployAI EU WA3 2026_2027 Strategy &amp; Roll-Out Planning  |  Luxembourg, September 10, 2026  |  Private &amp; Confidential</a:t>
            </a:r>
          </a:p>
        </p:txBody>
      </p:sp>
    </p:spTree>
    <p:extLst>
      <p:ext uri="{BB962C8B-B14F-4D97-AF65-F5344CB8AC3E}">
        <p14:creationId xmlns:p14="http://schemas.microsoft.com/office/powerpoint/2010/main" val="35872903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D9AF32A-3527-276D-93A4-8DA9B99592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CEB38CFC-7910-5510-AD06-43B4B7A3E7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Fußzeilenplatzhalter 4">
            <a:extLst>
              <a:ext uri="{FF2B5EF4-FFF2-40B4-BE49-F238E27FC236}">
                <a16:creationId xmlns:a16="http://schemas.microsoft.com/office/drawing/2014/main" id="{ADF84A1F-7CC3-4936-D050-2F2A014A8B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742537" y="6365875"/>
            <a:ext cx="78500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rgbClr val="FFFFFF"/>
                </a:solidFill>
                <a:latin typeface="Jura" panose="020B0604020202020204" charset="0"/>
                <a:ea typeface="Jura" panose="020B0604020202020204" charset="0"/>
              </a:defRPr>
            </a:lvl1pPr>
          </a:lstStyle>
          <a:p>
            <a:r>
              <a:rPr lang="en-US" dirty="0"/>
              <a:t>DeployAI EU WA3 2026_2027 Strategy &amp; Roll-Out Planning  |  Luxembourg, September 10, 2026  |  Private &amp; Confidential</a:t>
            </a:r>
          </a:p>
        </p:txBody>
      </p:sp>
    </p:spTree>
    <p:extLst>
      <p:ext uri="{BB962C8B-B14F-4D97-AF65-F5344CB8AC3E}">
        <p14:creationId xmlns:p14="http://schemas.microsoft.com/office/powerpoint/2010/main" val="22585866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B29A35B3-8225-096E-E446-BEFC1597D4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046E9FF7-561B-626C-845D-A0AE24CE2D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Fußzeilenplatzhalter 4">
            <a:extLst>
              <a:ext uri="{FF2B5EF4-FFF2-40B4-BE49-F238E27FC236}">
                <a16:creationId xmlns:a16="http://schemas.microsoft.com/office/drawing/2014/main" id="{9D57D0E0-A16A-33EC-29A1-DF2157FC93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742537" y="6365875"/>
            <a:ext cx="78500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rgbClr val="FFFFFF"/>
                </a:solidFill>
                <a:latin typeface="Jura" panose="020B0604020202020204" charset="0"/>
                <a:ea typeface="Jura" panose="020B0604020202020204" charset="0"/>
              </a:defRPr>
            </a:lvl1pPr>
          </a:lstStyle>
          <a:p>
            <a:r>
              <a:rPr lang="en-US" dirty="0"/>
              <a:t>DeployAI EU WA3 2026_2027 Strategy &amp; Roll-Out Planning  |  Luxembourg, September 10, 2026  |  Private &amp; Confidential</a:t>
            </a:r>
          </a:p>
        </p:txBody>
      </p:sp>
    </p:spTree>
    <p:extLst>
      <p:ext uri="{BB962C8B-B14F-4D97-AF65-F5344CB8AC3E}">
        <p14:creationId xmlns:p14="http://schemas.microsoft.com/office/powerpoint/2010/main" val="18563987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6ca14bb4e9_0_591"/>
          <p:cNvSpPr txBox="1">
            <a:spLocks noGrp="1"/>
          </p:cNvSpPr>
          <p:nvPr>
            <p:ph type="title"/>
          </p:nvPr>
        </p:nvSpPr>
        <p:spPr>
          <a:xfrm>
            <a:off x="838200" y="500063"/>
            <a:ext cx="9602400" cy="8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7BB"/>
              </a:buClr>
              <a:buSzPts val="3600"/>
              <a:buFont typeface="Arial"/>
              <a:buNone/>
              <a:defRPr>
                <a:latin typeface="Jura" panose="020B0604020202020204" charset="0"/>
                <a:ea typeface="Jura" panose="020B0604020202020204" charset="0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6" name="Google Shape;166;g36ca14bb4e9_0_59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9602400" cy="3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>
                <a:latin typeface="Jura" panose="020B0604020202020204" charset="0"/>
                <a:ea typeface="Jura" panose="020B0604020202020204" charset="0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" name="Fußzeilenplatzhalter 4">
            <a:extLst>
              <a:ext uri="{FF2B5EF4-FFF2-40B4-BE49-F238E27FC236}">
                <a16:creationId xmlns:a16="http://schemas.microsoft.com/office/drawing/2014/main" id="{1488AA68-0CE2-8479-31A3-05A43FF313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742537" y="6365875"/>
            <a:ext cx="78500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rgbClr val="FFFFFF"/>
                </a:solidFill>
                <a:latin typeface="Jura" panose="020B0604020202020204" charset="0"/>
                <a:ea typeface="Jura" panose="020B0604020202020204" charset="0"/>
              </a:defRPr>
            </a:lvl1pPr>
          </a:lstStyle>
          <a:p>
            <a:r>
              <a:rPr lang="en-US" dirty="0"/>
              <a:t>DeployAI EU WA3 2026_2027 Strategy &amp; Roll-Out Planning  |  Luxembourg, September 10, 2026  |  Private &amp; Confidential</a:t>
            </a:r>
          </a:p>
        </p:txBody>
      </p:sp>
    </p:spTree>
    <p:extLst>
      <p:ext uri="{BB962C8B-B14F-4D97-AF65-F5344CB8AC3E}">
        <p14:creationId xmlns:p14="http://schemas.microsoft.com/office/powerpoint/2010/main" val="24180583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070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D6B4D1AA-F58C-9B9B-C7E6-382AF65C3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9338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89E946D-6F79-F5F2-95CA-02420CBEEC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506682"/>
            <a:ext cx="10515600" cy="46702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pic>
        <p:nvPicPr>
          <p:cNvPr id="8" name="Google Shape;17;g36ca14bb4e9_0_532" descr="The image depicts a simple, white circle with a radiant, sun-like pattern radiating outward from the center.&#10;&#10;KI-generierte Inhalte können fehlerhaft sein.">
            <a:extLst>
              <a:ext uri="{FF2B5EF4-FFF2-40B4-BE49-F238E27FC236}">
                <a16:creationId xmlns:a16="http://schemas.microsoft.com/office/drawing/2014/main" id="{2BF457DC-2102-C535-348B-AB0764E294B6}"/>
              </a:ext>
            </a:extLst>
          </p:cNvPr>
          <p:cNvPicPr preferRelativeResize="0"/>
          <p:nvPr userDrawn="1"/>
        </p:nvPicPr>
        <p:blipFill rotWithShape="1">
          <a:blip r:embed="rId14">
            <a:alphaModFix/>
          </a:blip>
          <a:srcRect/>
          <a:stretch/>
        </p:blipFill>
        <p:spPr>
          <a:xfrm>
            <a:off x="10942118" y="362111"/>
            <a:ext cx="833273" cy="89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rafik 9" descr="PARTNERS&#10;&#10;KI-generierte Inhalte können fehlerhaft sein.">
            <a:extLst>
              <a:ext uri="{FF2B5EF4-FFF2-40B4-BE49-F238E27FC236}">
                <a16:creationId xmlns:a16="http://schemas.microsoft.com/office/drawing/2014/main" id="{CF8A1A25-9182-D667-53B8-D0741A57DF6A}"/>
              </a:ext>
            </a:extLst>
          </p:cNvPr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840885" y="6403902"/>
            <a:ext cx="769707" cy="270020"/>
          </a:xfrm>
          <a:prstGeom prst="rect">
            <a:avLst/>
          </a:prstGeom>
        </p:spPr>
      </p:pic>
      <p:pic>
        <p:nvPicPr>
          <p:cNvPr id="12" name="Google Shape;19;g36ca14bb4e9_0_532" descr="The image depicts a blue flag with a yellow star, symbolizing the European Union's funding.&#10;&#10;KI-generierte Inhalte können fehlerhaft sein.">
            <a:extLst>
              <a:ext uri="{FF2B5EF4-FFF2-40B4-BE49-F238E27FC236}">
                <a16:creationId xmlns:a16="http://schemas.microsoft.com/office/drawing/2014/main" id="{5947ACA0-22D5-ECF6-E97A-36E9D50194D6}"/>
              </a:ext>
            </a:extLst>
          </p:cNvPr>
          <p:cNvPicPr preferRelativeResize="0"/>
          <p:nvPr userDrawn="1"/>
        </p:nvPicPr>
        <p:blipFill rotWithShape="1">
          <a:blip r:embed="rId16">
            <a:alphaModFix/>
          </a:blip>
          <a:srcRect/>
          <a:stretch/>
        </p:blipFill>
        <p:spPr>
          <a:xfrm>
            <a:off x="9691905" y="6357160"/>
            <a:ext cx="1713600" cy="370138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Fußzeilenplatzhalter 4">
            <a:extLst>
              <a:ext uri="{FF2B5EF4-FFF2-40B4-BE49-F238E27FC236}">
                <a16:creationId xmlns:a16="http://schemas.microsoft.com/office/drawing/2014/main" id="{2AE366EB-BB24-D39F-7060-CB3B86F922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742537" y="6365875"/>
            <a:ext cx="78500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rgbClr val="FFFFFF"/>
                </a:solidFill>
                <a:latin typeface="Jura" panose="020B0604020202020204" charset="0"/>
                <a:ea typeface="Jura" panose="020B0604020202020204" charset="0"/>
              </a:defRPr>
            </a:lvl1pPr>
          </a:lstStyle>
          <a:p>
            <a:r>
              <a:rPr lang="en-US" dirty="0"/>
              <a:t>DeployAI EU WA3 2026_2027 Strategy &amp; Roll-Out Planning  |  Luxembourg, September 10, 2026  |  Private &amp; Confidential</a:t>
            </a:r>
          </a:p>
        </p:txBody>
      </p:sp>
    </p:spTree>
    <p:extLst>
      <p:ext uri="{BB962C8B-B14F-4D97-AF65-F5344CB8AC3E}">
        <p14:creationId xmlns:p14="http://schemas.microsoft.com/office/powerpoint/2010/main" val="37884217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5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5000"/>
        </a:lnSpc>
        <a:spcBef>
          <a:spcPts val="600"/>
        </a:spcBef>
        <a:buFont typeface="Arial" panose="020B0604020202020204" pitchFamily="34" charset="0"/>
        <a:buChar char="•"/>
        <a:defRPr sz="1800" kern="1200">
          <a:solidFill>
            <a:srgbClr val="FFFFFF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5000"/>
        </a:lnSpc>
        <a:spcBef>
          <a:spcPts val="600"/>
        </a:spcBef>
        <a:buFont typeface="Arial" panose="020B0604020202020204" pitchFamily="34" charset="0"/>
        <a:buChar char="•"/>
        <a:defRPr sz="1600" kern="1200">
          <a:solidFill>
            <a:srgbClr val="FFFFFF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5000"/>
        </a:lnSpc>
        <a:spcBef>
          <a:spcPts val="600"/>
        </a:spcBef>
        <a:buFont typeface="Arial" panose="020B0604020202020204" pitchFamily="34" charset="0"/>
        <a:buChar char="•"/>
        <a:defRPr sz="1400" kern="1200">
          <a:solidFill>
            <a:srgbClr val="FFFFFF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5000"/>
        </a:lnSpc>
        <a:spcBef>
          <a:spcPts val="600"/>
        </a:spcBef>
        <a:buFont typeface="Arial" panose="020B0604020202020204" pitchFamily="34" charset="0"/>
        <a:buChar char="•"/>
        <a:defRPr sz="1200" kern="1200">
          <a:solidFill>
            <a:srgbClr val="FFFFFF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5000"/>
        </a:lnSpc>
        <a:spcBef>
          <a:spcPts val="600"/>
        </a:spcBef>
        <a:buFont typeface="Arial" panose="020B0604020202020204" pitchFamily="34" charset="0"/>
        <a:buChar char="•"/>
        <a:defRPr sz="1200" kern="1200">
          <a:solidFill>
            <a:srgbClr val="FFFFFF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13" Type="http://schemas.openxmlformats.org/officeDocument/2006/relationships/image" Target="../media/image14.svg"/><Relationship Id="rId3" Type="http://schemas.openxmlformats.org/officeDocument/2006/relationships/image" Target="../media/image4.jpeg"/><Relationship Id="rId7" Type="http://schemas.openxmlformats.org/officeDocument/2006/relationships/image" Target="../media/image8.jpeg"/><Relationship Id="rId12" Type="http://schemas.openxmlformats.org/officeDocument/2006/relationships/image" Target="../media/image13.sv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17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.jpe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5" Type="http://schemas.openxmlformats.org/officeDocument/2006/relationships/image" Target="../media/image16.svg"/><Relationship Id="rId10" Type="http://schemas.openxmlformats.org/officeDocument/2006/relationships/image" Target="../media/image11.png"/><Relationship Id="rId4" Type="http://schemas.openxmlformats.org/officeDocument/2006/relationships/image" Target="../media/image5.jpeg"/><Relationship Id="rId9" Type="http://schemas.openxmlformats.org/officeDocument/2006/relationships/image" Target="../media/image10.png"/><Relationship Id="rId14" Type="http://schemas.openxmlformats.org/officeDocument/2006/relationships/image" Target="../media/image15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7" Type="http://schemas.openxmlformats.org/officeDocument/2006/relationships/image" Target="../media/image17.png"/><Relationship Id="rId2" Type="http://schemas.openxmlformats.org/officeDocument/2006/relationships/image" Target="../media/image18.sv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2.svg"/><Relationship Id="rId5" Type="http://schemas.openxmlformats.org/officeDocument/2006/relationships/image" Target="../media/image21.svg"/><Relationship Id="rId4" Type="http://schemas.openxmlformats.org/officeDocument/2006/relationships/image" Target="../media/image20.sv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AA6C4E-3572-18C4-4B44-B7F04CFD3D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F298C3E-9A71-BD7B-399B-BAD8A211F4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580" y="1618920"/>
            <a:ext cx="10515600" cy="4167360"/>
          </a:xfrm>
        </p:spPr>
        <p:txBody>
          <a:bodyPr anchor="ctr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3200" dirty="0">
                <a:solidFill>
                  <a:schemeClr val="bg1"/>
                </a:solidFill>
                <a:ea typeface="Jura"/>
                <a:cs typeface="Jura"/>
                <a:sym typeface="Jura"/>
              </a:rPr>
              <a:t>Work Area 3</a:t>
            </a:r>
            <a:br>
              <a:rPr lang="en-US" sz="3200" dirty="0">
                <a:solidFill>
                  <a:schemeClr val="bg1"/>
                </a:solidFill>
                <a:ea typeface="Jura"/>
                <a:cs typeface="Jura"/>
                <a:sym typeface="Jura"/>
              </a:rPr>
            </a:br>
            <a:r>
              <a:rPr lang="en-US" sz="3200" dirty="0">
                <a:solidFill>
                  <a:schemeClr val="bg1"/>
                </a:solidFill>
                <a:ea typeface="Jura"/>
                <a:cs typeface="Jura"/>
                <a:sym typeface="Jura"/>
              </a:rPr>
              <a:t>Weekly Call September 14,2026</a:t>
            </a:r>
            <a:br>
              <a:rPr lang="en-US" sz="3200" dirty="0">
                <a:solidFill>
                  <a:schemeClr val="bg1"/>
                </a:solidFill>
                <a:ea typeface="Jura"/>
                <a:cs typeface="Jura"/>
                <a:sym typeface="Jura"/>
              </a:rPr>
            </a:br>
            <a:br>
              <a:rPr lang="en-US" sz="3200" dirty="0">
                <a:solidFill>
                  <a:schemeClr val="bg1"/>
                </a:solidFill>
                <a:ea typeface="Jura"/>
                <a:cs typeface="Jura"/>
                <a:sym typeface="Jura"/>
              </a:rPr>
            </a:br>
            <a:r>
              <a:rPr lang="en-US" sz="1800" dirty="0">
                <a:solidFill>
                  <a:schemeClr val="bg1"/>
                </a:solidFill>
                <a:ea typeface="Jura"/>
                <a:cs typeface="Jura"/>
                <a:sym typeface="Jura"/>
              </a:rPr>
              <a:t>Summary Report on Luxembourg Workshop:</a:t>
            </a:r>
            <a:br>
              <a:rPr lang="en-US" sz="1800" dirty="0">
                <a:solidFill>
                  <a:schemeClr val="bg1"/>
                </a:solidFill>
                <a:ea typeface="Jura"/>
                <a:cs typeface="Jura"/>
                <a:sym typeface="Jura"/>
              </a:rPr>
            </a:br>
            <a:r>
              <a:rPr lang="en-US" sz="1800" dirty="0">
                <a:solidFill>
                  <a:schemeClr val="bg1"/>
                </a:solidFill>
                <a:ea typeface="Jura"/>
                <a:cs typeface="Jura"/>
                <a:sym typeface="Jura"/>
              </a:rPr>
              <a:t>Strategy &amp; Roll-Out Planning 2026-2027</a:t>
            </a:r>
            <a:endParaRPr lang="en-US" sz="1800" noProof="0" dirty="0">
              <a:solidFill>
                <a:schemeClr val="bg1"/>
              </a:solidFill>
              <a:ea typeface="Jura" panose="020B0604020202020204" charset="0"/>
            </a:endParaRPr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949BE7AE-F835-5268-8F1D-DA0C2ECFF7B7}"/>
              </a:ext>
            </a:extLst>
          </p:cNvPr>
          <p:cNvSpPr txBox="1"/>
          <p:nvPr/>
        </p:nvSpPr>
        <p:spPr>
          <a:xfrm>
            <a:off x="4281836" y="670690"/>
            <a:ext cx="6638925" cy="2822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8900" indent="0" algn="r">
              <a:lnSpc>
                <a:spcPct val="125000"/>
              </a:lnSpc>
              <a:buNone/>
            </a:pPr>
            <a:r>
              <a:rPr lang="en-US" sz="1100" b="1" noProof="0" dirty="0">
                <a:solidFill>
                  <a:schemeClr val="bg1"/>
                </a:solidFill>
                <a:latin typeface="Jura" panose="020B0604020202020204" charset="0"/>
                <a:ea typeface="Jura" panose="020B0604020202020204" charset="0"/>
              </a:rPr>
              <a:t>Open. Sovereign. Scalable. Enterprise-ready.</a:t>
            </a:r>
          </a:p>
        </p:txBody>
      </p:sp>
      <p:sp>
        <p:nvSpPr>
          <p:cNvPr id="2" name="Fußzeilenplatzhalter 4">
            <a:extLst>
              <a:ext uri="{FF2B5EF4-FFF2-40B4-BE49-F238E27FC236}">
                <a16:creationId xmlns:a16="http://schemas.microsoft.com/office/drawing/2014/main" id="{FEA4F75D-7A90-31AC-7FC8-1EC65ED617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742537" y="6365875"/>
            <a:ext cx="78500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rgbClr val="FFFFFF"/>
                </a:solidFill>
                <a:latin typeface="Jura" panose="020B0604020202020204" charset="0"/>
                <a:ea typeface="Jura" panose="020B0604020202020204" charset="0"/>
              </a:defRPr>
            </a:lvl1pPr>
          </a:lstStyle>
          <a:p>
            <a:r>
              <a:rPr lang="en-US" dirty="0"/>
              <a:t>DeployAI  WA3 2026_2027 Strategy &amp; Roll-Out Planning  |  Luxembourg, September 10, 2026  |  Private &amp; Confidential</a:t>
            </a:r>
          </a:p>
        </p:txBody>
      </p:sp>
    </p:spTree>
    <p:extLst>
      <p:ext uri="{BB962C8B-B14F-4D97-AF65-F5344CB8AC3E}">
        <p14:creationId xmlns:p14="http://schemas.microsoft.com/office/powerpoint/2010/main" val="8427885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" name="Text Placeholder 2">
            <a:extLst>
              <a:ext uri="{FF2B5EF4-FFF2-40B4-BE49-F238E27FC236}">
                <a16:creationId xmlns:a16="http://schemas.microsoft.com/office/drawing/2014/main" id="{EFCAED25-6FC0-4730-52F2-98BB89D6DAB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6092473"/>
              </p:ext>
            </p:extLst>
          </p:nvPr>
        </p:nvGraphicFramePr>
        <p:xfrm>
          <a:off x="995904" y="1678801"/>
          <a:ext cx="10284134" cy="38115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Titel 5">
            <a:extLst>
              <a:ext uri="{FF2B5EF4-FFF2-40B4-BE49-F238E27FC236}">
                <a16:creationId xmlns:a16="http://schemas.microsoft.com/office/drawing/2014/main" id="{9B3BC018-F94D-11BB-4688-C69BADABB5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Agenda September 10, 2026</a:t>
            </a:r>
          </a:p>
        </p:txBody>
      </p:sp>
      <p:sp>
        <p:nvSpPr>
          <p:cNvPr id="11" name="TextBox 2">
            <a:extLst>
              <a:ext uri="{FF2B5EF4-FFF2-40B4-BE49-F238E27FC236}">
                <a16:creationId xmlns:a16="http://schemas.microsoft.com/office/drawing/2014/main" id="{D39D77AD-42E6-4C7D-3BBF-B1A6AB46455E}"/>
              </a:ext>
            </a:extLst>
          </p:cNvPr>
          <p:cNvSpPr txBox="1"/>
          <p:nvPr/>
        </p:nvSpPr>
        <p:spPr>
          <a:xfrm>
            <a:off x="4281836" y="670690"/>
            <a:ext cx="6638925" cy="2822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8900" indent="0" algn="r">
              <a:lnSpc>
                <a:spcPct val="125000"/>
              </a:lnSpc>
              <a:buNone/>
            </a:pPr>
            <a:r>
              <a:rPr lang="en-US" sz="1100" b="1" noProof="0" dirty="0">
                <a:solidFill>
                  <a:schemeClr val="bg1"/>
                </a:solidFill>
                <a:latin typeface="Jura" panose="020B0604020202020204" charset="0"/>
                <a:ea typeface="Jura" panose="020B0604020202020204" charset="0"/>
              </a:rPr>
              <a:t>Open. Sovereign. Scalable. Enterprise-ready.</a:t>
            </a:r>
          </a:p>
        </p:txBody>
      </p:sp>
      <p:sp>
        <p:nvSpPr>
          <p:cNvPr id="3" name="Fußzeilenplatzhalter 4">
            <a:extLst>
              <a:ext uri="{FF2B5EF4-FFF2-40B4-BE49-F238E27FC236}">
                <a16:creationId xmlns:a16="http://schemas.microsoft.com/office/drawing/2014/main" id="{6432BF15-9CC9-654E-F442-60E521F2F1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742537" y="6365875"/>
            <a:ext cx="78500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rgbClr val="FFFFFF"/>
                </a:solidFill>
                <a:latin typeface="Jura" panose="020B0604020202020204" charset="0"/>
                <a:ea typeface="Jura" panose="020B0604020202020204" charset="0"/>
              </a:defRPr>
            </a:lvl1pPr>
          </a:lstStyle>
          <a:p>
            <a:r>
              <a:rPr lang="en-US" dirty="0"/>
              <a:t>DeployAI  WA3 2026_2027 Strategy &amp; Roll-Out Planning  |  Luxembourg, September 10, 2026  |  Private &amp; Confidential</a:t>
            </a:r>
          </a:p>
        </p:txBody>
      </p:sp>
      <p:sp>
        <p:nvSpPr>
          <p:cNvPr id="2" name="Stern: 32 Zacken 1">
            <a:extLst>
              <a:ext uri="{FF2B5EF4-FFF2-40B4-BE49-F238E27FC236}">
                <a16:creationId xmlns:a16="http://schemas.microsoft.com/office/drawing/2014/main" id="{1B92E8F2-D6DB-6EC6-01D5-ADCB09C42592}"/>
              </a:ext>
            </a:extLst>
          </p:cNvPr>
          <p:cNvSpPr/>
          <p:nvPr/>
        </p:nvSpPr>
        <p:spPr>
          <a:xfrm rot="1304384">
            <a:off x="8395062" y="1463044"/>
            <a:ext cx="3483429" cy="1959428"/>
          </a:xfrm>
          <a:prstGeom prst="star32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Has been discussed in detail</a:t>
            </a:r>
          </a:p>
        </p:txBody>
      </p:sp>
      <p:sp>
        <p:nvSpPr>
          <p:cNvPr id="5" name="Stern: 32 Zacken 4">
            <a:extLst>
              <a:ext uri="{FF2B5EF4-FFF2-40B4-BE49-F238E27FC236}">
                <a16:creationId xmlns:a16="http://schemas.microsoft.com/office/drawing/2014/main" id="{DD862FCA-1D5B-6591-4BB0-1504352A3F4A}"/>
              </a:ext>
            </a:extLst>
          </p:cNvPr>
          <p:cNvSpPr/>
          <p:nvPr/>
        </p:nvSpPr>
        <p:spPr>
          <a:xfrm rot="1304384">
            <a:off x="8469572" y="3528936"/>
            <a:ext cx="3483429" cy="1959428"/>
          </a:xfrm>
          <a:prstGeom prst="star32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Has not been discussed in detail</a:t>
            </a:r>
            <a:br>
              <a:rPr lang="en-US" dirty="0"/>
            </a:br>
            <a:br>
              <a:rPr lang="en-US" dirty="0"/>
            </a:br>
            <a:r>
              <a:rPr lang="en-US" dirty="0"/>
              <a:t>Catch up will follow quickly in detail</a:t>
            </a:r>
          </a:p>
        </p:txBody>
      </p:sp>
    </p:spTree>
    <p:extLst>
      <p:ext uri="{BB962C8B-B14F-4D97-AF65-F5344CB8AC3E}">
        <p14:creationId xmlns:p14="http://schemas.microsoft.com/office/powerpoint/2010/main" val="1737253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4AD3797D-F38C-264F-AFBC-4DAB87AA0B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Strategy Discussion</a:t>
            </a:r>
          </a:p>
        </p:txBody>
      </p:sp>
      <p:sp>
        <p:nvSpPr>
          <p:cNvPr id="6" name="Fußzeilenplatzhalter 4">
            <a:extLst>
              <a:ext uri="{FF2B5EF4-FFF2-40B4-BE49-F238E27FC236}">
                <a16:creationId xmlns:a16="http://schemas.microsoft.com/office/drawing/2014/main" id="{B5C9233F-2AE0-9BA0-440C-475D8CA867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742537" y="6365875"/>
            <a:ext cx="78500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rgbClr val="FFFFFF"/>
                </a:solidFill>
                <a:latin typeface="Jura" panose="020B0604020202020204" charset="0"/>
                <a:ea typeface="Jura" panose="020B0604020202020204" charset="0"/>
              </a:defRPr>
            </a:lvl1pPr>
          </a:lstStyle>
          <a:p>
            <a:r>
              <a:rPr lang="en-US" dirty="0"/>
              <a:t>DeployAI  WA3 2026_2027 Strategy &amp; Roll-Out Planning  |  Luxembourg, September 10, 2026  |  Private &amp; Confidential</a:t>
            </a:r>
          </a:p>
        </p:txBody>
      </p:sp>
    </p:spTree>
    <p:extLst>
      <p:ext uri="{BB962C8B-B14F-4D97-AF65-F5344CB8AC3E}">
        <p14:creationId xmlns:p14="http://schemas.microsoft.com/office/powerpoint/2010/main" val="15657418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54E99EB-F4DD-18C1-6C0E-B7FF533B82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noProof="0" dirty="0"/>
              <a:t>European Estimated Target Market Size</a:t>
            </a:r>
            <a:br>
              <a:rPr lang="en-US" noProof="0" dirty="0"/>
            </a:br>
            <a:r>
              <a:rPr lang="en-US" sz="1600" noProof="0" dirty="0"/>
              <a:t>(Rough estimate – status July 2026)</a:t>
            </a:r>
            <a:endParaRPr lang="en-US" noProof="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7B7BFA3-B3CC-FD10-FB8C-36B2496A0A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6208"/>
            <a:ext cx="10515600" cy="498619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FFF00"/>
                </a:solidFill>
              </a:rPr>
              <a:t>By no of customers</a:t>
            </a:r>
            <a:r>
              <a:rPr lang="en-US" sz="1600" dirty="0">
                <a:solidFill>
                  <a:srgbClr val="FFFF00"/>
                </a:solidFill>
              </a:rPr>
              <a:t>*</a:t>
            </a:r>
            <a:endParaRPr lang="en-US" sz="1600" noProof="0" dirty="0">
              <a:solidFill>
                <a:srgbClr val="FFFF00"/>
              </a:solidFill>
            </a:endParaRPr>
          </a:p>
          <a:p>
            <a:r>
              <a:rPr lang="en-US" sz="1600" b="1" noProof="0" dirty="0">
                <a:solidFill>
                  <a:srgbClr val="FFC000"/>
                </a:solidFill>
              </a:rPr>
              <a:t>30,000 to 45,000 small to medium-sized IT companies</a:t>
            </a:r>
            <a:r>
              <a:rPr lang="en-US" sz="1600" b="1" dirty="0">
                <a:solidFill>
                  <a:srgbClr val="FFC000"/>
                </a:solidFill>
              </a:rPr>
              <a:t> that provide</a:t>
            </a:r>
          </a:p>
          <a:p>
            <a:pPr lvl="1"/>
            <a:r>
              <a:rPr lang="en-US" sz="1400" b="1" noProof="0" dirty="0">
                <a:solidFill>
                  <a:srgbClr val="FFC000"/>
                </a:solidFill>
              </a:rPr>
              <a:t>ERP and specialized software providers</a:t>
            </a:r>
          </a:p>
          <a:p>
            <a:pPr lvl="1"/>
            <a:r>
              <a:rPr lang="en-US" sz="1400" b="1" dirty="0">
                <a:solidFill>
                  <a:srgbClr val="FFC000"/>
                </a:solidFill>
              </a:rPr>
              <a:t>S</a:t>
            </a:r>
            <a:r>
              <a:rPr lang="en-US" sz="1400" b="1" noProof="0" dirty="0" err="1">
                <a:solidFill>
                  <a:srgbClr val="FFC000"/>
                </a:solidFill>
              </a:rPr>
              <a:t>ystem</a:t>
            </a:r>
            <a:r>
              <a:rPr lang="en-US" sz="1400" b="1" noProof="0" dirty="0">
                <a:solidFill>
                  <a:srgbClr val="FFC000"/>
                </a:solidFill>
              </a:rPr>
              <a:t> integrators</a:t>
            </a:r>
          </a:p>
          <a:p>
            <a:pPr lvl="1"/>
            <a:r>
              <a:rPr lang="en-US" sz="1400" b="1" dirty="0">
                <a:solidFill>
                  <a:srgbClr val="FFC000"/>
                </a:solidFill>
              </a:rPr>
              <a:t>M</a:t>
            </a:r>
            <a:r>
              <a:rPr lang="en-US" sz="1400" b="1" noProof="0" dirty="0" err="1">
                <a:solidFill>
                  <a:srgbClr val="FFC000"/>
                </a:solidFill>
              </a:rPr>
              <a:t>anaged</a:t>
            </a:r>
            <a:r>
              <a:rPr lang="en-US" sz="1400" b="1" noProof="0" dirty="0">
                <a:solidFill>
                  <a:srgbClr val="FFC000"/>
                </a:solidFill>
              </a:rPr>
              <a:t> service providers</a:t>
            </a:r>
          </a:p>
          <a:p>
            <a:pPr lvl="1"/>
            <a:r>
              <a:rPr lang="en-US" sz="1400" b="1" dirty="0">
                <a:solidFill>
                  <a:srgbClr val="FFC000"/>
                </a:solidFill>
              </a:rPr>
              <a:t>R</a:t>
            </a:r>
            <a:r>
              <a:rPr lang="en-US" sz="1400" b="1" noProof="0" dirty="0" err="1">
                <a:solidFill>
                  <a:srgbClr val="FFC000"/>
                </a:solidFill>
              </a:rPr>
              <a:t>egional</a:t>
            </a:r>
            <a:r>
              <a:rPr lang="en-US" sz="1400" b="1" noProof="0" dirty="0">
                <a:solidFill>
                  <a:srgbClr val="FFC000"/>
                </a:solidFill>
              </a:rPr>
              <a:t> cloud providers. </a:t>
            </a:r>
            <a:br>
              <a:rPr lang="en-US" sz="1400" b="1" noProof="0" dirty="0"/>
            </a:br>
            <a:endParaRPr lang="en-US" sz="1400" b="1" noProof="0" dirty="0"/>
          </a:p>
          <a:p>
            <a:pPr marL="0" indent="0">
              <a:buNone/>
            </a:pPr>
            <a:r>
              <a:rPr lang="en-US" sz="1600" b="1" noProof="0" dirty="0">
                <a:solidFill>
                  <a:srgbClr val="FFFF00"/>
                </a:solidFill>
              </a:rPr>
              <a:t>Market size by revenue</a:t>
            </a:r>
            <a:r>
              <a:rPr lang="en-US" sz="1600" noProof="0" dirty="0">
                <a:solidFill>
                  <a:srgbClr val="FFFF00"/>
                </a:solidFill>
              </a:rPr>
              <a:t>*</a:t>
            </a:r>
          </a:p>
          <a:p>
            <a:r>
              <a:rPr lang="en-US" sz="1600" noProof="0" dirty="0"/>
              <a:t>Addressing a core European market of approximately </a:t>
            </a:r>
            <a:r>
              <a:rPr lang="en-US" sz="1600" b="1" noProof="0" dirty="0">
                <a:solidFill>
                  <a:srgbClr val="FFC000"/>
                </a:solidFill>
              </a:rPr>
              <a:t>€180–250 billion </a:t>
            </a:r>
            <a:r>
              <a:rPr lang="en-US" sz="1600" noProof="0" dirty="0"/>
              <a:t>and lowers the barriers to entry for medium-sized </a:t>
            </a:r>
            <a:r>
              <a:rPr lang="en-US" sz="1600" noProof="0" dirty="0" err="1"/>
              <a:t>techn</a:t>
            </a:r>
            <a:r>
              <a:rPr lang="en-US" sz="1600" noProof="0"/>
              <a:t> ology </a:t>
            </a:r>
            <a:r>
              <a:rPr lang="en-US" sz="1600" noProof="0" dirty="0"/>
              <a:t>providers seeking to make productive use of generative AI.</a:t>
            </a:r>
          </a:p>
          <a:p>
            <a:endParaRPr lang="en-US" sz="1600" dirty="0"/>
          </a:p>
          <a:p>
            <a:pPr marL="0" indent="0">
              <a:buNone/>
            </a:pPr>
            <a:r>
              <a:rPr lang="en-US" sz="1600" b="1" noProof="0" dirty="0">
                <a:solidFill>
                  <a:srgbClr val="FFFF00"/>
                </a:solidFill>
              </a:rPr>
              <a:t>Industry Challenges</a:t>
            </a:r>
            <a:r>
              <a:rPr lang="en-US" sz="1600" noProof="0" dirty="0">
                <a:solidFill>
                  <a:srgbClr val="FFFF00"/>
                </a:solidFill>
              </a:rPr>
              <a:t>**</a:t>
            </a:r>
          </a:p>
          <a:p>
            <a:r>
              <a:rPr lang="en-US" sz="1600" noProof="0" dirty="0"/>
              <a:t>These companies have </a:t>
            </a:r>
            <a:r>
              <a:rPr lang="en-US" sz="1600" b="1" noProof="0" dirty="0">
                <a:solidFill>
                  <a:srgbClr val="FFC000"/>
                </a:solidFill>
              </a:rPr>
              <a:t>hundreds of products and thousands of customers </a:t>
            </a:r>
            <a:r>
              <a:rPr lang="en-US" sz="1600" noProof="0" dirty="0"/>
              <a:t>but are often unable to economically provide model evaluation, GPU operations, compliance, monitoring, and multi-provider integration on their own.</a:t>
            </a:r>
          </a:p>
          <a:p>
            <a:endParaRPr lang="en-US" sz="1600" noProof="0" dirty="0"/>
          </a:p>
          <a:p>
            <a:endParaRPr lang="en-US" sz="1600" noProof="0" dirty="0"/>
          </a:p>
          <a:p>
            <a:endParaRPr lang="en-US" sz="1600" noProof="0" dirty="0"/>
          </a:p>
        </p:txBody>
      </p:sp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1917EC29-6813-B083-CC16-B59FC3AF77AE}"/>
              </a:ext>
            </a:extLst>
          </p:cNvPr>
          <p:cNvCxnSpPr>
            <a:cxnSpLocks/>
          </p:cNvCxnSpPr>
          <p:nvPr/>
        </p:nvCxnSpPr>
        <p:spPr>
          <a:xfrm>
            <a:off x="893955" y="4047888"/>
            <a:ext cx="10515600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Gerader Verbinder 6">
            <a:extLst>
              <a:ext uri="{FF2B5EF4-FFF2-40B4-BE49-F238E27FC236}">
                <a16:creationId xmlns:a16="http://schemas.microsoft.com/office/drawing/2014/main" id="{24DCB5A6-CC29-296E-1797-DE6E856E84C2}"/>
              </a:ext>
            </a:extLst>
          </p:cNvPr>
          <p:cNvCxnSpPr>
            <a:cxnSpLocks/>
          </p:cNvCxnSpPr>
          <p:nvPr/>
        </p:nvCxnSpPr>
        <p:spPr>
          <a:xfrm>
            <a:off x="893955" y="5374885"/>
            <a:ext cx="10515600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A41A5DAB-FAF8-9ADF-413C-BBBAF844DDEE}"/>
              </a:ext>
            </a:extLst>
          </p:cNvPr>
          <p:cNvCxnSpPr>
            <a:cxnSpLocks/>
          </p:cNvCxnSpPr>
          <p:nvPr/>
        </p:nvCxnSpPr>
        <p:spPr>
          <a:xfrm>
            <a:off x="893955" y="1795348"/>
            <a:ext cx="10515600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feld 9">
            <a:extLst>
              <a:ext uri="{FF2B5EF4-FFF2-40B4-BE49-F238E27FC236}">
                <a16:creationId xmlns:a16="http://schemas.microsoft.com/office/drawing/2014/main" id="{E4391160-39FA-BF9E-D3FD-27FD332FB801}"/>
              </a:ext>
            </a:extLst>
          </p:cNvPr>
          <p:cNvSpPr txBox="1"/>
          <p:nvPr/>
        </p:nvSpPr>
        <p:spPr>
          <a:xfrm>
            <a:off x="8010585" y="1258512"/>
            <a:ext cx="36279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i="1" dirty="0">
                <a:solidFill>
                  <a:schemeClr val="bg1"/>
                </a:solidFill>
                <a:latin typeface="+mn-lt"/>
              </a:rPr>
              <a:t>Sources:</a:t>
            </a:r>
            <a:br>
              <a:rPr lang="en-US" sz="800" i="1" dirty="0">
                <a:solidFill>
                  <a:schemeClr val="bg1"/>
                </a:solidFill>
                <a:latin typeface="+mn-lt"/>
              </a:rPr>
            </a:br>
            <a:r>
              <a:rPr lang="en-US" sz="800" i="1" dirty="0">
                <a:solidFill>
                  <a:schemeClr val="bg1"/>
                </a:solidFill>
                <a:latin typeface="+mn-lt"/>
              </a:rPr>
              <a:t>*    </a:t>
            </a:r>
            <a:r>
              <a:rPr lang="en-US" sz="800" i="1" dirty="0" err="1">
                <a:solidFill>
                  <a:schemeClr val="bg1"/>
                </a:solidFill>
                <a:latin typeface="+mn-lt"/>
              </a:rPr>
              <a:t>Bitkom</a:t>
            </a:r>
            <a:r>
              <a:rPr lang="en-US" sz="800" i="1" dirty="0">
                <a:solidFill>
                  <a:schemeClr val="bg1"/>
                </a:solidFill>
                <a:latin typeface="+mn-lt"/>
              </a:rPr>
              <a:t>, Statista, IDC, European Commission, other internet sources</a:t>
            </a:r>
            <a:br>
              <a:rPr lang="en-US" sz="800" i="1" dirty="0">
                <a:solidFill>
                  <a:schemeClr val="bg1"/>
                </a:solidFill>
                <a:latin typeface="+mn-lt"/>
              </a:rPr>
            </a:br>
            <a:r>
              <a:rPr lang="en-US" sz="800" i="1" dirty="0">
                <a:solidFill>
                  <a:schemeClr val="bg1"/>
                </a:solidFill>
                <a:latin typeface="+mn-lt"/>
              </a:rPr>
              <a:t>**  aspect customer research</a:t>
            </a:r>
          </a:p>
        </p:txBody>
      </p:sp>
      <p:sp>
        <p:nvSpPr>
          <p:cNvPr id="4" name="Fußzeilenplatzhalter 4">
            <a:extLst>
              <a:ext uri="{FF2B5EF4-FFF2-40B4-BE49-F238E27FC236}">
                <a16:creationId xmlns:a16="http://schemas.microsoft.com/office/drawing/2014/main" id="{6CAF18FE-CC14-3EE8-2033-C1AE686129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742537" y="6365875"/>
            <a:ext cx="78500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rgbClr val="FFFFFF"/>
                </a:solidFill>
                <a:latin typeface="Jura" panose="020B0604020202020204" charset="0"/>
                <a:ea typeface="Jura" panose="020B0604020202020204" charset="0"/>
              </a:defRPr>
            </a:lvl1pPr>
          </a:lstStyle>
          <a:p>
            <a:r>
              <a:rPr lang="en-US" dirty="0"/>
              <a:t>DeployAI EU Review – Technical Part – September 15, 2026   |   © aspect partners GmbH &amp; Co KG | Private &amp; Confidential</a:t>
            </a:r>
          </a:p>
        </p:txBody>
      </p:sp>
    </p:spTree>
    <p:extLst>
      <p:ext uri="{BB962C8B-B14F-4D97-AF65-F5344CB8AC3E}">
        <p14:creationId xmlns:p14="http://schemas.microsoft.com/office/powerpoint/2010/main" val="12213050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DC8FE-433B-1BDE-63CA-EAFC622BE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noProof="0" dirty="0"/>
              <a:t>AIODP </a:t>
            </a:r>
            <a:r>
              <a:rPr lang="en-US" u="sng" noProof="0" dirty="0"/>
              <a:t>strategic target customer groups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B860F6-52C6-517E-BC0A-B754CD9088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88900" indent="0">
              <a:lnSpc>
                <a:spcPct val="135000"/>
              </a:lnSpc>
              <a:spcBef>
                <a:spcPts val="600"/>
              </a:spcBef>
              <a:buNone/>
            </a:pPr>
            <a:r>
              <a:rPr lang="en-US" sz="1700" b="1" noProof="0" dirty="0">
                <a:solidFill>
                  <a:schemeClr val="bg1"/>
                </a:solidFill>
              </a:rPr>
              <a:t>The AIODP/Foundation Model Hub strategy should focus on four target groups:</a:t>
            </a:r>
          </a:p>
          <a:p>
            <a:pPr marL="88900" indent="0">
              <a:lnSpc>
                <a:spcPct val="135000"/>
              </a:lnSpc>
              <a:spcBef>
                <a:spcPts val="600"/>
              </a:spcBef>
              <a:buNone/>
            </a:pPr>
            <a:endParaRPr lang="en-US" noProof="0" dirty="0"/>
          </a:p>
          <a:p>
            <a:pPr marL="0" indent="0">
              <a:lnSpc>
                <a:spcPct val="135000"/>
              </a:lnSpc>
              <a:spcBef>
                <a:spcPts val="600"/>
              </a:spcBef>
              <a:buNone/>
            </a:pPr>
            <a:r>
              <a:rPr lang="en-US" noProof="0" dirty="0"/>
              <a:t>🏛️  </a:t>
            </a:r>
            <a:r>
              <a:rPr lang="en-US" sz="1700" b="1" noProof="0" dirty="0">
                <a:solidFill>
                  <a:srgbClr val="FFED00"/>
                </a:solidFill>
              </a:rPr>
              <a:t>Government &amp; Public Sector and EU institutions</a:t>
            </a:r>
            <a:br>
              <a:rPr lang="en-US" noProof="0" dirty="0"/>
            </a:br>
            <a:r>
              <a:rPr lang="en-US" noProof="0" dirty="0"/>
              <a:t>	</a:t>
            </a:r>
            <a:r>
              <a:rPr lang="en-US" sz="1500" noProof="0" dirty="0">
                <a:solidFill>
                  <a:schemeClr val="bg1"/>
                </a:solidFill>
              </a:rPr>
              <a:t>– need for sovereign, AI Act-compliant platforms.</a:t>
            </a:r>
            <a:endParaRPr lang="en-US" noProof="0" dirty="0">
              <a:solidFill>
                <a:schemeClr val="bg1"/>
              </a:solidFill>
            </a:endParaRPr>
          </a:p>
          <a:p>
            <a:pPr marL="0" indent="0">
              <a:lnSpc>
                <a:spcPct val="135000"/>
              </a:lnSpc>
              <a:spcBef>
                <a:spcPts val="600"/>
              </a:spcBef>
              <a:buNone/>
            </a:pPr>
            <a:r>
              <a:rPr lang="en-US" noProof="0" dirty="0"/>
              <a:t>🏭  </a:t>
            </a:r>
            <a:r>
              <a:rPr lang="en-US" sz="1700" b="1" noProof="0" dirty="0">
                <a:solidFill>
                  <a:srgbClr val="FFED00"/>
                </a:solidFill>
              </a:rPr>
              <a:t>Industry &amp; Critical Infrastructure</a:t>
            </a:r>
            <a:br>
              <a:rPr lang="en-US" noProof="0" dirty="0"/>
            </a:br>
            <a:r>
              <a:rPr lang="en-US" noProof="0" dirty="0"/>
              <a:t>	</a:t>
            </a:r>
            <a:r>
              <a:rPr lang="en-US" sz="1500" noProof="0" dirty="0">
                <a:solidFill>
                  <a:schemeClr val="bg1"/>
                </a:solidFill>
              </a:rPr>
              <a:t>– focus on secure, production-ready AI services.</a:t>
            </a:r>
            <a:endParaRPr lang="en-US" noProof="0" dirty="0">
              <a:solidFill>
                <a:schemeClr val="bg1"/>
              </a:solidFill>
            </a:endParaRPr>
          </a:p>
          <a:p>
            <a:pPr marL="0" indent="0">
              <a:lnSpc>
                <a:spcPct val="135000"/>
              </a:lnSpc>
              <a:spcBef>
                <a:spcPts val="600"/>
              </a:spcBef>
              <a:buNone/>
            </a:pPr>
            <a:r>
              <a:rPr lang="en-US" noProof="0" dirty="0"/>
              <a:t>💻  </a:t>
            </a:r>
            <a:r>
              <a:rPr lang="en-US" sz="1700" b="1" noProof="0" dirty="0">
                <a:solidFill>
                  <a:srgbClr val="FFED00"/>
                </a:solidFill>
              </a:rPr>
              <a:t>Software Vendors &amp; System Integrators</a:t>
            </a:r>
            <a:br>
              <a:rPr lang="en-US" noProof="0" dirty="0"/>
            </a:br>
            <a:r>
              <a:rPr lang="en-US" noProof="0" dirty="0"/>
              <a:t>	</a:t>
            </a:r>
            <a:r>
              <a:rPr lang="en-US" sz="1500" noProof="0" dirty="0">
                <a:solidFill>
                  <a:schemeClr val="bg1"/>
                </a:solidFill>
              </a:rPr>
              <a:t>– multipliers who integrate the platform into their solutions.</a:t>
            </a:r>
            <a:endParaRPr lang="en-US" noProof="0" dirty="0">
              <a:solidFill>
                <a:schemeClr val="bg1"/>
              </a:solidFill>
            </a:endParaRPr>
          </a:p>
          <a:p>
            <a:pPr marL="0" indent="0">
              <a:lnSpc>
                <a:spcPct val="135000"/>
              </a:lnSpc>
              <a:spcBef>
                <a:spcPts val="600"/>
              </a:spcBef>
              <a:buNone/>
            </a:pPr>
            <a:r>
              <a:rPr lang="en-US" noProof="0" dirty="0">
                <a:solidFill>
                  <a:srgbClr val="FFED00"/>
                </a:solidFill>
              </a:rPr>
              <a:t>☁️  </a:t>
            </a:r>
            <a:r>
              <a:rPr lang="en-US" sz="1700" b="1" noProof="0" dirty="0">
                <a:solidFill>
                  <a:srgbClr val="FFED00"/>
                </a:solidFill>
              </a:rPr>
              <a:t>AI Factories &amp; Cloud Infrastructure</a:t>
            </a:r>
            <a:br>
              <a:rPr lang="en-US" noProof="0" dirty="0"/>
            </a:br>
            <a:r>
              <a:rPr lang="en-US" noProof="0" dirty="0"/>
              <a:t>	</a:t>
            </a:r>
            <a:r>
              <a:rPr lang="en-US" sz="1500" noProof="0" dirty="0">
                <a:solidFill>
                  <a:schemeClr val="bg1"/>
                </a:solidFill>
              </a:rPr>
              <a:t>- infrastructure partners that provide hosting, GPU, and inference services for the platform ecosystem.</a:t>
            </a:r>
            <a:br>
              <a:rPr lang="en-US" noProof="0" dirty="0"/>
            </a:br>
            <a:endParaRPr lang="en-US" noProof="0" dirty="0"/>
          </a:p>
          <a:p>
            <a:pPr marL="88900" indent="0">
              <a:lnSpc>
                <a:spcPct val="135000"/>
              </a:lnSpc>
              <a:spcBef>
                <a:spcPts val="600"/>
              </a:spcBef>
              <a:buNone/>
            </a:pPr>
            <a:r>
              <a:rPr lang="en-US" sz="1700" b="1" noProof="0" dirty="0">
                <a:solidFill>
                  <a:schemeClr val="bg1"/>
                </a:solidFill>
              </a:rPr>
              <a:t>This combination addresses both the direct demand for sovereign AI services and the development of a sustainable European ecosystem of partners and providers.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38E8F82-DA73-BD5D-90A2-1266307450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742537" y="6365875"/>
            <a:ext cx="78500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rgbClr val="FFFFFF"/>
                </a:solidFill>
                <a:latin typeface="Jura" panose="020B0604020202020204" charset="0"/>
                <a:ea typeface="Jura" panose="020B0604020202020204" charset="0"/>
              </a:defRPr>
            </a:lvl1pPr>
          </a:lstStyle>
          <a:p>
            <a:r>
              <a:rPr lang="en-US" dirty="0"/>
              <a:t>DeployAI  WA3 2026_2027 Strategy &amp; Roll-Out Planning  |  Luxembourg, September 10, 2026  |  Private &amp; Confidential</a:t>
            </a:r>
          </a:p>
        </p:txBody>
      </p:sp>
    </p:spTree>
    <p:extLst>
      <p:ext uri="{BB962C8B-B14F-4D97-AF65-F5344CB8AC3E}">
        <p14:creationId xmlns:p14="http://schemas.microsoft.com/office/powerpoint/2010/main" val="24830251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5D1A209A-5A7A-0790-CA2B-DEED1977C8B8}"/>
              </a:ext>
            </a:extLst>
          </p:cNvPr>
          <p:cNvSpPr/>
          <p:nvPr/>
        </p:nvSpPr>
        <p:spPr>
          <a:xfrm>
            <a:off x="992459" y="4882838"/>
            <a:ext cx="10515600" cy="105779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AF3FDA-FE04-B798-0713-6736929ECB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noProof="0" dirty="0"/>
              <a:t>AIODP’s window of opportunity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CA21EB-CDC8-1E17-B078-03848D5B0B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5049"/>
            <a:ext cx="10858500" cy="4670281"/>
          </a:xfrm>
        </p:spPr>
        <p:txBody>
          <a:bodyPr>
            <a:normAutofit/>
          </a:bodyPr>
          <a:lstStyle/>
          <a:p>
            <a:r>
              <a:rPr lang="en-US" sz="1600" b="1" dirty="0"/>
              <a:t>Approx </a:t>
            </a:r>
            <a:r>
              <a:rPr lang="en-US" sz="1600" b="1" noProof="0" dirty="0"/>
              <a:t>20+ AI platforms in Europe offer various types of AI services</a:t>
            </a:r>
            <a:br>
              <a:rPr lang="en-US" sz="1600" b="1" noProof="0" dirty="0"/>
            </a:br>
            <a:endParaRPr lang="en-US" sz="1600" b="1" noProof="0" dirty="0"/>
          </a:p>
          <a:p>
            <a:r>
              <a:rPr lang="en-US" sz="1600" noProof="0" dirty="0"/>
              <a:t>Despite this growing number of platforms, there is currently </a:t>
            </a:r>
            <a:r>
              <a:rPr lang="en-US" sz="1600" b="1" noProof="0" dirty="0"/>
              <a:t>no European platform that brings together all essential building blocks</a:t>
            </a:r>
            <a:r>
              <a:rPr lang="en-US" sz="1600" noProof="0" dirty="0"/>
              <a:t> to support industry in a single integrated ecosystem:</a:t>
            </a:r>
          </a:p>
          <a:p>
            <a:pPr lvl="1">
              <a:lnSpc>
                <a:spcPct val="125000"/>
              </a:lnSpc>
              <a:spcBef>
                <a:spcPts val="600"/>
              </a:spcBef>
              <a:buFont typeface="Jura" panose="020B0604020202020204" charset="0"/>
              <a:buChar char="→"/>
            </a:pPr>
            <a:r>
              <a:rPr lang="en-US" sz="1400" b="1" noProof="0" dirty="0">
                <a:solidFill>
                  <a:schemeClr val="bg1"/>
                </a:solidFill>
              </a:rPr>
              <a:t>a large, curated portfolio of open-source models,</a:t>
            </a:r>
          </a:p>
          <a:p>
            <a:pPr lvl="1">
              <a:lnSpc>
                <a:spcPct val="125000"/>
              </a:lnSpc>
              <a:spcBef>
                <a:spcPts val="600"/>
              </a:spcBef>
              <a:buFont typeface="Jura" panose="020B0604020202020204" charset="0"/>
              <a:buChar char="→"/>
            </a:pPr>
            <a:r>
              <a:rPr lang="en-US" sz="1400" b="1" noProof="0" dirty="0">
                <a:solidFill>
                  <a:schemeClr val="bg1"/>
                </a:solidFill>
              </a:rPr>
              <a:t>a Foundation Model Hub and OpenAI-compatible GenAI Gateway,</a:t>
            </a:r>
          </a:p>
          <a:p>
            <a:pPr lvl="1">
              <a:lnSpc>
                <a:spcPct val="125000"/>
              </a:lnSpc>
              <a:spcBef>
                <a:spcPts val="600"/>
              </a:spcBef>
              <a:buFont typeface="Jura" panose="020B0604020202020204" charset="0"/>
              <a:buChar char="→"/>
            </a:pPr>
            <a:r>
              <a:rPr lang="en-US" sz="1400" b="1" noProof="0" dirty="0">
                <a:solidFill>
                  <a:schemeClr val="bg1"/>
                </a:solidFill>
              </a:rPr>
              <a:t>federated GPU and inference services from European AI factories and industry partners,</a:t>
            </a:r>
          </a:p>
          <a:p>
            <a:pPr lvl="1">
              <a:lnSpc>
                <a:spcPct val="125000"/>
              </a:lnSpc>
              <a:spcBef>
                <a:spcPts val="600"/>
              </a:spcBef>
              <a:buFont typeface="Jura" panose="020B0604020202020204" charset="0"/>
              <a:buChar char="→"/>
            </a:pPr>
            <a:r>
              <a:rPr lang="en-US" sz="1400" b="1" noProof="0" dirty="0">
                <a:solidFill>
                  <a:schemeClr val="bg1"/>
                </a:solidFill>
              </a:rPr>
              <a:t>an AI Marketplace for applications and agents, compliance-by-design, low-code development,</a:t>
            </a:r>
          </a:p>
          <a:p>
            <a:pPr marL="457200" lvl="1" indent="0">
              <a:lnSpc>
                <a:spcPct val="125000"/>
              </a:lnSpc>
              <a:spcBef>
                <a:spcPts val="600"/>
              </a:spcBef>
              <a:buNone/>
            </a:pPr>
            <a:endParaRPr lang="en-US" sz="1400" noProof="0" dirty="0">
              <a:solidFill>
                <a:schemeClr val="bg1"/>
              </a:solidFill>
            </a:endParaRPr>
          </a:p>
          <a:p>
            <a:pPr marL="0" lvl="1" indent="0">
              <a:lnSpc>
                <a:spcPct val="125000"/>
              </a:lnSpc>
              <a:spcBef>
                <a:spcPts val="600"/>
              </a:spcBef>
              <a:buNone/>
            </a:pPr>
            <a:endParaRPr lang="en-US" noProof="0" dirty="0"/>
          </a:p>
          <a:p>
            <a:pPr marL="1884363" lvl="1" indent="0">
              <a:lnSpc>
                <a:spcPct val="125000"/>
              </a:lnSpc>
              <a:spcBef>
                <a:spcPts val="600"/>
              </a:spcBef>
              <a:buNone/>
            </a:pPr>
            <a:r>
              <a:rPr lang="en-US" b="1" noProof="0" dirty="0">
                <a:solidFill>
                  <a:srgbClr val="FFFF00"/>
                </a:solidFill>
              </a:rPr>
              <a:t>It is precisely this end-to-end integration that would serve as a</a:t>
            </a:r>
            <a:br>
              <a:rPr lang="en-US" b="1" noProof="0" dirty="0">
                <a:solidFill>
                  <a:srgbClr val="FFFF00"/>
                </a:solidFill>
              </a:rPr>
            </a:br>
            <a:r>
              <a:rPr lang="en-US" b="1" noProof="0" dirty="0">
                <a:solidFill>
                  <a:srgbClr val="FFFF00"/>
                </a:solidFill>
              </a:rPr>
              <a:t>strong unique selling proposition for the AIODP initiative in the European market.</a:t>
            </a:r>
          </a:p>
          <a:p>
            <a:pPr marL="0" lvl="1" indent="0">
              <a:lnSpc>
                <a:spcPct val="125000"/>
              </a:lnSpc>
              <a:spcBef>
                <a:spcPts val="600"/>
              </a:spcBef>
              <a:buNone/>
            </a:pPr>
            <a:endParaRPr lang="en-US" noProof="0" dirty="0"/>
          </a:p>
        </p:txBody>
      </p:sp>
      <p:sp>
        <p:nvSpPr>
          <p:cNvPr id="5" name="Pfeil: nach rechts 4">
            <a:extLst>
              <a:ext uri="{FF2B5EF4-FFF2-40B4-BE49-F238E27FC236}">
                <a16:creationId xmlns:a16="http://schemas.microsoft.com/office/drawing/2014/main" id="{938E3306-4FCE-56E5-0795-5A12640FB503}"/>
              </a:ext>
            </a:extLst>
          </p:cNvPr>
          <p:cNvSpPr/>
          <p:nvPr/>
        </p:nvSpPr>
        <p:spPr>
          <a:xfrm>
            <a:off x="1551442" y="5076922"/>
            <a:ext cx="871395" cy="635619"/>
          </a:xfrm>
          <a:prstGeom prst="rightArrow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ußzeilenplatzhalter 4">
            <a:extLst>
              <a:ext uri="{FF2B5EF4-FFF2-40B4-BE49-F238E27FC236}">
                <a16:creationId xmlns:a16="http://schemas.microsoft.com/office/drawing/2014/main" id="{236656DD-27C4-2561-8333-B2EB5F0651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742537" y="6365875"/>
            <a:ext cx="78500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rgbClr val="FFFFFF"/>
                </a:solidFill>
                <a:latin typeface="Jura" panose="020B0604020202020204" charset="0"/>
                <a:ea typeface="Jura" panose="020B0604020202020204" charset="0"/>
              </a:defRPr>
            </a:lvl1pPr>
          </a:lstStyle>
          <a:p>
            <a:r>
              <a:rPr lang="en-US" dirty="0"/>
              <a:t>DeployAI EU Review – Technical Part – September 15, 2026   |   © aspect partners GmbH &amp; Co KG | Private &amp; Confidential</a:t>
            </a:r>
          </a:p>
        </p:txBody>
      </p:sp>
    </p:spTree>
    <p:extLst>
      <p:ext uri="{BB962C8B-B14F-4D97-AF65-F5344CB8AC3E}">
        <p14:creationId xmlns:p14="http://schemas.microsoft.com/office/powerpoint/2010/main" val="4374986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Diagramm 4">
            <a:extLst>
              <a:ext uri="{FF2B5EF4-FFF2-40B4-BE49-F238E27FC236}">
                <a16:creationId xmlns:a16="http://schemas.microsoft.com/office/drawing/2014/main" id="{FD503ADE-B996-CC5B-B805-68B8F20C3B9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41697516"/>
              </p:ext>
            </p:extLst>
          </p:nvPr>
        </p:nvGraphicFramePr>
        <p:xfrm>
          <a:off x="838199" y="2707783"/>
          <a:ext cx="10881731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6B56E104-3FF6-7F8D-C1D2-F52A908076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AIODP Strategic Positioning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DED3180-DCA2-3B62-F1E5-C7480CF3BB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4338"/>
            <a:ext cx="10881732" cy="2128615"/>
          </a:xfrm>
          <a:solidFill>
            <a:schemeClr val="tx2">
              <a:lumMod val="75000"/>
              <a:lumOff val="25000"/>
            </a:schemeClr>
          </a:solidFill>
          <a:ln w="12700">
            <a:solidFill>
              <a:schemeClr val="tx1"/>
            </a:solidFill>
          </a:ln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de-DE" sz="1600" dirty="0"/>
              <a:t>AIODP </a:t>
            </a:r>
            <a:r>
              <a:rPr lang="de-DE" sz="1600" dirty="0" err="1"/>
              <a:t>is</a:t>
            </a:r>
            <a:r>
              <a:rPr lang="de-DE" sz="1600" dirty="0"/>
              <a:t> </a:t>
            </a:r>
            <a:r>
              <a:rPr lang="de-DE" sz="1600" dirty="0" err="1"/>
              <a:t>positioned</a:t>
            </a:r>
            <a:r>
              <a:rPr lang="de-DE" sz="1600" dirty="0"/>
              <a:t> as a </a:t>
            </a:r>
            <a:r>
              <a:rPr lang="de-DE" sz="1600" b="1" dirty="0" err="1"/>
              <a:t>strategic</a:t>
            </a:r>
            <a:r>
              <a:rPr lang="de-DE" sz="1600" b="1" dirty="0"/>
              <a:t> </a:t>
            </a:r>
            <a:r>
              <a:rPr lang="de-DE" sz="1600" b="1" dirty="0" err="1"/>
              <a:t>entry</a:t>
            </a:r>
            <a:r>
              <a:rPr lang="de-DE" sz="1600" b="1" dirty="0"/>
              <a:t> </a:t>
            </a:r>
            <a:r>
              <a:rPr lang="de-DE" sz="1600" b="1" dirty="0" err="1"/>
              <a:t>point</a:t>
            </a:r>
            <a:r>
              <a:rPr lang="de-DE" sz="1600" b="1" dirty="0"/>
              <a:t> </a:t>
            </a:r>
            <a:r>
              <a:rPr lang="de-DE" sz="1600" b="1" dirty="0" err="1"/>
              <a:t>for</a:t>
            </a:r>
            <a:r>
              <a:rPr lang="de-DE" sz="1600" b="1" dirty="0"/>
              <a:t> </a:t>
            </a:r>
            <a:r>
              <a:rPr lang="de-DE" sz="1600" b="1" dirty="0" err="1"/>
              <a:t>sovereign</a:t>
            </a:r>
            <a:r>
              <a:rPr lang="de-DE" sz="1600" b="1" dirty="0"/>
              <a:t> AI </a:t>
            </a:r>
            <a:r>
              <a:rPr lang="de-DE" sz="1600" b="1" dirty="0" err="1"/>
              <a:t>services</a:t>
            </a:r>
            <a:r>
              <a:rPr lang="de-DE" sz="1600" b="1" dirty="0"/>
              <a:t> in Europe</a:t>
            </a:r>
            <a:r>
              <a:rPr lang="de-DE" sz="1600" dirty="0"/>
              <a:t>:</a:t>
            </a:r>
          </a:p>
          <a:p>
            <a:pPr marL="1081088" indent="-366713"/>
            <a:r>
              <a:rPr lang="de-DE" sz="1600" dirty="0"/>
              <a:t>not </a:t>
            </a:r>
            <a:r>
              <a:rPr lang="de-DE" sz="1600" dirty="0" err="1"/>
              <a:t>merely</a:t>
            </a:r>
            <a:r>
              <a:rPr lang="de-DE" sz="1600" dirty="0"/>
              <a:t> as a </a:t>
            </a:r>
            <a:r>
              <a:rPr lang="de-DE" sz="1600" dirty="0" err="1"/>
              <a:t>catalog</a:t>
            </a:r>
            <a:r>
              <a:rPr lang="de-DE" sz="1600" dirty="0"/>
              <a:t> of </a:t>
            </a:r>
            <a:r>
              <a:rPr lang="de-DE" sz="1600" dirty="0" err="1"/>
              <a:t>models</a:t>
            </a:r>
            <a:r>
              <a:rPr lang="de-DE" sz="1600" dirty="0"/>
              <a:t>,</a:t>
            </a:r>
          </a:p>
          <a:p>
            <a:pPr marL="1081088" indent="-366713"/>
            <a:r>
              <a:rPr lang="de-DE" sz="1600" dirty="0"/>
              <a:t>not </a:t>
            </a:r>
            <a:r>
              <a:rPr lang="de-DE" sz="1600" dirty="0" err="1"/>
              <a:t>merely</a:t>
            </a:r>
            <a:r>
              <a:rPr lang="de-DE" sz="1600" dirty="0"/>
              <a:t> as an </a:t>
            </a:r>
            <a:r>
              <a:rPr lang="de-DE" sz="1600" dirty="0" err="1"/>
              <a:t>inference</a:t>
            </a:r>
            <a:r>
              <a:rPr lang="de-DE" sz="1600" dirty="0"/>
              <a:t> </a:t>
            </a:r>
            <a:r>
              <a:rPr lang="de-DE" sz="1600" dirty="0" err="1"/>
              <a:t>platform</a:t>
            </a:r>
            <a:endParaRPr lang="de-DE" sz="1600" dirty="0"/>
          </a:p>
          <a:p>
            <a:pPr marL="0" indent="0">
              <a:buNone/>
            </a:pPr>
            <a:r>
              <a:rPr lang="de-DE" sz="1600" b="1" dirty="0"/>
              <a:t>but as an open </a:t>
            </a:r>
            <a:r>
              <a:rPr lang="de-DE" sz="1600" b="1" dirty="0" err="1"/>
              <a:t>reference</a:t>
            </a:r>
            <a:r>
              <a:rPr lang="de-DE" sz="1600" b="1" dirty="0"/>
              <a:t> </a:t>
            </a:r>
            <a:r>
              <a:rPr lang="de-DE" sz="1600" b="1" dirty="0" err="1"/>
              <a:t>architecture</a:t>
            </a:r>
            <a:r>
              <a:rPr lang="de-DE" sz="1600" b="1" dirty="0"/>
              <a:t> </a:t>
            </a:r>
            <a:r>
              <a:rPr lang="de-DE" sz="1600" b="1" dirty="0" err="1"/>
              <a:t>for</a:t>
            </a:r>
            <a:r>
              <a:rPr lang="de-DE" sz="1600" b="1" dirty="0"/>
              <a:t> </a:t>
            </a:r>
            <a:r>
              <a:rPr lang="de-DE" sz="1600" b="1" dirty="0" err="1"/>
              <a:t>sovereign</a:t>
            </a:r>
            <a:r>
              <a:rPr lang="de-DE" sz="1600" b="1" dirty="0"/>
              <a:t> </a:t>
            </a:r>
            <a:r>
              <a:rPr lang="de-DE" sz="1600" b="1" dirty="0" err="1"/>
              <a:t>industrial</a:t>
            </a:r>
            <a:r>
              <a:rPr lang="de-DE" sz="1600" b="1" dirty="0"/>
              <a:t> AI </a:t>
            </a:r>
            <a:r>
              <a:rPr lang="de-DE" sz="1600" b="1" dirty="0" err="1"/>
              <a:t>services</a:t>
            </a:r>
            <a:r>
              <a:rPr lang="de-DE" sz="1600" b="1" dirty="0"/>
              <a:t>.</a:t>
            </a:r>
            <a:endParaRPr lang="en-US" sz="1600" b="1" dirty="0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603654EE-0239-59B4-7769-D50E519D2959}"/>
              </a:ext>
            </a:extLst>
          </p:cNvPr>
          <p:cNvSpPr txBox="1"/>
          <p:nvPr/>
        </p:nvSpPr>
        <p:spPr>
          <a:xfrm>
            <a:off x="760550" y="4334498"/>
            <a:ext cx="10670900" cy="3685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  <a:spcBef>
                <a:spcPts val="600"/>
              </a:spcBef>
            </a:pPr>
            <a:r>
              <a:rPr lang="de-DE" sz="1600" b="1" dirty="0">
                <a:solidFill>
                  <a:srgbClr val="FFFF00"/>
                </a:solidFill>
                <a:latin typeface="Jura" panose="020B0604020202020204" charset="0"/>
                <a:ea typeface="Jura" panose="020B0604020202020204" charset="0"/>
              </a:rPr>
              <a:t>The </a:t>
            </a:r>
            <a:r>
              <a:rPr lang="de-DE" sz="1600" b="1" dirty="0" err="1">
                <a:solidFill>
                  <a:srgbClr val="FFFF00"/>
                </a:solidFill>
                <a:latin typeface="Jura" panose="020B0604020202020204" charset="0"/>
                <a:ea typeface="Jura" panose="020B0604020202020204" charset="0"/>
              </a:rPr>
              <a:t>key</a:t>
            </a:r>
            <a:r>
              <a:rPr lang="de-DE" sz="1600" b="1" dirty="0">
                <a:solidFill>
                  <a:srgbClr val="FFFF00"/>
                </a:solidFill>
                <a:latin typeface="Jura" panose="020B0604020202020204" charset="0"/>
                <a:ea typeface="Jura" panose="020B0604020202020204" charset="0"/>
              </a:rPr>
              <a:t> </a:t>
            </a:r>
            <a:r>
              <a:rPr lang="de-DE" sz="1600" b="1" dirty="0" err="1">
                <a:solidFill>
                  <a:srgbClr val="FFFF00"/>
                </a:solidFill>
                <a:latin typeface="Jura" panose="020B0604020202020204" charset="0"/>
                <a:ea typeface="Jura" panose="020B0604020202020204" charset="0"/>
              </a:rPr>
              <a:t>differentiator</a:t>
            </a:r>
            <a:r>
              <a:rPr lang="de-DE" sz="1600" b="1" dirty="0">
                <a:solidFill>
                  <a:srgbClr val="FFFF00"/>
                </a:solidFill>
                <a:latin typeface="Jura" panose="020B0604020202020204" charset="0"/>
                <a:ea typeface="Jura" panose="020B0604020202020204" charset="0"/>
              </a:rPr>
              <a:t> and USP lies in the </a:t>
            </a:r>
            <a:r>
              <a:rPr lang="de-DE" sz="1600" b="1" dirty="0" err="1">
                <a:solidFill>
                  <a:srgbClr val="FFFF00"/>
                </a:solidFill>
                <a:latin typeface="Jura" panose="020B0604020202020204" charset="0"/>
                <a:ea typeface="Jura" panose="020B0604020202020204" charset="0"/>
              </a:rPr>
              <a:t>combination</a:t>
            </a:r>
            <a:r>
              <a:rPr lang="de-DE" sz="1600" b="1" dirty="0">
                <a:solidFill>
                  <a:srgbClr val="FFFF00"/>
                </a:solidFill>
                <a:latin typeface="Jura" panose="020B0604020202020204" charset="0"/>
                <a:ea typeface="Jura" panose="020B0604020202020204" charset="0"/>
              </a:rPr>
              <a:t> of:</a:t>
            </a:r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1C70D36A-A5CE-F961-F47E-54F70F92F7D9}"/>
              </a:ext>
            </a:extLst>
          </p:cNvPr>
          <p:cNvSpPr txBox="1"/>
          <p:nvPr/>
        </p:nvSpPr>
        <p:spPr>
          <a:xfrm>
            <a:off x="4281836" y="670690"/>
            <a:ext cx="6638925" cy="2822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8900" indent="0" algn="r">
              <a:lnSpc>
                <a:spcPct val="125000"/>
              </a:lnSpc>
              <a:buNone/>
            </a:pPr>
            <a:r>
              <a:rPr lang="en-US" sz="1100" b="1" noProof="0" dirty="0">
                <a:solidFill>
                  <a:schemeClr val="bg1"/>
                </a:solidFill>
                <a:latin typeface="Jura" panose="020B0604020202020204" charset="0"/>
                <a:ea typeface="Jura" panose="020B0604020202020204" charset="0"/>
              </a:rPr>
              <a:t>Open. Sovereign. Scalable. Enterprise-ready.</a:t>
            </a:r>
          </a:p>
        </p:txBody>
      </p:sp>
      <p:sp>
        <p:nvSpPr>
          <p:cNvPr id="8" name="Fußzeilenplatzhalter 4">
            <a:extLst>
              <a:ext uri="{FF2B5EF4-FFF2-40B4-BE49-F238E27FC236}">
                <a16:creationId xmlns:a16="http://schemas.microsoft.com/office/drawing/2014/main" id="{38F6DB5A-7204-7BF9-D27D-34E963D489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742537" y="6365875"/>
            <a:ext cx="78500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rgbClr val="FFFFFF"/>
                </a:solidFill>
                <a:latin typeface="Jura" panose="020B0604020202020204" charset="0"/>
                <a:ea typeface="Jura" panose="020B0604020202020204" charset="0"/>
              </a:defRPr>
            </a:lvl1pPr>
          </a:lstStyle>
          <a:p>
            <a:r>
              <a:rPr lang="en-US" dirty="0"/>
              <a:t>DeployAI EU Review – Technical Part – September 15, 2026   |   © aspect partners GmbH &amp; Co KG | Private &amp; Confidential</a:t>
            </a:r>
          </a:p>
        </p:txBody>
      </p:sp>
    </p:spTree>
    <p:extLst>
      <p:ext uri="{BB962C8B-B14F-4D97-AF65-F5344CB8AC3E}">
        <p14:creationId xmlns:p14="http://schemas.microsoft.com/office/powerpoint/2010/main" val="15171738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4D6E28-73CF-BB29-F5ED-8CCF86C568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Rectangle 145">
            <a:extLst>
              <a:ext uri="{FF2B5EF4-FFF2-40B4-BE49-F238E27FC236}">
                <a16:creationId xmlns:a16="http://schemas.microsoft.com/office/drawing/2014/main" id="{EB4C7967-5DB1-169B-F396-0332876ACFAF}"/>
              </a:ext>
            </a:extLst>
          </p:cNvPr>
          <p:cNvSpPr/>
          <p:nvPr/>
        </p:nvSpPr>
        <p:spPr>
          <a:xfrm>
            <a:off x="357963" y="1381430"/>
            <a:ext cx="11461897" cy="5414902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Bef>
                <a:spcPts val="600"/>
              </a:spcBef>
            </a:pPr>
            <a:endParaRPr lang="en-US" dirty="0"/>
          </a:p>
          <a:p>
            <a:pPr algn="ctr">
              <a:spcBef>
                <a:spcPts val="600"/>
              </a:spcBef>
            </a:pPr>
            <a:r>
              <a:rPr lang="en-US" sz="2000" b="1" dirty="0">
                <a:solidFill>
                  <a:srgbClr val="FFFF00"/>
                </a:solidFill>
                <a:latin typeface="Jura" panose="020B0604020202020204" charset="0"/>
                <a:ea typeface="Jura" panose="020B0604020202020204" charset="0"/>
              </a:rPr>
              <a:t>AI-On-Demand-Platform (VirtoCommerce Open Source)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FBEF8C-5B24-6CDA-75E8-FEDBB568EC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5950" y="293505"/>
            <a:ext cx="10515600" cy="893386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rgbClr val="FFED00"/>
                </a:solidFill>
                <a:latin typeface="Jura" panose="020B0604020202020204" charset="0"/>
                <a:ea typeface="Jura" panose="020B0604020202020204" charset="0"/>
              </a:rPr>
              <a:t>AIODP – High Level Solution Architecture</a:t>
            </a:r>
            <a:endParaRPr lang="en-US" sz="3200" dirty="0"/>
          </a:p>
        </p:txBody>
      </p:sp>
      <p:sp>
        <p:nvSpPr>
          <p:cNvPr id="102" name="Rectangle: Rounded Corners 101">
            <a:extLst>
              <a:ext uri="{FF2B5EF4-FFF2-40B4-BE49-F238E27FC236}">
                <a16:creationId xmlns:a16="http://schemas.microsoft.com/office/drawing/2014/main" id="{62408AF1-1F5A-A8A7-CC85-4AC4B6B47E04}"/>
              </a:ext>
            </a:extLst>
          </p:cNvPr>
          <p:cNvSpPr/>
          <p:nvPr/>
        </p:nvSpPr>
        <p:spPr>
          <a:xfrm>
            <a:off x="6093750" y="2208265"/>
            <a:ext cx="5597157" cy="4527806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Jura" panose="020B0604020202020204" charset="0"/>
                <a:ea typeface="Jura" panose="020B0604020202020204" charset="0"/>
              </a:rPr>
              <a:t>Open-Source Marketplace</a:t>
            </a:r>
          </a:p>
          <a:p>
            <a:pPr algn="ctr"/>
            <a:endParaRPr lang="en-US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1E91ABC-4A71-4A95-F249-BEB1BE621B5D}"/>
              </a:ext>
            </a:extLst>
          </p:cNvPr>
          <p:cNvSpPr/>
          <p:nvPr/>
        </p:nvSpPr>
        <p:spPr>
          <a:xfrm>
            <a:off x="6298709" y="3757939"/>
            <a:ext cx="5219050" cy="2838820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600" b="1" dirty="0">
              <a:solidFill>
                <a:schemeClr val="accent5">
                  <a:lumMod val="50000"/>
                </a:schemeClr>
              </a:solidFill>
              <a:latin typeface="Jura" panose="020B0604020202020204" charset="0"/>
              <a:ea typeface="Jura" panose="020B0604020202020204" charset="0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0B06753C-000A-5624-F38E-A272CFEE0A19}"/>
              </a:ext>
            </a:extLst>
          </p:cNvPr>
          <p:cNvGrpSpPr/>
          <p:nvPr/>
        </p:nvGrpSpPr>
        <p:grpSpPr>
          <a:xfrm>
            <a:off x="6409457" y="3964990"/>
            <a:ext cx="4968175" cy="2517867"/>
            <a:chOff x="7101534" y="250212"/>
            <a:chExt cx="4968175" cy="1736630"/>
          </a:xfrm>
        </p:grpSpPr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7E48787C-79F5-71A4-FFE4-C67B21C47D34}"/>
                </a:ext>
              </a:extLst>
            </p:cNvPr>
            <p:cNvSpPr/>
            <p:nvPr/>
          </p:nvSpPr>
          <p:spPr>
            <a:xfrm>
              <a:off x="7101534" y="250212"/>
              <a:ext cx="1228925" cy="1736630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sz="1100" b="1" dirty="0">
                  <a:solidFill>
                    <a:schemeClr val="tx1"/>
                  </a:solidFill>
                  <a:latin typeface="Jura" panose="020B0604020202020204" charset="0"/>
                  <a:ea typeface="Jura" panose="020B0604020202020204" charset="0"/>
                </a:rPr>
                <a:t>Business</a:t>
              </a:r>
              <a:br>
                <a:rPr lang="en-US" sz="1100" b="1" dirty="0">
                  <a:solidFill>
                    <a:schemeClr val="tx1"/>
                  </a:solidFill>
                  <a:latin typeface="Jura" panose="020B0604020202020204" charset="0"/>
                  <a:ea typeface="Jura" panose="020B0604020202020204" charset="0"/>
                </a:rPr>
              </a:br>
              <a:r>
                <a:rPr lang="en-US" sz="1100" b="1" dirty="0">
                  <a:solidFill>
                    <a:schemeClr val="tx1"/>
                  </a:solidFill>
                  <a:latin typeface="Jura" panose="020B0604020202020204" charset="0"/>
                  <a:ea typeface="Jura" panose="020B0604020202020204" charset="0"/>
                </a:rPr>
                <a:t>AI Applications</a:t>
              </a:r>
            </a:p>
          </p:txBody>
        </p:sp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5D3F2E7B-5A14-1BD6-44B2-0206BF494B9F}"/>
                </a:ext>
              </a:extLst>
            </p:cNvPr>
            <p:cNvSpPr/>
            <p:nvPr/>
          </p:nvSpPr>
          <p:spPr>
            <a:xfrm>
              <a:off x="8347951" y="250212"/>
              <a:ext cx="1228925" cy="1736630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sz="1100" b="1" dirty="0">
                  <a:solidFill>
                    <a:schemeClr val="tx1"/>
                  </a:solidFill>
                  <a:latin typeface="Jura" panose="020B0604020202020204" charset="0"/>
                  <a:ea typeface="Jura" panose="020B0604020202020204" charset="0"/>
                </a:rPr>
                <a:t>Industrial</a:t>
              </a:r>
              <a:br>
                <a:rPr lang="en-US" sz="1100" b="1" dirty="0">
                  <a:solidFill>
                    <a:schemeClr val="tx1"/>
                  </a:solidFill>
                  <a:latin typeface="Jura" panose="020B0604020202020204" charset="0"/>
                  <a:ea typeface="Jura" panose="020B0604020202020204" charset="0"/>
                </a:rPr>
              </a:br>
              <a:r>
                <a:rPr lang="en-US" sz="1100" b="1" dirty="0">
                  <a:solidFill>
                    <a:schemeClr val="tx1"/>
                  </a:solidFill>
                  <a:latin typeface="Jura" panose="020B0604020202020204" charset="0"/>
                  <a:ea typeface="Jura" panose="020B0604020202020204" charset="0"/>
                </a:rPr>
                <a:t>AI Applications</a:t>
              </a:r>
            </a:p>
          </p:txBody>
        </p:sp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6C361DC3-D877-EF20-4C08-7E924E7C209D}"/>
                </a:ext>
              </a:extLst>
            </p:cNvPr>
            <p:cNvSpPr/>
            <p:nvPr/>
          </p:nvSpPr>
          <p:spPr>
            <a:xfrm>
              <a:off x="9594368" y="250212"/>
              <a:ext cx="1228925" cy="1736630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sz="1100" b="1" dirty="0">
                  <a:solidFill>
                    <a:schemeClr val="tx1"/>
                  </a:solidFill>
                  <a:latin typeface="Jura" panose="020B0604020202020204" charset="0"/>
                  <a:ea typeface="Jura" panose="020B0604020202020204" charset="0"/>
                </a:rPr>
                <a:t>Vertical</a:t>
              </a:r>
              <a:br>
                <a:rPr lang="en-US" sz="1100" b="1" dirty="0">
                  <a:solidFill>
                    <a:schemeClr val="tx1"/>
                  </a:solidFill>
                  <a:latin typeface="Jura" panose="020B0604020202020204" charset="0"/>
                  <a:ea typeface="Jura" panose="020B0604020202020204" charset="0"/>
                </a:rPr>
              </a:br>
              <a:r>
                <a:rPr lang="en-US" sz="1100" b="1" dirty="0">
                  <a:solidFill>
                    <a:schemeClr val="tx1"/>
                  </a:solidFill>
                  <a:latin typeface="Jura" panose="020B0604020202020204" charset="0"/>
                  <a:ea typeface="Jura" panose="020B0604020202020204" charset="0"/>
                </a:rPr>
                <a:t>AI Applications</a:t>
              </a:r>
            </a:p>
          </p:txBody>
        </p:sp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3E02EF4E-962C-EC26-E3BF-3646630DD7EB}"/>
                </a:ext>
              </a:extLst>
            </p:cNvPr>
            <p:cNvSpPr/>
            <p:nvPr/>
          </p:nvSpPr>
          <p:spPr>
            <a:xfrm>
              <a:off x="10840784" y="250212"/>
              <a:ext cx="1228925" cy="1736630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sz="1100" b="1" dirty="0">
                  <a:solidFill>
                    <a:schemeClr val="tx1"/>
                  </a:solidFill>
                  <a:latin typeface="Jura" panose="020B0604020202020204" charset="0"/>
                  <a:ea typeface="Jura" panose="020B0604020202020204" charset="0"/>
                </a:rPr>
                <a:t>European</a:t>
              </a:r>
            </a:p>
            <a:p>
              <a:pPr algn="ctr"/>
              <a:r>
                <a:rPr lang="en-US" sz="1100" b="1" dirty="0">
                  <a:solidFill>
                    <a:schemeClr val="tx1"/>
                  </a:solidFill>
                  <a:latin typeface="Jura" panose="020B0604020202020204" charset="0"/>
                  <a:ea typeface="Jura" panose="020B0604020202020204" charset="0"/>
                </a:rPr>
                <a:t>AI Projects Ecosystem</a:t>
              </a:r>
            </a:p>
          </p:txBody>
        </p:sp>
      </p:grpSp>
      <p:pic>
        <p:nvPicPr>
          <p:cNvPr id="19" name="Picture 18" descr="Process Mapping Icon line vector illustration 35641952 Vector Art at ...">
            <a:extLst>
              <a:ext uri="{FF2B5EF4-FFF2-40B4-BE49-F238E27FC236}">
                <a16:creationId xmlns:a16="http://schemas.microsoft.com/office/drawing/2014/main" id="{ABD5938F-9BB6-282C-00A1-E8813821BD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4284" y="5058391"/>
            <a:ext cx="775679" cy="84351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21" name="Picture 20" descr="Manufacturing, Icon in Line Design. Manufacturing, Production, Factory ...">
            <a:extLst>
              <a:ext uri="{FF2B5EF4-FFF2-40B4-BE49-F238E27FC236}">
                <a16:creationId xmlns:a16="http://schemas.microsoft.com/office/drawing/2014/main" id="{97AC1310-F013-300E-4CC1-CB0E03ACA3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0219" y="5078454"/>
            <a:ext cx="766965" cy="83404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82" name="Picture 81">
            <a:extLst>
              <a:ext uri="{FF2B5EF4-FFF2-40B4-BE49-F238E27FC236}">
                <a16:creationId xmlns:a16="http://schemas.microsoft.com/office/drawing/2014/main" id="{E63D95AC-9E9A-9037-7A0A-382F14D361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12868" y="5214555"/>
            <a:ext cx="725159" cy="52539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83" name="Picture 82" descr="International Logistics Delivery Truck Symbol With - Logistics Icon PNG ...">
            <a:extLst>
              <a:ext uri="{FF2B5EF4-FFF2-40B4-BE49-F238E27FC236}">
                <a16:creationId xmlns:a16="http://schemas.microsoft.com/office/drawing/2014/main" id="{9F398130-1BCD-8CBB-3DD7-EF197D5D417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53651" y="5661564"/>
            <a:ext cx="334837" cy="37921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84" name="Picture 83" descr="Energy Smart Grid Icon for Sustainable Power Solutions Stock Vector ...">
            <a:extLst>
              <a:ext uri="{FF2B5EF4-FFF2-40B4-BE49-F238E27FC236}">
                <a16:creationId xmlns:a16="http://schemas.microsoft.com/office/drawing/2014/main" id="{4EB15674-DA37-6EF5-5F07-BDE59565EA4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39375" y="5088990"/>
            <a:ext cx="514009" cy="31367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85" name="Picture 84" descr="https://static.vecteezy.com/system/resources/previews/009/669/676/original/pharmaceutical-engineering-glyph-icons-set-drug-formulating-chemical-engineering-flask-molecule-capsules-pharmacology-biotechnology-silhouette-symbols-isolated-illustration-vector.jpg">
            <a:extLst>
              <a:ext uri="{FF2B5EF4-FFF2-40B4-BE49-F238E27FC236}">
                <a16:creationId xmlns:a16="http://schemas.microsoft.com/office/drawing/2014/main" id="{A0C107C9-CB0F-FD43-CB9A-CA893DB5E1B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71022" y="5670720"/>
            <a:ext cx="354103" cy="38507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87" name="Picture 86">
            <a:extLst>
              <a:ext uri="{FF2B5EF4-FFF2-40B4-BE49-F238E27FC236}">
                <a16:creationId xmlns:a16="http://schemas.microsoft.com/office/drawing/2014/main" id="{0F51733A-EF87-4BD2-D158-DF35CFB63BF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53340" y="5058830"/>
            <a:ext cx="354102" cy="38836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grpSp>
        <p:nvGrpSpPr>
          <p:cNvPr id="148" name="Group 147">
            <a:extLst>
              <a:ext uri="{FF2B5EF4-FFF2-40B4-BE49-F238E27FC236}">
                <a16:creationId xmlns:a16="http://schemas.microsoft.com/office/drawing/2014/main" id="{E04C5BF0-BFEF-B736-641E-DFEA60A70C6C}"/>
              </a:ext>
            </a:extLst>
          </p:cNvPr>
          <p:cNvGrpSpPr/>
          <p:nvPr/>
        </p:nvGrpSpPr>
        <p:grpSpPr>
          <a:xfrm>
            <a:off x="6299186" y="2985383"/>
            <a:ext cx="5218573" cy="714060"/>
            <a:chOff x="6299185" y="2645196"/>
            <a:chExt cx="5218573" cy="700909"/>
          </a:xfrm>
        </p:grpSpPr>
        <p:sp>
          <p:nvSpPr>
            <p:cNvPr id="89" name="Rectangle: Rounded Corners 88">
              <a:extLst>
                <a:ext uri="{FF2B5EF4-FFF2-40B4-BE49-F238E27FC236}">
                  <a16:creationId xmlns:a16="http://schemas.microsoft.com/office/drawing/2014/main" id="{4F3E4E6C-CBCF-9EF2-6610-50B5388C952A}"/>
                </a:ext>
              </a:extLst>
            </p:cNvPr>
            <p:cNvSpPr/>
            <p:nvPr/>
          </p:nvSpPr>
          <p:spPr>
            <a:xfrm>
              <a:off x="6299185" y="2645196"/>
              <a:ext cx="5218573" cy="700909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  <a:latin typeface="Jura" panose="020B0604020202020204" charset="0"/>
                  <a:ea typeface="Jura" panose="020B0604020202020204" charset="0"/>
                </a:rPr>
                <a:t>European AI Business Navigator</a:t>
              </a:r>
            </a:p>
          </p:txBody>
        </p:sp>
        <p:pic>
          <p:nvPicPr>
            <p:cNvPr id="92" name="Picture 91">
              <a:extLst>
                <a:ext uri="{FF2B5EF4-FFF2-40B4-BE49-F238E27FC236}">
                  <a16:creationId xmlns:a16="http://schemas.microsoft.com/office/drawing/2014/main" id="{F85184FB-52EE-13A6-9A94-4DB38B502C77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6385897" y="2806384"/>
              <a:ext cx="620924" cy="489802"/>
            </a:xfrm>
            <a:prstGeom prst="rect">
              <a:avLst/>
            </a:prstGeom>
            <a:ln>
              <a:noFill/>
            </a:ln>
            <a:effectLst>
              <a:softEdge rad="112500"/>
            </a:effectLst>
          </p:spPr>
        </p:pic>
        <p:pic>
          <p:nvPicPr>
            <p:cNvPr id="98" name="Picture 97">
              <a:extLst>
                <a:ext uri="{FF2B5EF4-FFF2-40B4-BE49-F238E27FC236}">
                  <a16:creationId xmlns:a16="http://schemas.microsoft.com/office/drawing/2014/main" id="{AD4D0BAB-59C5-D640-4507-1D58461EA70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0914975" y="2871325"/>
              <a:ext cx="446104" cy="323212"/>
            </a:xfrm>
            <a:prstGeom prst="rect">
              <a:avLst/>
            </a:prstGeom>
          </p:spPr>
        </p:pic>
        <p:sp>
          <p:nvSpPr>
            <p:cNvPr id="117" name="Rectangle 116">
              <a:extLst>
                <a:ext uri="{FF2B5EF4-FFF2-40B4-BE49-F238E27FC236}">
                  <a16:creationId xmlns:a16="http://schemas.microsoft.com/office/drawing/2014/main" id="{A482484A-CF1D-F914-246B-BA7FB9DC2EE0}"/>
                </a:ext>
              </a:extLst>
            </p:cNvPr>
            <p:cNvSpPr/>
            <p:nvPr/>
          </p:nvSpPr>
          <p:spPr>
            <a:xfrm>
              <a:off x="7190291" y="2870217"/>
              <a:ext cx="3404074" cy="287311"/>
            </a:xfrm>
            <a:prstGeom prst="rect">
              <a:avLst/>
            </a:prstGeom>
            <a:noFill/>
            <a:ln w="952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Explosion: 8 Points 2">
            <a:extLst>
              <a:ext uri="{FF2B5EF4-FFF2-40B4-BE49-F238E27FC236}">
                <a16:creationId xmlns:a16="http://schemas.microsoft.com/office/drawing/2014/main" id="{12D80DAF-A8EB-6459-C7DE-61FF328471C9}"/>
              </a:ext>
            </a:extLst>
          </p:cNvPr>
          <p:cNvSpPr/>
          <p:nvPr/>
        </p:nvSpPr>
        <p:spPr>
          <a:xfrm rot="1848957">
            <a:off x="9890753" y="1377416"/>
            <a:ext cx="1965787" cy="1541176"/>
          </a:xfrm>
          <a:prstGeom prst="irregularSeal1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FF00"/>
                </a:solidFill>
                <a:latin typeface="Jura" panose="020B0604020202020204" charset="0"/>
                <a:ea typeface="Jura" panose="020B0604020202020204" charset="0"/>
              </a:rPr>
              <a:t>Available</a:t>
            </a:r>
          </a:p>
        </p:txBody>
      </p:sp>
      <p:sp>
        <p:nvSpPr>
          <p:cNvPr id="7" name="Rectangle: Rounded Corners 67">
            <a:extLst>
              <a:ext uri="{FF2B5EF4-FFF2-40B4-BE49-F238E27FC236}">
                <a16:creationId xmlns:a16="http://schemas.microsoft.com/office/drawing/2014/main" id="{7BF45F8A-070E-5625-B762-A478146C1983}"/>
              </a:ext>
            </a:extLst>
          </p:cNvPr>
          <p:cNvSpPr/>
          <p:nvPr/>
        </p:nvSpPr>
        <p:spPr>
          <a:xfrm>
            <a:off x="571734" y="2208265"/>
            <a:ext cx="5446491" cy="4527806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lnSpc>
                <a:spcPct val="125000"/>
              </a:lnSpc>
              <a:spcBef>
                <a:spcPts val="600"/>
              </a:spcBef>
            </a:pPr>
            <a:endParaRPr lang="en-US" sz="2800" b="1" noProof="0" dirty="0">
              <a:solidFill>
                <a:srgbClr val="FFED00"/>
              </a:solidFill>
              <a:highlight>
                <a:srgbClr val="FFFF00"/>
              </a:highlight>
              <a:latin typeface="Jura" panose="020B0604020202020204" charset="0"/>
              <a:ea typeface="Jura" panose="020B0604020202020204" charset="0"/>
            </a:endParaRPr>
          </a:p>
        </p:txBody>
      </p:sp>
      <p:grpSp>
        <p:nvGrpSpPr>
          <p:cNvPr id="8" name="Gruppieren 7">
            <a:extLst>
              <a:ext uri="{FF2B5EF4-FFF2-40B4-BE49-F238E27FC236}">
                <a16:creationId xmlns:a16="http://schemas.microsoft.com/office/drawing/2014/main" id="{C6445071-B1A0-334B-7C4F-56621E9413FC}"/>
              </a:ext>
            </a:extLst>
          </p:cNvPr>
          <p:cNvGrpSpPr/>
          <p:nvPr/>
        </p:nvGrpSpPr>
        <p:grpSpPr>
          <a:xfrm>
            <a:off x="814753" y="4311532"/>
            <a:ext cx="4735192" cy="656874"/>
            <a:chOff x="1380714" y="3567608"/>
            <a:chExt cx="5330282" cy="685800"/>
          </a:xfrm>
          <a:solidFill>
            <a:schemeClr val="bg1">
              <a:lumMod val="85000"/>
            </a:schemeClr>
          </a:solidFill>
        </p:grpSpPr>
        <p:sp>
          <p:nvSpPr>
            <p:cNvPr id="77" name="Rectangle: Rounded Corners 5">
              <a:extLst>
                <a:ext uri="{FF2B5EF4-FFF2-40B4-BE49-F238E27FC236}">
                  <a16:creationId xmlns:a16="http://schemas.microsoft.com/office/drawing/2014/main" id="{75D67C64-FF32-2125-479B-46A1F0E21B46}"/>
                </a:ext>
              </a:extLst>
            </p:cNvPr>
            <p:cNvSpPr/>
            <p:nvPr/>
          </p:nvSpPr>
          <p:spPr>
            <a:xfrm>
              <a:off x="1380714" y="3567608"/>
              <a:ext cx="5330282" cy="685800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sz="1200" b="1" noProof="0" dirty="0">
                  <a:solidFill>
                    <a:schemeClr val="tx1">
                      <a:lumMod val="50000"/>
                    </a:schemeClr>
                  </a:solidFill>
                  <a:latin typeface="Jura" panose="020B0604020202020204" charset="0"/>
                  <a:ea typeface="Jura" panose="020B0604020202020204" charset="0"/>
                </a:rPr>
                <a:t>----------Open API Layer----------</a:t>
              </a:r>
              <a:endParaRPr lang="en-US" sz="1200" noProof="0" dirty="0">
                <a:solidFill>
                  <a:schemeClr val="tx1">
                    <a:lumMod val="50000"/>
                  </a:schemeClr>
                </a:solidFill>
                <a:latin typeface="Jura" panose="020B0604020202020204" charset="0"/>
                <a:ea typeface="Jura" panose="020B0604020202020204" charset="0"/>
              </a:endParaRPr>
            </a:p>
          </p:txBody>
        </p:sp>
        <p:sp>
          <p:nvSpPr>
            <p:cNvPr id="78" name="Rectangle 32">
              <a:extLst>
                <a:ext uri="{FF2B5EF4-FFF2-40B4-BE49-F238E27FC236}">
                  <a16:creationId xmlns:a16="http://schemas.microsoft.com/office/drawing/2014/main" id="{42048447-DB65-6F3D-7773-D2289CF7DFF9}"/>
                </a:ext>
              </a:extLst>
            </p:cNvPr>
            <p:cNvSpPr/>
            <p:nvPr/>
          </p:nvSpPr>
          <p:spPr>
            <a:xfrm>
              <a:off x="1998794" y="3890683"/>
              <a:ext cx="4502486" cy="294379"/>
            </a:xfrm>
            <a:prstGeom prst="rect">
              <a:avLst/>
            </a:prstGeom>
            <a:grpFill/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noProof="0" dirty="0">
                  <a:solidFill>
                    <a:schemeClr val="accent1">
                      <a:lumMod val="75000"/>
                    </a:schemeClr>
                  </a:solidFill>
                  <a:latin typeface="Jura" panose="020B0604020202020204" charset="0"/>
                  <a:ea typeface="Jura" panose="020B0604020202020204" charset="0"/>
                </a:rPr>
                <a:t>GenAI Gateway – Open </a:t>
              </a:r>
              <a:r>
                <a:rPr lang="en-US" sz="1200" b="1" dirty="0">
                  <a:solidFill>
                    <a:schemeClr val="accent1">
                      <a:lumMod val="75000"/>
                    </a:schemeClr>
                  </a:solidFill>
                  <a:latin typeface="Jura" panose="020B0604020202020204" charset="0"/>
                  <a:ea typeface="Jura" panose="020B0604020202020204" charset="0"/>
                </a:rPr>
                <a:t>AI </a:t>
              </a:r>
              <a:r>
                <a:rPr lang="en-US" sz="1200" b="1" noProof="0" dirty="0">
                  <a:solidFill>
                    <a:schemeClr val="accent1">
                      <a:lumMod val="75000"/>
                    </a:schemeClr>
                  </a:solidFill>
                  <a:latin typeface="Jura" panose="020B0604020202020204" charset="0"/>
                  <a:ea typeface="Jura" panose="020B0604020202020204" charset="0"/>
                </a:rPr>
                <a:t>Industry Bus</a:t>
              </a:r>
            </a:p>
          </p:txBody>
        </p:sp>
        <p:pic>
          <p:nvPicPr>
            <p:cNvPr id="79" name="Picture 41">
              <a:extLst>
                <a:ext uri="{FF2B5EF4-FFF2-40B4-BE49-F238E27FC236}">
                  <a16:creationId xmlns:a16="http://schemas.microsoft.com/office/drawing/2014/main" id="{51DAD771-598A-8FAD-AE75-D98F1E7FD970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1571954" y="3839107"/>
              <a:ext cx="280440" cy="280440"/>
            </a:xfrm>
            <a:prstGeom prst="rect">
              <a:avLst/>
            </a:prstGeom>
            <a:grpFill/>
            <a:ln>
              <a:noFill/>
            </a:ln>
          </p:spPr>
        </p:pic>
      </p:grpSp>
      <p:grpSp>
        <p:nvGrpSpPr>
          <p:cNvPr id="9" name="Gruppieren 8">
            <a:extLst>
              <a:ext uri="{FF2B5EF4-FFF2-40B4-BE49-F238E27FC236}">
                <a16:creationId xmlns:a16="http://schemas.microsoft.com/office/drawing/2014/main" id="{5A735E25-2380-9517-47E0-A9B3809E8CA6}"/>
              </a:ext>
            </a:extLst>
          </p:cNvPr>
          <p:cNvGrpSpPr/>
          <p:nvPr/>
        </p:nvGrpSpPr>
        <p:grpSpPr>
          <a:xfrm>
            <a:off x="814754" y="5785884"/>
            <a:ext cx="4735192" cy="756313"/>
            <a:chOff x="1380715" y="5106884"/>
            <a:chExt cx="5330282" cy="789617"/>
          </a:xfrm>
        </p:grpSpPr>
        <p:sp>
          <p:nvSpPr>
            <p:cNvPr id="62" name="Rectangle: Rounded Corners 38">
              <a:extLst>
                <a:ext uri="{FF2B5EF4-FFF2-40B4-BE49-F238E27FC236}">
                  <a16:creationId xmlns:a16="http://schemas.microsoft.com/office/drawing/2014/main" id="{7899B4D3-DBE1-1F89-42CF-10BB10F1E8ED}"/>
                </a:ext>
              </a:extLst>
            </p:cNvPr>
            <p:cNvSpPr/>
            <p:nvPr/>
          </p:nvSpPr>
          <p:spPr>
            <a:xfrm>
              <a:off x="1380715" y="5106884"/>
              <a:ext cx="5330282" cy="785972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sz="1200" b="1" noProof="0" dirty="0">
                  <a:solidFill>
                    <a:schemeClr val="tx1">
                      <a:lumMod val="50000"/>
                    </a:schemeClr>
                  </a:solidFill>
                  <a:latin typeface="Jura" panose="020B0604020202020204" charset="0"/>
                  <a:ea typeface="Jura" panose="020B0604020202020204" charset="0"/>
                </a:rPr>
                <a:t>----------Service Layer----------</a:t>
              </a:r>
              <a:endParaRPr lang="en-US" sz="1200" noProof="0" dirty="0">
                <a:solidFill>
                  <a:schemeClr val="tx1">
                    <a:lumMod val="50000"/>
                  </a:schemeClr>
                </a:solidFill>
                <a:latin typeface="Jura" panose="020B0604020202020204" charset="0"/>
                <a:ea typeface="Jura" panose="020B0604020202020204" charset="0"/>
              </a:endParaRPr>
            </a:p>
          </p:txBody>
        </p:sp>
        <p:cxnSp>
          <p:nvCxnSpPr>
            <p:cNvPr id="66" name="Straight Connector 73">
              <a:extLst>
                <a:ext uri="{FF2B5EF4-FFF2-40B4-BE49-F238E27FC236}">
                  <a16:creationId xmlns:a16="http://schemas.microsoft.com/office/drawing/2014/main" id="{2CF5C705-617E-0165-C450-30DC158ED61A}"/>
                </a:ext>
              </a:extLst>
            </p:cNvPr>
            <p:cNvCxnSpPr>
              <a:cxnSpLocks/>
            </p:cNvCxnSpPr>
            <p:nvPr/>
          </p:nvCxnSpPr>
          <p:spPr>
            <a:xfrm>
              <a:off x="4617032" y="5351141"/>
              <a:ext cx="0" cy="450156"/>
            </a:xfrm>
            <a:prstGeom prst="line">
              <a:avLst/>
            </a:prstGeom>
            <a:ln w="1905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76">
              <a:extLst>
                <a:ext uri="{FF2B5EF4-FFF2-40B4-BE49-F238E27FC236}">
                  <a16:creationId xmlns:a16="http://schemas.microsoft.com/office/drawing/2014/main" id="{5EFAE6F4-7EAA-580C-D186-D34C99D91F71}"/>
                </a:ext>
              </a:extLst>
            </p:cNvPr>
            <p:cNvCxnSpPr>
              <a:cxnSpLocks/>
            </p:cNvCxnSpPr>
            <p:nvPr/>
          </p:nvCxnSpPr>
          <p:spPr>
            <a:xfrm>
              <a:off x="3115081" y="5351141"/>
              <a:ext cx="0" cy="450156"/>
            </a:xfrm>
            <a:prstGeom prst="line">
              <a:avLst/>
            </a:prstGeom>
            <a:ln w="1905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2" name="TextBox 77">
              <a:extLst>
                <a:ext uri="{FF2B5EF4-FFF2-40B4-BE49-F238E27FC236}">
                  <a16:creationId xmlns:a16="http://schemas.microsoft.com/office/drawing/2014/main" id="{D070EF27-37F8-F8E0-7731-C7D0FF1BE0C4}"/>
                </a:ext>
              </a:extLst>
            </p:cNvPr>
            <p:cNvSpPr txBox="1"/>
            <p:nvPr/>
          </p:nvSpPr>
          <p:spPr>
            <a:xfrm>
              <a:off x="1849085" y="5636348"/>
              <a:ext cx="1037465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00" b="1" noProof="0" dirty="0">
                  <a:solidFill>
                    <a:schemeClr val="accent1">
                      <a:lumMod val="75000"/>
                    </a:schemeClr>
                  </a:solidFill>
                  <a:latin typeface="Jura" panose="020B0604020202020204" charset="0"/>
                  <a:ea typeface="Jura" panose="020B0604020202020204" charset="0"/>
                </a:rPr>
                <a:t>GPU-Hosting</a:t>
              </a:r>
            </a:p>
          </p:txBody>
        </p:sp>
        <p:sp>
          <p:nvSpPr>
            <p:cNvPr id="74" name="TextBox 78">
              <a:extLst>
                <a:ext uri="{FF2B5EF4-FFF2-40B4-BE49-F238E27FC236}">
                  <a16:creationId xmlns:a16="http://schemas.microsoft.com/office/drawing/2014/main" id="{0E6AC566-829E-96FF-5D75-0663D349677A}"/>
                </a:ext>
              </a:extLst>
            </p:cNvPr>
            <p:cNvSpPr txBox="1"/>
            <p:nvPr/>
          </p:nvSpPr>
          <p:spPr>
            <a:xfrm>
              <a:off x="5164644" y="5645488"/>
              <a:ext cx="56778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00" b="1" noProof="0" dirty="0">
                  <a:solidFill>
                    <a:schemeClr val="accent1">
                      <a:lumMod val="75000"/>
                    </a:schemeClr>
                  </a:solidFill>
                  <a:latin typeface="Jura" panose="020B0604020202020204" charset="0"/>
                  <a:ea typeface="Jura" panose="020B0604020202020204" charset="0"/>
                </a:rPr>
                <a:t>Cloud</a:t>
              </a:r>
            </a:p>
          </p:txBody>
        </p:sp>
        <p:sp>
          <p:nvSpPr>
            <p:cNvPr id="75" name="TextBox 79">
              <a:extLst>
                <a:ext uri="{FF2B5EF4-FFF2-40B4-BE49-F238E27FC236}">
                  <a16:creationId xmlns:a16="http://schemas.microsoft.com/office/drawing/2014/main" id="{4E699C5C-0CCB-2E55-8769-EF69EC8E9C15}"/>
                </a:ext>
              </a:extLst>
            </p:cNvPr>
            <p:cNvSpPr txBox="1"/>
            <p:nvPr/>
          </p:nvSpPr>
          <p:spPr>
            <a:xfrm>
              <a:off x="3481419" y="5650280"/>
              <a:ext cx="817853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00" b="1" noProof="0" dirty="0">
                  <a:solidFill>
                    <a:schemeClr val="accent1">
                      <a:lumMod val="75000"/>
                    </a:schemeClr>
                  </a:solidFill>
                  <a:latin typeface="Jura" panose="020B0604020202020204" charset="0"/>
                  <a:ea typeface="Jura" panose="020B0604020202020204" charset="0"/>
                </a:rPr>
                <a:t>Inference</a:t>
              </a:r>
            </a:p>
          </p:txBody>
        </p:sp>
        <p:pic>
          <p:nvPicPr>
            <p:cNvPr id="64" name="Graphic 21" descr="Cloud with solid fill">
              <a:extLst>
                <a:ext uri="{FF2B5EF4-FFF2-40B4-BE49-F238E27FC236}">
                  <a16:creationId xmlns:a16="http://schemas.microsoft.com/office/drawing/2014/main" id="{10B5DAD4-1B84-4301-EEDA-73523D6DAB0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5174945" y="5349043"/>
              <a:ext cx="557694" cy="370346"/>
            </a:xfrm>
            <a:prstGeom prst="rect">
              <a:avLst/>
            </a:prstGeom>
          </p:spPr>
        </p:pic>
        <p:pic>
          <p:nvPicPr>
            <p:cNvPr id="65" name="Graphic 27" descr="Processor with solid fill">
              <a:extLst>
                <a:ext uri="{FF2B5EF4-FFF2-40B4-BE49-F238E27FC236}">
                  <a16:creationId xmlns:a16="http://schemas.microsoft.com/office/drawing/2014/main" id="{DB7C09CF-E0C2-E701-3E57-9E3CC4374C5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2174051" y="5374974"/>
              <a:ext cx="375529" cy="249377"/>
            </a:xfrm>
            <a:prstGeom prst="rect">
              <a:avLst/>
            </a:prstGeom>
          </p:spPr>
        </p:pic>
        <p:pic>
          <p:nvPicPr>
            <p:cNvPr id="71" name="Graphic 17" descr="Binary with solid fill">
              <a:extLst>
                <a:ext uri="{FF2B5EF4-FFF2-40B4-BE49-F238E27FC236}">
                  <a16:creationId xmlns:a16="http://schemas.microsoft.com/office/drawing/2014/main" id="{A4AB00A3-D142-52E7-96E6-9BC2B508712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3658618" y="5397630"/>
              <a:ext cx="454070" cy="301533"/>
            </a:xfrm>
            <a:prstGeom prst="rect">
              <a:avLst/>
            </a:prstGeom>
          </p:spPr>
        </p:pic>
      </p:grpSp>
      <p:grpSp>
        <p:nvGrpSpPr>
          <p:cNvPr id="13" name="Gruppieren 12">
            <a:extLst>
              <a:ext uri="{FF2B5EF4-FFF2-40B4-BE49-F238E27FC236}">
                <a16:creationId xmlns:a16="http://schemas.microsoft.com/office/drawing/2014/main" id="{5E58779E-68A7-A46E-68D7-63A87D2EEC60}"/>
              </a:ext>
            </a:extLst>
          </p:cNvPr>
          <p:cNvGrpSpPr/>
          <p:nvPr/>
        </p:nvGrpSpPr>
        <p:grpSpPr>
          <a:xfrm>
            <a:off x="814754" y="5042702"/>
            <a:ext cx="4735192" cy="668883"/>
            <a:chOff x="814754" y="5042702"/>
            <a:chExt cx="4735192" cy="668883"/>
          </a:xfrm>
        </p:grpSpPr>
        <p:sp>
          <p:nvSpPr>
            <p:cNvPr id="34" name="Rectangle: Rounded Corners 82">
              <a:extLst>
                <a:ext uri="{FF2B5EF4-FFF2-40B4-BE49-F238E27FC236}">
                  <a16:creationId xmlns:a16="http://schemas.microsoft.com/office/drawing/2014/main" id="{DC655373-1370-CF02-A8C7-A4B16A976EE0}"/>
                </a:ext>
              </a:extLst>
            </p:cNvPr>
            <p:cNvSpPr/>
            <p:nvPr/>
          </p:nvSpPr>
          <p:spPr>
            <a:xfrm>
              <a:off x="814754" y="5042702"/>
              <a:ext cx="4735192" cy="656874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sz="1200" b="1" noProof="0" dirty="0">
                  <a:solidFill>
                    <a:schemeClr val="tx1">
                      <a:lumMod val="50000"/>
                    </a:schemeClr>
                  </a:solidFill>
                  <a:latin typeface="Jura" panose="020B0604020202020204" charset="0"/>
                  <a:ea typeface="Jura" panose="020B0604020202020204" charset="0"/>
                </a:rPr>
                <a:t>----------Tools Layer----------</a:t>
              </a:r>
            </a:p>
          </p:txBody>
        </p:sp>
        <p:cxnSp>
          <p:nvCxnSpPr>
            <p:cNvPr id="42" name="Straight Connector 86">
              <a:extLst>
                <a:ext uri="{FF2B5EF4-FFF2-40B4-BE49-F238E27FC236}">
                  <a16:creationId xmlns:a16="http://schemas.microsoft.com/office/drawing/2014/main" id="{88B91C0A-B9FF-4277-06D5-10B8716437E7}"/>
                </a:ext>
              </a:extLst>
            </p:cNvPr>
            <p:cNvCxnSpPr>
              <a:cxnSpLocks/>
            </p:cNvCxnSpPr>
            <p:nvPr/>
          </p:nvCxnSpPr>
          <p:spPr>
            <a:xfrm>
              <a:off x="3677952" y="5303168"/>
              <a:ext cx="0" cy="320744"/>
            </a:xfrm>
            <a:prstGeom prst="line">
              <a:avLst/>
            </a:prstGeom>
            <a:ln w="19050">
              <a:solidFill>
                <a:schemeClr val="tx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95">
              <a:extLst>
                <a:ext uri="{FF2B5EF4-FFF2-40B4-BE49-F238E27FC236}">
                  <a16:creationId xmlns:a16="http://schemas.microsoft.com/office/drawing/2014/main" id="{C49ACA6D-9C99-B081-B1F4-B4349DEDF73B}"/>
                </a:ext>
              </a:extLst>
            </p:cNvPr>
            <p:cNvCxnSpPr>
              <a:cxnSpLocks/>
            </p:cNvCxnSpPr>
            <p:nvPr/>
          </p:nvCxnSpPr>
          <p:spPr>
            <a:xfrm>
              <a:off x="2355491" y="5303168"/>
              <a:ext cx="0" cy="320744"/>
            </a:xfrm>
            <a:prstGeom prst="line">
              <a:avLst/>
            </a:prstGeom>
            <a:ln w="19050">
              <a:solidFill>
                <a:schemeClr val="tx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Freihandform: Form 48">
              <a:extLst>
                <a:ext uri="{FF2B5EF4-FFF2-40B4-BE49-F238E27FC236}">
                  <a16:creationId xmlns:a16="http://schemas.microsoft.com/office/drawing/2014/main" id="{CA3A508B-5273-A964-EB81-7F9507E314E2}"/>
                </a:ext>
              </a:extLst>
            </p:cNvPr>
            <p:cNvSpPr/>
            <p:nvPr/>
          </p:nvSpPr>
          <p:spPr>
            <a:xfrm>
              <a:off x="4503163" y="5275953"/>
              <a:ext cx="221808" cy="192346"/>
            </a:xfrm>
            <a:custGeom>
              <a:avLst/>
              <a:gdLst>
                <a:gd name="csX0" fmla="*/ 236975 w 249684"/>
                <a:gd name="csY0" fmla="*/ 36796 h 200816"/>
                <a:gd name="csX1" fmla="*/ 135274 w 249684"/>
                <a:gd name="csY1" fmla="*/ 3223 h 200816"/>
                <a:gd name="csX2" fmla="*/ 115841 w 249684"/>
                <a:gd name="csY2" fmla="*/ 2258 h 200816"/>
                <a:gd name="csX3" fmla="*/ 114410 w 249684"/>
                <a:gd name="csY3" fmla="*/ 3223 h 200816"/>
                <a:gd name="csX4" fmla="*/ 12709 w 249684"/>
                <a:gd name="csY4" fmla="*/ 36796 h 200816"/>
                <a:gd name="csX5" fmla="*/ 0 w 249684"/>
                <a:gd name="csY5" fmla="*/ 46282 h 200816"/>
                <a:gd name="csX6" fmla="*/ 0 w 249684"/>
                <a:gd name="csY6" fmla="*/ 70215 h 200816"/>
                <a:gd name="csX7" fmla="*/ 117163 w 249684"/>
                <a:gd name="csY7" fmla="*/ 199295 h 200816"/>
                <a:gd name="csX8" fmla="*/ 132521 w 249684"/>
                <a:gd name="csY8" fmla="*/ 199295 h 200816"/>
                <a:gd name="csX9" fmla="*/ 249684 w 249684"/>
                <a:gd name="csY9" fmla="*/ 70215 h 200816"/>
                <a:gd name="csX10" fmla="*/ 249684 w 249684"/>
                <a:gd name="csY10" fmla="*/ 46282 h 200816"/>
                <a:gd name="csX11" fmla="*/ 236975 w 249684"/>
                <a:gd name="csY11" fmla="*/ 36796 h 200816"/>
                <a:gd name="csX12" fmla="*/ 225795 w 249684"/>
                <a:gd name="csY12" fmla="*/ 70215 h 200816"/>
                <a:gd name="csX13" fmla="*/ 127983 w 249684"/>
                <a:gd name="csY13" fmla="*/ 181975 h 200816"/>
                <a:gd name="csX14" fmla="*/ 124844 w 249684"/>
                <a:gd name="csY14" fmla="*/ 183440 h 200816"/>
                <a:gd name="csX15" fmla="*/ 121709 w 249684"/>
                <a:gd name="csY15" fmla="*/ 181975 h 200816"/>
                <a:gd name="csX16" fmla="*/ 23886 w 249684"/>
                <a:gd name="csY16" fmla="*/ 70215 h 200816"/>
                <a:gd name="csX17" fmla="*/ 23886 w 249684"/>
                <a:gd name="csY17" fmla="*/ 52238 h 200816"/>
                <a:gd name="csX18" fmla="*/ 28531 w 249684"/>
                <a:gd name="csY18" fmla="*/ 51742 h 200816"/>
                <a:gd name="csX19" fmla="*/ 121106 w 249684"/>
                <a:gd name="csY19" fmla="*/ 21494 h 200816"/>
                <a:gd name="csX20" fmla="*/ 124840 w 249684"/>
                <a:gd name="csY20" fmla="*/ 19173 h 200816"/>
                <a:gd name="csX21" fmla="*/ 128578 w 249684"/>
                <a:gd name="csY21" fmla="*/ 21494 h 200816"/>
                <a:gd name="csX22" fmla="*/ 221149 w 249684"/>
                <a:gd name="csY22" fmla="*/ 51742 h 200816"/>
                <a:gd name="csX23" fmla="*/ 225795 w 249684"/>
                <a:gd name="csY23" fmla="*/ 52238 h 20081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</a:cxnLst>
              <a:rect l="l" t="t" r="r" b="b"/>
              <a:pathLst>
                <a:path w="249684" h="200816">
                  <a:moveTo>
                    <a:pt x="236975" y="36796"/>
                  </a:moveTo>
                  <a:cubicBezTo>
                    <a:pt x="197994" y="34701"/>
                    <a:pt x="161645" y="22702"/>
                    <a:pt x="135274" y="3223"/>
                  </a:cubicBezTo>
                  <a:cubicBezTo>
                    <a:pt x="130303" y="-664"/>
                    <a:pt x="121603" y="-1096"/>
                    <a:pt x="115841" y="2258"/>
                  </a:cubicBezTo>
                  <a:cubicBezTo>
                    <a:pt x="115330" y="2555"/>
                    <a:pt x="114851" y="2878"/>
                    <a:pt x="114410" y="3223"/>
                  </a:cubicBezTo>
                  <a:cubicBezTo>
                    <a:pt x="88039" y="22702"/>
                    <a:pt x="51690" y="34701"/>
                    <a:pt x="12709" y="36796"/>
                  </a:cubicBezTo>
                  <a:cubicBezTo>
                    <a:pt x="5466" y="37254"/>
                    <a:pt x="-54" y="41374"/>
                    <a:pt x="0" y="46282"/>
                  </a:cubicBezTo>
                  <a:lnTo>
                    <a:pt x="0" y="70215"/>
                  </a:lnTo>
                  <a:cubicBezTo>
                    <a:pt x="0" y="122247"/>
                    <a:pt x="49054" y="169843"/>
                    <a:pt x="117163" y="199295"/>
                  </a:cubicBezTo>
                  <a:cubicBezTo>
                    <a:pt x="121841" y="201324"/>
                    <a:pt x="127843" y="201324"/>
                    <a:pt x="132521" y="199295"/>
                  </a:cubicBezTo>
                  <a:cubicBezTo>
                    <a:pt x="200631" y="169836"/>
                    <a:pt x="249684" y="122247"/>
                    <a:pt x="249684" y="70215"/>
                  </a:cubicBezTo>
                  <a:lnTo>
                    <a:pt x="249684" y="46282"/>
                  </a:lnTo>
                  <a:cubicBezTo>
                    <a:pt x="249738" y="41374"/>
                    <a:pt x="244218" y="37254"/>
                    <a:pt x="236975" y="36796"/>
                  </a:cubicBezTo>
                  <a:close/>
                  <a:moveTo>
                    <a:pt x="225795" y="70215"/>
                  </a:moveTo>
                  <a:cubicBezTo>
                    <a:pt x="225795" y="111621"/>
                    <a:pt x="189230" y="153390"/>
                    <a:pt x="127983" y="181975"/>
                  </a:cubicBezTo>
                  <a:lnTo>
                    <a:pt x="124844" y="183440"/>
                  </a:lnTo>
                  <a:lnTo>
                    <a:pt x="121709" y="181975"/>
                  </a:lnTo>
                  <a:cubicBezTo>
                    <a:pt x="60458" y="153388"/>
                    <a:pt x="23886" y="111608"/>
                    <a:pt x="23886" y="70215"/>
                  </a:cubicBezTo>
                  <a:lnTo>
                    <a:pt x="23886" y="52238"/>
                  </a:lnTo>
                  <a:lnTo>
                    <a:pt x="28531" y="51742"/>
                  </a:lnTo>
                  <a:cubicBezTo>
                    <a:pt x="63141" y="48050"/>
                    <a:pt x="95355" y="37524"/>
                    <a:pt x="121106" y="21494"/>
                  </a:cubicBezTo>
                  <a:lnTo>
                    <a:pt x="124840" y="19173"/>
                  </a:lnTo>
                  <a:lnTo>
                    <a:pt x="128578" y="21494"/>
                  </a:lnTo>
                  <a:cubicBezTo>
                    <a:pt x="154328" y="37524"/>
                    <a:pt x="186541" y="48050"/>
                    <a:pt x="221149" y="51742"/>
                  </a:cubicBezTo>
                  <a:lnTo>
                    <a:pt x="225795" y="52238"/>
                  </a:lnTo>
                  <a:close/>
                </a:path>
              </a:pathLst>
            </a:custGeom>
            <a:solidFill>
              <a:schemeClr val="accent3"/>
            </a:solidFill>
            <a:ln w="3671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Freihandform: Form 52">
              <a:extLst>
                <a:ext uri="{FF2B5EF4-FFF2-40B4-BE49-F238E27FC236}">
                  <a16:creationId xmlns:a16="http://schemas.microsoft.com/office/drawing/2014/main" id="{B35FCB4A-0021-BE46-0A6C-6DCA34753EBA}"/>
                </a:ext>
              </a:extLst>
            </p:cNvPr>
            <p:cNvSpPr/>
            <p:nvPr/>
          </p:nvSpPr>
          <p:spPr>
            <a:xfrm>
              <a:off x="2964581" y="5454836"/>
              <a:ext cx="150401" cy="34187"/>
            </a:xfrm>
            <a:custGeom>
              <a:avLst/>
              <a:gdLst>
                <a:gd name="csX0" fmla="*/ 142850 w 169303"/>
                <a:gd name="csY0" fmla="*/ 0 h 35692"/>
                <a:gd name="csX1" fmla="*/ 26454 w 169303"/>
                <a:gd name="csY1" fmla="*/ 0 h 35692"/>
                <a:gd name="csX2" fmla="*/ 0 w 169303"/>
                <a:gd name="csY2" fmla="*/ 17846 h 35692"/>
                <a:gd name="csX3" fmla="*/ 26454 w 169303"/>
                <a:gd name="csY3" fmla="*/ 35692 h 35692"/>
                <a:gd name="csX4" fmla="*/ 142850 w 169303"/>
                <a:gd name="csY4" fmla="*/ 35692 h 35692"/>
                <a:gd name="csX5" fmla="*/ 169304 w 169303"/>
                <a:gd name="csY5" fmla="*/ 17846 h 35692"/>
                <a:gd name="csX6" fmla="*/ 142850 w 169303"/>
                <a:gd name="csY6" fmla="*/ 0 h 35692"/>
                <a:gd name="csX7" fmla="*/ 33508 w 169303"/>
                <a:gd name="csY7" fmla="*/ 24985 h 35692"/>
                <a:gd name="csX8" fmla="*/ 22927 w 169303"/>
                <a:gd name="csY8" fmla="*/ 17846 h 35692"/>
                <a:gd name="csX9" fmla="*/ 33508 w 169303"/>
                <a:gd name="csY9" fmla="*/ 10708 h 35692"/>
                <a:gd name="csX10" fmla="*/ 44089 w 169303"/>
                <a:gd name="csY10" fmla="*/ 17846 h 35692"/>
                <a:gd name="csX11" fmla="*/ 33508 w 169303"/>
                <a:gd name="csY11" fmla="*/ 24985 h 35692"/>
                <a:gd name="csX12" fmla="*/ 84652 w 169303"/>
                <a:gd name="csY12" fmla="*/ 24985 h 35692"/>
                <a:gd name="csX13" fmla="*/ 74070 w 169303"/>
                <a:gd name="csY13" fmla="*/ 17846 h 35692"/>
                <a:gd name="csX14" fmla="*/ 84652 w 169303"/>
                <a:gd name="csY14" fmla="*/ 10708 h 35692"/>
                <a:gd name="csX15" fmla="*/ 95233 w 169303"/>
                <a:gd name="csY15" fmla="*/ 17846 h 35692"/>
                <a:gd name="csX16" fmla="*/ 84652 w 169303"/>
                <a:gd name="csY16" fmla="*/ 24985 h 35692"/>
                <a:gd name="csX17" fmla="*/ 135796 w 169303"/>
                <a:gd name="csY17" fmla="*/ 24985 h 35692"/>
                <a:gd name="csX18" fmla="*/ 125214 w 169303"/>
                <a:gd name="csY18" fmla="*/ 17846 h 35692"/>
                <a:gd name="csX19" fmla="*/ 135796 w 169303"/>
                <a:gd name="csY19" fmla="*/ 10708 h 35692"/>
                <a:gd name="csX20" fmla="*/ 146377 w 169303"/>
                <a:gd name="csY20" fmla="*/ 17846 h 35692"/>
                <a:gd name="csX21" fmla="*/ 135796 w 169303"/>
                <a:gd name="csY21" fmla="*/ 24985 h 3569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</a:cxnLst>
              <a:rect l="l" t="t" r="r" b="b"/>
              <a:pathLst>
                <a:path w="169303" h="35692">
                  <a:moveTo>
                    <a:pt x="142850" y="0"/>
                  </a:moveTo>
                  <a:lnTo>
                    <a:pt x="26454" y="0"/>
                  </a:lnTo>
                  <a:cubicBezTo>
                    <a:pt x="11844" y="0"/>
                    <a:pt x="0" y="7990"/>
                    <a:pt x="0" y="17846"/>
                  </a:cubicBezTo>
                  <a:cubicBezTo>
                    <a:pt x="0" y="27702"/>
                    <a:pt x="11844" y="35692"/>
                    <a:pt x="26454" y="35692"/>
                  </a:cubicBezTo>
                  <a:lnTo>
                    <a:pt x="142850" y="35692"/>
                  </a:lnTo>
                  <a:cubicBezTo>
                    <a:pt x="157460" y="35692"/>
                    <a:pt x="169304" y="27702"/>
                    <a:pt x="169304" y="17846"/>
                  </a:cubicBezTo>
                  <a:cubicBezTo>
                    <a:pt x="169304" y="7990"/>
                    <a:pt x="157460" y="0"/>
                    <a:pt x="142850" y="0"/>
                  </a:cubicBezTo>
                  <a:close/>
                  <a:moveTo>
                    <a:pt x="33508" y="24985"/>
                  </a:moveTo>
                  <a:cubicBezTo>
                    <a:pt x="27664" y="24985"/>
                    <a:pt x="22927" y="21789"/>
                    <a:pt x="22927" y="17846"/>
                  </a:cubicBezTo>
                  <a:cubicBezTo>
                    <a:pt x="22927" y="13904"/>
                    <a:pt x="27664" y="10708"/>
                    <a:pt x="33508" y="10708"/>
                  </a:cubicBezTo>
                  <a:cubicBezTo>
                    <a:pt x="39352" y="10708"/>
                    <a:pt x="44089" y="13904"/>
                    <a:pt x="44089" y="17846"/>
                  </a:cubicBezTo>
                  <a:cubicBezTo>
                    <a:pt x="44089" y="21789"/>
                    <a:pt x="39352" y="24985"/>
                    <a:pt x="33508" y="24985"/>
                  </a:cubicBezTo>
                  <a:close/>
                  <a:moveTo>
                    <a:pt x="84652" y="24985"/>
                  </a:moveTo>
                  <a:cubicBezTo>
                    <a:pt x="78808" y="24985"/>
                    <a:pt x="74070" y="21789"/>
                    <a:pt x="74070" y="17846"/>
                  </a:cubicBezTo>
                  <a:cubicBezTo>
                    <a:pt x="74070" y="13904"/>
                    <a:pt x="78808" y="10708"/>
                    <a:pt x="84652" y="10708"/>
                  </a:cubicBezTo>
                  <a:cubicBezTo>
                    <a:pt x="90496" y="10708"/>
                    <a:pt x="95233" y="13904"/>
                    <a:pt x="95233" y="17846"/>
                  </a:cubicBezTo>
                  <a:cubicBezTo>
                    <a:pt x="95233" y="21789"/>
                    <a:pt x="90496" y="24985"/>
                    <a:pt x="84652" y="24985"/>
                  </a:cubicBezTo>
                  <a:close/>
                  <a:moveTo>
                    <a:pt x="135796" y="24985"/>
                  </a:moveTo>
                  <a:cubicBezTo>
                    <a:pt x="129951" y="24985"/>
                    <a:pt x="125214" y="21789"/>
                    <a:pt x="125214" y="17846"/>
                  </a:cubicBezTo>
                  <a:cubicBezTo>
                    <a:pt x="125214" y="13904"/>
                    <a:pt x="129951" y="10708"/>
                    <a:pt x="135796" y="10708"/>
                  </a:cubicBezTo>
                  <a:cubicBezTo>
                    <a:pt x="141640" y="10708"/>
                    <a:pt x="146377" y="13904"/>
                    <a:pt x="146377" y="17846"/>
                  </a:cubicBezTo>
                  <a:cubicBezTo>
                    <a:pt x="146377" y="21789"/>
                    <a:pt x="141640" y="24985"/>
                    <a:pt x="135796" y="24985"/>
                  </a:cubicBezTo>
                  <a:close/>
                </a:path>
              </a:pathLst>
            </a:custGeom>
            <a:solidFill>
              <a:schemeClr val="tx1"/>
            </a:solidFill>
            <a:ln w="3473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Ellipse 53">
              <a:extLst>
                <a:ext uri="{FF2B5EF4-FFF2-40B4-BE49-F238E27FC236}">
                  <a16:creationId xmlns:a16="http://schemas.microsoft.com/office/drawing/2014/main" id="{367D5FA1-ABA8-2301-82F5-16A8B6A41541}"/>
                </a:ext>
              </a:extLst>
            </p:cNvPr>
            <p:cNvSpPr/>
            <p:nvPr/>
          </p:nvSpPr>
          <p:spPr>
            <a:xfrm>
              <a:off x="3052033" y="5351137"/>
              <a:ext cx="9400" cy="6837"/>
            </a:xfrm>
            <a:prstGeom prst="ellipse">
              <a:avLst/>
            </a:prstGeom>
            <a:solidFill>
              <a:schemeClr val="accent3"/>
            </a:solidFill>
            <a:ln w="3473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Ellipse 57">
              <a:extLst>
                <a:ext uri="{FF2B5EF4-FFF2-40B4-BE49-F238E27FC236}">
                  <a16:creationId xmlns:a16="http://schemas.microsoft.com/office/drawing/2014/main" id="{192CD749-4700-59DC-129B-0483C7162090}"/>
                </a:ext>
              </a:extLst>
            </p:cNvPr>
            <p:cNvSpPr/>
            <p:nvPr/>
          </p:nvSpPr>
          <p:spPr>
            <a:xfrm>
              <a:off x="3020699" y="5351137"/>
              <a:ext cx="9400" cy="6837"/>
            </a:xfrm>
            <a:prstGeom prst="ellipse">
              <a:avLst/>
            </a:prstGeom>
            <a:solidFill>
              <a:schemeClr val="accent3"/>
            </a:solidFill>
            <a:ln w="3473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Freihandform: Form 59">
              <a:extLst>
                <a:ext uri="{FF2B5EF4-FFF2-40B4-BE49-F238E27FC236}">
                  <a16:creationId xmlns:a16="http://schemas.microsoft.com/office/drawing/2014/main" id="{874FCA40-4DD4-8A9F-6B43-26572E646713}"/>
                </a:ext>
              </a:extLst>
            </p:cNvPr>
            <p:cNvSpPr/>
            <p:nvPr/>
          </p:nvSpPr>
          <p:spPr>
            <a:xfrm>
              <a:off x="2938771" y="5353803"/>
              <a:ext cx="196814" cy="94925"/>
            </a:xfrm>
            <a:custGeom>
              <a:avLst/>
              <a:gdLst>
                <a:gd name="csX0" fmla="*/ 205694 w 221548"/>
                <a:gd name="csY0" fmla="*/ 74121 h 99105"/>
                <a:gd name="csX1" fmla="*/ 205694 w 221548"/>
                <a:gd name="csY1" fmla="*/ 54300 h 99105"/>
                <a:gd name="csX2" fmla="*/ 189857 w 221548"/>
                <a:gd name="csY2" fmla="*/ 43616 h 99105"/>
                <a:gd name="csX3" fmla="*/ 170422 w 221548"/>
                <a:gd name="csY3" fmla="*/ 43616 h 99105"/>
                <a:gd name="csX4" fmla="*/ 170422 w 221548"/>
                <a:gd name="csY4" fmla="*/ 31718 h 99105"/>
                <a:gd name="csX5" fmla="*/ 57553 w 221548"/>
                <a:gd name="csY5" fmla="*/ 31718 h 99105"/>
                <a:gd name="csX6" fmla="*/ 57553 w 221548"/>
                <a:gd name="csY6" fmla="*/ 45995 h 99105"/>
                <a:gd name="csX7" fmla="*/ 31064 w 221548"/>
                <a:gd name="csY7" fmla="*/ 45995 h 99105"/>
                <a:gd name="csX8" fmla="*/ 29336 w 221548"/>
                <a:gd name="csY8" fmla="*/ 44829 h 99105"/>
                <a:gd name="csX9" fmla="*/ 29336 w 221548"/>
                <a:gd name="csY9" fmla="*/ 25104 h 99105"/>
                <a:gd name="csX10" fmla="*/ 44807 w 221548"/>
                <a:gd name="csY10" fmla="*/ 5919 h 99105"/>
                <a:gd name="csX11" fmla="*/ 39918 w 221548"/>
                <a:gd name="csY11" fmla="*/ 0 h 99105"/>
                <a:gd name="csX12" fmla="*/ 29336 w 221548"/>
                <a:gd name="csY12" fmla="*/ 6329 h 99105"/>
                <a:gd name="csX13" fmla="*/ 31699 w 221548"/>
                <a:gd name="csY13" fmla="*/ 10303 h 99105"/>
                <a:gd name="csX14" fmla="*/ 22833 w 221548"/>
                <a:gd name="csY14" fmla="*/ 16219 h 99105"/>
                <a:gd name="csX15" fmla="*/ 14064 w 221548"/>
                <a:gd name="csY15" fmla="*/ 10238 h 99105"/>
                <a:gd name="csX16" fmla="*/ 16215 w 221548"/>
                <a:gd name="csY16" fmla="*/ 6377 h 99105"/>
                <a:gd name="csX17" fmla="*/ 5634 w 221548"/>
                <a:gd name="csY17" fmla="*/ 119 h 99105"/>
                <a:gd name="csX18" fmla="*/ 7875 w 221548"/>
                <a:gd name="csY18" fmla="*/ 21940 h 99105"/>
                <a:gd name="csX19" fmla="*/ 15227 w 221548"/>
                <a:gd name="csY19" fmla="*/ 24842 h 99105"/>
                <a:gd name="csX20" fmla="*/ 15227 w 221548"/>
                <a:gd name="csY20" fmla="*/ 44829 h 99105"/>
                <a:gd name="csX21" fmla="*/ 31064 w 221548"/>
                <a:gd name="csY21" fmla="*/ 55513 h 99105"/>
                <a:gd name="csX22" fmla="*/ 57553 w 221548"/>
                <a:gd name="csY22" fmla="*/ 55513 h 99105"/>
                <a:gd name="csX23" fmla="*/ 57553 w 221548"/>
                <a:gd name="csY23" fmla="*/ 98344 h 99105"/>
                <a:gd name="csX24" fmla="*/ 170422 w 221548"/>
                <a:gd name="csY24" fmla="*/ 98344 h 99105"/>
                <a:gd name="csX25" fmla="*/ 170422 w 221548"/>
                <a:gd name="csY25" fmla="*/ 53134 h 99105"/>
                <a:gd name="csX26" fmla="*/ 189857 w 221548"/>
                <a:gd name="csY26" fmla="*/ 53134 h 99105"/>
                <a:gd name="csX27" fmla="*/ 191585 w 221548"/>
                <a:gd name="csY27" fmla="*/ 54300 h 99105"/>
                <a:gd name="csX28" fmla="*/ 191585 w 221548"/>
                <a:gd name="csY28" fmla="*/ 74121 h 99105"/>
                <a:gd name="csX29" fmla="*/ 176828 w 221548"/>
                <a:gd name="csY29" fmla="*/ 93597 h 99105"/>
                <a:gd name="csX30" fmla="*/ 181498 w 221548"/>
                <a:gd name="csY30" fmla="*/ 99105 h 99105"/>
                <a:gd name="csX31" fmla="*/ 192079 w 221548"/>
                <a:gd name="csY31" fmla="*/ 92776 h 99105"/>
                <a:gd name="csX32" fmla="*/ 189822 w 221548"/>
                <a:gd name="csY32" fmla="*/ 88826 h 99105"/>
                <a:gd name="csX33" fmla="*/ 198647 w 221548"/>
                <a:gd name="csY33" fmla="*/ 82882 h 99105"/>
                <a:gd name="csX34" fmla="*/ 207457 w 221548"/>
                <a:gd name="csY34" fmla="*/ 88836 h 99105"/>
                <a:gd name="csX35" fmla="*/ 205271 w 221548"/>
                <a:gd name="csY35" fmla="*/ 92752 h 99105"/>
                <a:gd name="csX36" fmla="*/ 215852 w 221548"/>
                <a:gd name="csY36" fmla="*/ 99010 h 99105"/>
                <a:gd name="csX37" fmla="*/ 213768 w 221548"/>
                <a:gd name="csY37" fmla="*/ 77216 h 99105"/>
                <a:gd name="csX38" fmla="*/ 205694 w 221548"/>
                <a:gd name="csY38" fmla="*/ 74121 h 99105"/>
                <a:gd name="csX39" fmla="*/ 156314 w 221548"/>
                <a:gd name="csY39" fmla="*/ 65031 h 99105"/>
                <a:gd name="csX40" fmla="*/ 146508 w 221548"/>
                <a:gd name="csY40" fmla="*/ 65031 h 99105"/>
                <a:gd name="csX41" fmla="*/ 145556 w 221548"/>
                <a:gd name="csY41" fmla="*/ 65293 h 99105"/>
                <a:gd name="csX42" fmla="*/ 134763 w 221548"/>
                <a:gd name="csY42" fmla="*/ 72741 h 99105"/>
                <a:gd name="csX43" fmla="*/ 126545 w 221548"/>
                <a:gd name="csY43" fmla="*/ 59606 h 99105"/>
                <a:gd name="csX44" fmla="*/ 111201 w 221548"/>
                <a:gd name="csY44" fmla="*/ 81021 h 99105"/>
                <a:gd name="csX45" fmla="*/ 100444 w 221548"/>
                <a:gd name="csY45" fmla="*/ 53134 h 99105"/>
                <a:gd name="csX46" fmla="*/ 92155 w 221548"/>
                <a:gd name="csY46" fmla="*/ 65031 h 99105"/>
                <a:gd name="csX47" fmla="*/ 75189 w 221548"/>
                <a:gd name="csY47" fmla="*/ 65031 h 99105"/>
                <a:gd name="csX48" fmla="*/ 75189 w 221548"/>
                <a:gd name="csY48" fmla="*/ 60272 h 99105"/>
                <a:gd name="csX49" fmla="*/ 87675 w 221548"/>
                <a:gd name="csY49" fmla="*/ 60272 h 99105"/>
                <a:gd name="csX50" fmla="*/ 102348 w 221548"/>
                <a:gd name="csY50" fmla="*/ 39214 h 99105"/>
                <a:gd name="csX51" fmla="*/ 113212 w 221548"/>
                <a:gd name="csY51" fmla="*/ 67244 h 99105"/>
                <a:gd name="csX52" fmla="*/ 127003 w 221548"/>
                <a:gd name="csY52" fmla="*/ 48208 h 99105"/>
                <a:gd name="csX53" fmla="*/ 137161 w 221548"/>
                <a:gd name="csY53" fmla="*/ 64436 h 99105"/>
                <a:gd name="csX54" fmla="*/ 140688 w 221548"/>
                <a:gd name="csY54" fmla="*/ 62057 h 99105"/>
                <a:gd name="csX55" fmla="*/ 146508 w 221548"/>
                <a:gd name="csY55" fmla="*/ 60272 h 99105"/>
                <a:gd name="csX56" fmla="*/ 156314 w 221548"/>
                <a:gd name="csY56" fmla="*/ 60272 h 9910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</a:cxnLst>
              <a:rect l="l" t="t" r="r" b="b"/>
              <a:pathLst>
                <a:path w="221548" h="99105">
                  <a:moveTo>
                    <a:pt x="205694" y="74121"/>
                  </a:moveTo>
                  <a:lnTo>
                    <a:pt x="205694" y="54300"/>
                  </a:lnTo>
                  <a:cubicBezTo>
                    <a:pt x="205694" y="48399"/>
                    <a:pt x="198604" y="43616"/>
                    <a:pt x="189857" y="43616"/>
                  </a:cubicBezTo>
                  <a:lnTo>
                    <a:pt x="170422" y="43616"/>
                  </a:lnTo>
                  <a:lnTo>
                    <a:pt x="170422" y="31718"/>
                  </a:lnTo>
                  <a:lnTo>
                    <a:pt x="57553" y="31718"/>
                  </a:lnTo>
                  <a:lnTo>
                    <a:pt x="57553" y="45995"/>
                  </a:lnTo>
                  <a:lnTo>
                    <a:pt x="31064" y="45995"/>
                  </a:lnTo>
                  <a:cubicBezTo>
                    <a:pt x="30110" y="45995"/>
                    <a:pt x="29336" y="45473"/>
                    <a:pt x="29336" y="44829"/>
                  </a:cubicBezTo>
                  <a:lnTo>
                    <a:pt x="29336" y="25104"/>
                  </a:lnTo>
                  <a:cubicBezTo>
                    <a:pt x="41461" y="22688"/>
                    <a:pt x="48387" y="14099"/>
                    <a:pt x="44807" y="5919"/>
                  </a:cubicBezTo>
                  <a:cubicBezTo>
                    <a:pt x="43846" y="3726"/>
                    <a:pt x="42177" y="1705"/>
                    <a:pt x="39918" y="0"/>
                  </a:cubicBezTo>
                  <a:lnTo>
                    <a:pt x="29336" y="6329"/>
                  </a:lnTo>
                  <a:cubicBezTo>
                    <a:pt x="30816" y="7415"/>
                    <a:pt x="31657" y="8828"/>
                    <a:pt x="31699" y="10303"/>
                  </a:cubicBezTo>
                  <a:cubicBezTo>
                    <a:pt x="31673" y="13588"/>
                    <a:pt x="27703" y="16237"/>
                    <a:pt x="22833" y="16219"/>
                  </a:cubicBezTo>
                  <a:cubicBezTo>
                    <a:pt x="17963" y="16201"/>
                    <a:pt x="14037" y="13524"/>
                    <a:pt x="14064" y="10238"/>
                  </a:cubicBezTo>
                  <a:cubicBezTo>
                    <a:pt x="14075" y="8819"/>
                    <a:pt x="14838" y="7450"/>
                    <a:pt x="16215" y="6377"/>
                  </a:cubicBezTo>
                  <a:lnTo>
                    <a:pt x="5634" y="119"/>
                  </a:lnTo>
                  <a:cubicBezTo>
                    <a:pt x="-2680" y="6562"/>
                    <a:pt x="-1676" y="16332"/>
                    <a:pt x="7875" y="21940"/>
                  </a:cubicBezTo>
                  <a:cubicBezTo>
                    <a:pt x="10035" y="23208"/>
                    <a:pt x="12529" y="24193"/>
                    <a:pt x="15227" y="24842"/>
                  </a:cubicBezTo>
                  <a:lnTo>
                    <a:pt x="15227" y="44829"/>
                  </a:lnTo>
                  <a:cubicBezTo>
                    <a:pt x="15227" y="50730"/>
                    <a:pt x="22318" y="55513"/>
                    <a:pt x="31064" y="55513"/>
                  </a:cubicBezTo>
                  <a:lnTo>
                    <a:pt x="57553" y="55513"/>
                  </a:lnTo>
                  <a:lnTo>
                    <a:pt x="57553" y="98344"/>
                  </a:lnTo>
                  <a:lnTo>
                    <a:pt x="170422" y="98344"/>
                  </a:lnTo>
                  <a:lnTo>
                    <a:pt x="170422" y="53134"/>
                  </a:lnTo>
                  <a:lnTo>
                    <a:pt x="189857" y="53134"/>
                  </a:lnTo>
                  <a:cubicBezTo>
                    <a:pt x="190811" y="53134"/>
                    <a:pt x="191585" y="53656"/>
                    <a:pt x="191585" y="54300"/>
                  </a:cubicBezTo>
                  <a:lnTo>
                    <a:pt x="191585" y="74121"/>
                  </a:lnTo>
                  <a:cubicBezTo>
                    <a:pt x="179538" y="76750"/>
                    <a:pt x="172931" y="85470"/>
                    <a:pt x="176828" y="93597"/>
                  </a:cubicBezTo>
                  <a:cubicBezTo>
                    <a:pt x="177804" y="95631"/>
                    <a:pt x="179394" y="97507"/>
                    <a:pt x="181498" y="99105"/>
                  </a:cubicBezTo>
                  <a:lnTo>
                    <a:pt x="192079" y="92776"/>
                  </a:lnTo>
                  <a:cubicBezTo>
                    <a:pt x="190620" y="91697"/>
                    <a:pt x="189814" y="90287"/>
                    <a:pt x="189822" y="88826"/>
                  </a:cubicBezTo>
                  <a:cubicBezTo>
                    <a:pt x="189826" y="85541"/>
                    <a:pt x="193777" y="82879"/>
                    <a:pt x="198647" y="82882"/>
                  </a:cubicBezTo>
                  <a:cubicBezTo>
                    <a:pt x="203517" y="82885"/>
                    <a:pt x="207462" y="85551"/>
                    <a:pt x="207457" y="88836"/>
                  </a:cubicBezTo>
                  <a:cubicBezTo>
                    <a:pt x="207456" y="90277"/>
                    <a:pt x="206679" y="91668"/>
                    <a:pt x="205271" y="92752"/>
                  </a:cubicBezTo>
                  <a:lnTo>
                    <a:pt x="215852" y="99010"/>
                  </a:lnTo>
                  <a:cubicBezTo>
                    <a:pt x="224198" y="92604"/>
                    <a:pt x="223265" y="82846"/>
                    <a:pt x="213768" y="77216"/>
                  </a:cubicBezTo>
                  <a:cubicBezTo>
                    <a:pt x="211419" y="75823"/>
                    <a:pt x="208670" y="74769"/>
                    <a:pt x="205694" y="74121"/>
                  </a:cubicBezTo>
                  <a:close/>
                  <a:moveTo>
                    <a:pt x="156314" y="65031"/>
                  </a:moveTo>
                  <a:lnTo>
                    <a:pt x="146508" y="65031"/>
                  </a:lnTo>
                  <a:cubicBezTo>
                    <a:pt x="146167" y="65072"/>
                    <a:pt x="145843" y="65162"/>
                    <a:pt x="145556" y="65293"/>
                  </a:cubicBezTo>
                  <a:lnTo>
                    <a:pt x="134763" y="72741"/>
                  </a:lnTo>
                  <a:lnTo>
                    <a:pt x="126545" y="59606"/>
                  </a:lnTo>
                  <a:lnTo>
                    <a:pt x="111201" y="81021"/>
                  </a:lnTo>
                  <a:lnTo>
                    <a:pt x="100444" y="53134"/>
                  </a:lnTo>
                  <a:lnTo>
                    <a:pt x="92155" y="65031"/>
                  </a:lnTo>
                  <a:lnTo>
                    <a:pt x="75189" y="65031"/>
                  </a:lnTo>
                  <a:lnTo>
                    <a:pt x="75189" y="60272"/>
                  </a:lnTo>
                  <a:lnTo>
                    <a:pt x="87675" y="60272"/>
                  </a:lnTo>
                  <a:lnTo>
                    <a:pt x="102348" y="39214"/>
                  </a:lnTo>
                  <a:lnTo>
                    <a:pt x="113212" y="67244"/>
                  </a:lnTo>
                  <a:lnTo>
                    <a:pt x="127003" y="48208"/>
                  </a:lnTo>
                  <a:lnTo>
                    <a:pt x="137161" y="64436"/>
                  </a:lnTo>
                  <a:lnTo>
                    <a:pt x="140688" y="62057"/>
                  </a:lnTo>
                  <a:cubicBezTo>
                    <a:pt x="142237" y="60999"/>
                    <a:pt x="144309" y="60364"/>
                    <a:pt x="146508" y="60272"/>
                  </a:cubicBezTo>
                  <a:lnTo>
                    <a:pt x="156314" y="60272"/>
                  </a:lnTo>
                  <a:close/>
                </a:path>
              </a:pathLst>
            </a:custGeom>
            <a:solidFill>
              <a:schemeClr val="tx1"/>
            </a:solidFill>
            <a:ln w="3473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TextBox 88">
              <a:extLst>
                <a:ext uri="{FF2B5EF4-FFF2-40B4-BE49-F238E27FC236}">
                  <a16:creationId xmlns:a16="http://schemas.microsoft.com/office/drawing/2014/main" id="{2B17FE25-866D-D6B8-979A-5E5B1549889E}"/>
                </a:ext>
              </a:extLst>
            </p:cNvPr>
            <p:cNvSpPr txBox="1"/>
            <p:nvPr/>
          </p:nvSpPr>
          <p:spPr>
            <a:xfrm>
              <a:off x="1359975" y="5475749"/>
              <a:ext cx="606925" cy="23583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00" b="1" noProof="0" dirty="0">
                  <a:solidFill>
                    <a:schemeClr val="accent1">
                      <a:lumMod val="75000"/>
                    </a:schemeClr>
                  </a:solidFill>
                  <a:latin typeface="Jura" panose="020B0604020202020204" charset="0"/>
                  <a:ea typeface="Jura" panose="020B0604020202020204" charset="0"/>
                </a:rPr>
                <a:t>DevOps</a:t>
              </a:r>
            </a:p>
          </p:txBody>
        </p:sp>
        <p:sp>
          <p:nvSpPr>
            <p:cNvPr id="44" name="TextBox 89">
              <a:extLst>
                <a:ext uri="{FF2B5EF4-FFF2-40B4-BE49-F238E27FC236}">
                  <a16:creationId xmlns:a16="http://schemas.microsoft.com/office/drawing/2014/main" id="{A228930A-12DC-C9FF-B030-83C9CB6417CE}"/>
                </a:ext>
              </a:extLst>
            </p:cNvPr>
            <p:cNvSpPr txBox="1"/>
            <p:nvPr/>
          </p:nvSpPr>
          <p:spPr>
            <a:xfrm>
              <a:off x="3862219" y="5475749"/>
              <a:ext cx="1535398" cy="23583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00" b="1" noProof="0" dirty="0">
                  <a:solidFill>
                    <a:schemeClr val="accent1">
                      <a:lumMod val="75000"/>
                    </a:schemeClr>
                  </a:solidFill>
                  <a:latin typeface="Jura" panose="020B0604020202020204" charset="0"/>
                  <a:ea typeface="Jura" panose="020B0604020202020204" charset="0"/>
                </a:rPr>
                <a:t>Compliance-by-Design</a:t>
              </a:r>
            </a:p>
          </p:txBody>
        </p:sp>
        <p:sp>
          <p:nvSpPr>
            <p:cNvPr id="47" name="TextBox 90">
              <a:extLst>
                <a:ext uri="{FF2B5EF4-FFF2-40B4-BE49-F238E27FC236}">
                  <a16:creationId xmlns:a16="http://schemas.microsoft.com/office/drawing/2014/main" id="{0C4840AC-6616-19A7-82CB-CCDE2C3BCDF0}"/>
                </a:ext>
              </a:extLst>
            </p:cNvPr>
            <p:cNvSpPr txBox="1"/>
            <p:nvPr/>
          </p:nvSpPr>
          <p:spPr>
            <a:xfrm>
              <a:off x="2686831" y="5475749"/>
              <a:ext cx="579869" cy="23583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00" b="1" noProof="0" dirty="0">
                  <a:solidFill>
                    <a:schemeClr val="accent1">
                      <a:lumMod val="75000"/>
                    </a:schemeClr>
                  </a:solidFill>
                  <a:latin typeface="Jura" panose="020B0604020202020204" charset="0"/>
                  <a:ea typeface="Jura" panose="020B0604020202020204" charset="0"/>
                </a:rPr>
                <a:t>Agents</a:t>
              </a:r>
            </a:p>
          </p:txBody>
        </p:sp>
        <p:sp>
          <p:nvSpPr>
            <p:cNvPr id="50" name="Freihandform: Form 49">
              <a:extLst>
                <a:ext uri="{FF2B5EF4-FFF2-40B4-BE49-F238E27FC236}">
                  <a16:creationId xmlns:a16="http://schemas.microsoft.com/office/drawing/2014/main" id="{818722A3-9CE9-BC60-2779-4D74A67D45F7}"/>
                </a:ext>
              </a:extLst>
            </p:cNvPr>
            <p:cNvSpPr/>
            <p:nvPr/>
          </p:nvSpPr>
          <p:spPr>
            <a:xfrm>
              <a:off x="4534177" y="5303947"/>
              <a:ext cx="159777" cy="139024"/>
            </a:xfrm>
            <a:custGeom>
              <a:avLst/>
              <a:gdLst>
                <a:gd name="csX0" fmla="*/ 89929 w 179857"/>
                <a:gd name="csY0" fmla="*/ 0 h 145146"/>
                <a:gd name="csX1" fmla="*/ 0 w 179857"/>
                <a:gd name="csY1" fmla="*/ 29316 h 145146"/>
                <a:gd name="csX2" fmla="*/ 0 w 179857"/>
                <a:gd name="csY2" fmla="*/ 40989 h 145146"/>
                <a:gd name="csX3" fmla="*/ 89933 w 179857"/>
                <a:gd name="csY3" fmla="*/ 145146 h 145146"/>
                <a:gd name="csX4" fmla="*/ 179858 w 179857"/>
                <a:gd name="csY4" fmla="*/ 40989 h 145146"/>
                <a:gd name="csX5" fmla="*/ 179858 w 179857"/>
                <a:gd name="csY5" fmla="*/ 29316 h 145146"/>
                <a:gd name="csX6" fmla="*/ 89929 w 179857"/>
                <a:gd name="csY6" fmla="*/ 0 h 145146"/>
                <a:gd name="csX7" fmla="*/ 80491 w 179857"/>
                <a:gd name="csY7" fmla="*/ 96806 h 145146"/>
                <a:gd name="csX8" fmla="*/ 43327 w 179857"/>
                <a:gd name="csY8" fmla="*/ 71733 h 145146"/>
                <a:gd name="csX9" fmla="*/ 55955 w 179857"/>
                <a:gd name="csY9" fmla="*/ 63214 h 145146"/>
                <a:gd name="csX10" fmla="*/ 80491 w 179857"/>
                <a:gd name="csY10" fmla="*/ 79766 h 145146"/>
                <a:gd name="csX11" fmla="*/ 130739 w 179857"/>
                <a:gd name="csY11" fmla="*/ 45868 h 145146"/>
                <a:gd name="csX12" fmla="*/ 143367 w 179857"/>
                <a:gd name="csY12" fmla="*/ 54390 h 14514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179857" h="145146">
                  <a:moveTo>
                    <a:pt x="89929" y="0"/>
                  </a:moveTo>
                  <a:cubicBezTo>
                    <a:pt x="64412" y="15055"/>
                    <a:pt x="33342" y="25184"/>
                    <a:pt x="0" y="29316"/>
                  </a:cubicBezTo>
                  <a:lnTo>
                    <a:pt x="0" y="40989"/>
                  </a:lnTo>
                  <a:cubicBezTo>
                    <a:pt x="0" y="79238"/>
                    <a:pt x="33544" y="118005"/>
                    <a:pt x="89933" y="145146"/>
                  </a:cubicBezTo>
                  <a:cubicBezTo>
                    <a:pt x="146314" y="118010"/>
                    <a:pt x="179858" y="79240"/>
                    <a:pt x="179858" y="40989"/>
                  </a:cubicBezTo>
                  <a:lnTo>
                    <a:pt x="179858" y="29316"/>
                  </a:lnTo>
                  <a:cubicBezTo>
                    <a:pt x="146516" y="25184"/>
                    <a:pt x="115446" y="15055"/>
                    <a:pt x="89929" y="0"/>
                  </a:cubicBezTo>
                  <a:close/>
                  <a:moveTo>
                    <a:pt x="80491" y="96806"/>
                  </a:moveTo>
                  <a:lnTo>
                    <a:pt x="43327" y="71733"/>
                  </a:lnTo>
                  <a:lnTo>
                    <a:pt x="55955" y="63214"/>
                  </a:lnTo>
                  <a:lnTo>
                    <a:pt x="80491" y="79766"/>
                  </a:lnTo>
                  <a:lnTo>
                    <a:pt x="130739" y="45868"/>
                  </a:lnTo>
                  <a:lnTo>
                    <a:pt x="143367" y="54390"/>
                  </a:lnTo>
                  <a:close/>
                </a:path>
              </a:pathLst>
            </a:custGeom>
            <a:solidFill>
              <a:schemeClr val="tx1"/>
            </a:solidFill>
            <a:ln w="3671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Graphic 11" descr="Wrench with solid fill">
              <a:extLst>
                <a:ext uri="{FF2B5EF4-FFF2-40B4-BE49-F238E27FC236}">
                  <a16:creationId xmlns:a16="http://schemas.microsoft.com/office/drawing/2014/main" id="{2BA42AEE-293A-6AD5-1F70-A2A03FB22782}"/>
                </a:ext>
              </a:extLst>
            </p:cNvPr>
            <p:cNvSpPr/>
            <p:nvPr/>
          </p:nvSpPr>
          <p:spPr>
            <a:xfrm>
              <a:off x="1520216" y="5265894"/>
              <a:ext cx="275465" cy="200917"/>
            </a:xfrm>
            <a:custGeom>
              <a:avLst/>
              <a:gdLst>
                <a:gd name="csX0" fmla="*/ 275318 w 310084"/>
                <a:gd name="csY0" fmla="*/ 45158 h 209765"/>
                <a:gd name="csX1" fmla="*/ 250275 w 310084"/>
                <a:gd name="csY1" fmla="*/ 40637 h 209765"/>
                <a:gd name="csX2" fmla="*/ 243574 w 310084"/>
                <a:gd name="csY2" fmla="*/ 23743 h 209765"/>
                <a:gd name="csX3" fmla="*/ 275318 w 310084"/>
                <a:gd name="csY3" fmla="*/ 2327 h 209765"/>
                <a:gd name="csX4" fmla="*/ 219942 w 310084"/>
                <a:gd name="csY4" fmla="*/ 9466 h 209765"/>
                <a:gd name="csX5" fmla="*/ 204422 w 310084"/>
                <a:gd name="csY5" fmla="*/ 45872 h 209765"/>
                <a:gd name="csX6" fmla="*/ 67569 w 310084"/>
                <a:gd name="csY6" fmla="*/ 138196 h 209765"/>
                <a:gd name="csX7" fmla="*/ 13956 w 310084"/>
                <a:gd name="csY7" fmla="*/ 148903 h 209765"/>
                <a:gd name="csX8" fmla="*/ 3374 w 310084"/>
                <a:gd name="csY8" fmla="*/ 186023 h 209765"/>
                <a:gd name="csX9" fmla="*/ 35119 w 310084"/>
                <a:gd name="csY9" fmla="*/ 164608 h 209765"/>
                <a:gd name="csX10" fmla="*/ 59809 w 310084"/>
                <a:gd name="csY10" fmla="*/ 169129 h 209765"/>
                <a:gd name="csX11" fmla="*/ 66510 w 310084"/>
                <a:gd name="csY11" fmla="*/ 186023 h 209765"/>
                <a:gd name="csX12" fmla="*/ 34766 w 310084"/>
                <a:gd name="csY12" fmla="*/ 207438 h 209765"/>
                <a:gd name="csX13" fmla="*/ 90142 w 310084"/>
                <a:gd name="csY13" fmla="*/ 200300 h 209765"/>
                <a:gd name="csX14" fmla="*/ 105662 w 310084"/>
                <a:gd name="csY14" fmla="*/ 163894 h 209765"/>
                <a:gd name="csX15" fmla="*/ 242516 w 310084"/>
                <a:gd name="csY15" fmla="*/ 71570 h 209765"/>
                <a:gd name="csX16" fmla="*/ 296128 w 310084"/>
                <a:gd name="csY16" fmla="*/ 60862 h 209765"/>
                <a:gd name="csX17" fmla="*/ 306710 w 310084"/>
                <a:gd name="csY17" fmla="*/ 23743 h 209765"/>
                <a:gd name="csX18" fmla="*/ 275318 w 310084"/>
                <a:gd name="csY18" fmla="*/ 45158 h 20976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</a:cxnLst>
              <a:rect l="l" t="t" r="r" b="b"/>
              <a:pathLst>
                <a:path w="310084" h="209765">
                  <a:moveTo>
                    <a:pt x="275318" y="45158"/>
                  </a:moveTo>
                  <a:lnTo>
                    <a:pt x="250275" y="40637"/>
                  </a:lnTo>
                  <a:lnTo>
                    <a:pt x="243574" y="23743"/>
                  </a:lnTo>
                  <a:lnTo>
                    <a:pt x="275318" y="2327"/>
                  </a:lnTo>
                  <a:cubicBezTo>
                    <a:pt x="256271" y="-2432"/>
                    <a:pt x="235108" y="186"/>
                    <a:pt x="219942" y="9466"/>
                  </a:cubicBezTo>
                  <a:cubicBezTo>
                    <a:pt x="205128" y="18746"/>
                    <a:pt x="198779" y="32785"/>
                    <a:pt x="204422" y="45872"/>
                  </a:cubicBezTo>
                  <a:lnTo>
                    <a:pt x="67569" y="138196"/>
                  </a:lnTo>
                  <a:cubicBezTo>
                    <a:pt x="48169" y="134626"/>
                    <a:pt x="27359" y="138909"/>
                    <a:pt x="13956" y="148903"/>
                  </a:cubicBezTo>
                  <a:cubicBezTo>
                    <a:pt x="553" y="158897"/>
                    <a:pt x="-3680" y="173174"/>
                    <a:pt x="3374" y="186023"/>
                  </a:cubicBezTo>
                  <a:lnTo>
                    <a:pt x="35119" y="164608"/>
                  </a:lnTo>
                  <a:lnTo>
                    <a:pt x="59809" y="169129"/>
                  </a:lnTo>
                  <a:lnTo>
                    <a:pt x="66510" y="186023"/>
                  </a:lnTo>
                  <a:lnTo>
                    <a:pt x="34766" y="207438"/>
                  </a:lnTo>
                  <a:cubicBezTo>
                    <a:pt x="53813" y="212197"/>
                    <a:pt x="74976" y="209580"/>
                    <a:pt x="90142" y="200300"/>
                  </a:cubicBezTo>
                  <a:cubicBezTo>
                    <a:pt x="104956" y="191020"/>
                    <a:pt x="111305" y="176981"/>
                    <a:pt x="105662" y="163894"/>
                  </a:cubicBezTo>
                  <a:lnTo>
                    <a:pt x="242516" y="71570"/>
                  </a:lnTo>
                  <a:cubicBezTo>
                    <a:pt x="261915" y="75139"/>
                    <a:pt x="282725" y="70856"/>
                    <a:pt x="296128" y="60862"/>
                  </a:cubicBezTo>
                  <a:cubicBezTo>
                    <a:pt x="309531" y="50869"/>
                    <a:pt x="313764" y="36592"/>
                    <a:pt x="306710" y="23743"/>
                  </a:cubicBezTo>
                  <a:lnTo>
                    <a:pt x="275318" y="45158"/>
                  </a:lnTo>
                  <a:close/>
                </a:path>
              </a:pathLst>
            </a:custGeom>
            <a:solidFill>
              <a:schemeClr val="tx1"/>
            </a:solidFill>
            <a:ln w="3473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Freihandform: Form 55">
              <a:extLst>
                <a:ext uri="{FF2B5EF4-FFF2-40B4-BE49-F238E27FC236}">
                  <a16:creationId xmlns:a16="http://schemas.microsoft.com/office/drawing/2014/main" id="{3F493B09-9DA8-C4B1-75D8-6C962B58A55E}"/>
                </a:ext>
              </a:extLst>
            </p:cNvPr>
            <p:cNvSpPr/>
            <p:nvPr/>
          </p:nvSpPr>
          <p:spPr>
            <a:xfrm>
              <a:off x="2999299" y="5304381"/>
              <a:ext cx="81468" cy="72965"/>
            </a:xfrm>
            <a:custGeom>
              <a:avLst/>
              <a:gdLst>
                <a:gd name="csX0" fmla="*/ 76222 w 91706"/>
                <a:gd name="csY0" fmla="*/ 28589 h 76178"/>
                <a:gd name="csX1" fmla="*/ 52907 w 91706"/>
                <a:gd name="csY1" fmla="*/ 28589 h 76178"/>
                <a:gd name="csX2" fmla="*/ 52907 w 91706"/>
                <a:gd name="csY2" fmla="*/ 17762 h 76178"/>
                <a:gd name="csX3" fmla="*/ 58071 w 91706"/>
                <a:gd name="csY3" fmla="*/ 4761 h 76178"/>
                <a:gd name="csX4" fmla="*/ 38799 w 91706"/>
                <a:gd name="csY4" fmla="*/ 1277 h 76178"/>
                <a:gd name="csX5" fmla="*/ 33635 w 91706"/>
                <a:gd name="csY5" fmla="*/ 14278 h 76178"/>
                <a:gd name="csX6" fmla="*/ 38799 w 91706"/>
                <a:gd name="csY6" fmla="*/ 17762 h 76178"/>
                <a:gd name="csX7" fmla="*/ 38799 w 91706"/>
                <a:gd name="csY7" fmla="*/ 28589 h 76178"/>
                <a:gd name="csX8" fmla="*/ 15484 w 91706"/>
                <a:gd name="csY8" fmla="*/ 28589 h 76178"/>
                <a:gd name="csX9" fmla="*/ 0 w 91706"/>
                <a:gd name="csY9" fmla="*/ 39035 h 76178"/>
                <a:gd name="csX10" fmla="*/ 0 w 91706"/>
                <a:gd name="csY10" fmla="*/ 65733 h 76178"/>
                <a:gd name="csX11" fmla="*/ 15484 w 91706"/>
                <a:gd name="csY11" fmla="*/ 76178 h 76178"/>
                <a:gd name="csX12" fmla="*/ 76222 w 91706"/>
                <a:gd name="csY12" fmla="*/ 76178 h 76178"/>
                <a:gd name="csX13" fmla="*/ 91706 w 91706"/>
                <a:gd name="csY13" fmla="*/ 65733 h 76178"/>
                <a:gd name="csX14" fmla="*/ 91706 w 91706"/>
                <a:gd name="csY14" fmla="*/ 39035 h 76178"/>
                <a:gd name="csX15" fmla="*/ 76222 w 91706"/>
                <a:gd name="csY15" fmla="*/ 28589 h 76178"/>
                <a:gd name="csX16" fmla="*/ 28217 w 91706"/>
                <a:gd name="csY16" fmla="*/ 59522 h 76178"/>
                <a:gd name="csX17" fmla="*/ 17636 w 91706"/>
                <a:gd name="csY17" fmla="*/ 52384 h 76178"/>
                <a:gd name="csX18" fmla="*/ 28217 w 91706"/>
                <a:gd name="csY18" fmla="*/ 45245 h 76178"/>
                <a:gd name="csX19" fmla="*/ 38799 w 91706"/>
                <a:gd name="csY19" fmla="*/ 52384 h 76178"/>
                <a:gd name="csX20" fmla="*/ 28217 w 91706"/>
                <a:gd name="csY20" fmla="*/ 59522 h 76178"/>
                <a:gd name="csX21" fmla="*/ 63489 w 91706"/>
                <a:gd name="csY21" fmla="*/ 59522 h 76178"/>
                <a:gd name="csX22" fmla="*/ 52907 w 91706"/>
                <a:gd name="csY22" fmla="*/ 52384 h 76178"/>
                <a:gd name="csX23" fmla="*/ 63489 w 91706"/>
                <a:gd name="csY23" fmla="*/ 45245 h 76178"/>
                <a:gd name="csX24" fmla="*/ 74070 w 91706"/>
                <a:gd name="csY24" fmla="*/ 52384 h 76178"/>
                <a:gd name="csX25" fmla="*/ 63489 w 91706"/>
                <a:gd name="csY25" fmla="*/ 59522 h 7617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</a:cxnLst>
              <a:rect l="l" t="t" r="r" b="b"/>
              <a:pathLst>
                <a:path w="91706" h="76178">
                  <a:moveTo>
                    <a:pt x="76222" y="28589"/>
                  </a:moveTo>
                  <a:lnTo>
                    <a:pt x="52907" y="28589"/>
                  </a:lnTo>
                  <a:lnTo>
                    <a:pt x="52907" y="17762"/>
                  </a:lnTo>
                  <a:cubicBezTo>
                    <a:pt x="59656" y="15134"/>
                    <a:pt x="61968" y="9313"/>
                    <a:pt x="58071" y="4761"/>
                  </a:cubicBezTo>
                  <a:cubicBezTo>
                    <a:pt x="54175" y="208"/>
                    <a:pt x="45547" y="-1352"/>
                    <a:pt x="38799" y="1277"/>
                  </a:cubicBezTo>
                  <a:cubicBezTo>
                    <a:pt x="32051" y="3905"/>
                    <a:pt x="29739" y="9726"/>
                    <a:pt x="33635" y="14278"/>
                  </a:cubicBezTo>
                  <a:cubicBezTo>
                    <a:pt x="34873" y="15725"/>
                    <a:pt x="36654" y="16927"/>
                    <a:pt x="38799" y="17762"/>
                  </a:cubicBezTo>
                  <a:lnTo>
                    <a:pt x="38799" y="28589"/>
                  </a:lnTo>
                  <a:lnTo>
                    <a:pt x="15484" y="28589"/>
                  </a:lnTo>
                  <a:cubicBezTo>
                    <a:pt x="6941" y="28602"/>
                    <a:pt x="19" y="33271"/>
                    <a:pt x="0" y="39035"/>
                  </a:cubicBezTo>
                  <a:lnTo>
                    <a:pt x="0" y="65733"/>
                  </a:lnTo>
                  <a:cubicBezTo>
                    <a:pt x="19" y="71496"/>
                    <a:pt x="6941" y="76165"/>
                    <a:pt x="15484" y="76178"/>
                  </a:cubicBezTo>
                  <a:lnTo>
                    <a:pt x="76222" y="76178"/>
                  </a:lnTo>
                  <a:cubicBezTo>
                    <a:pt x="84765" y="76165"/>
                    <a:pt x="91687" y="71496"/>
                    <a:pt x="91706" y="65733"/>
                  </a:cubicBezTo>
                  <a:lnTo>
                    <a:pt x="91706" y="39035"/>
                  </a:lnTo>
                  <a:cubicBezTo>
                    <a:pt x="91687" y="33271"/>
                    <a:pt x="84765" y="28602"/>
                    <a:pt x="76222" y="28589"/>
                  </a:cubicBezTo>
                  <a:close/>
                  <a:moveTo>
                    <a:pt x="28217" y="59522"/>
                  </a:moveTo>
                  <a:cubicBezTo>
                    <a:pt x="22373" y="59522"/>
                    <a:pt x="17636" y="56326"/>
                    <a:pt x="17636" y="52384"/>
                  </a:cubicBezTo>
                  <a:cubicBezTo>
                    <a:pt x="17636" y="48441"/>
                    <a:pt x="22373" y="45245"/>
                    <a:pt x="28217" y="45245"/>
                  </a:cubicBezTo>
                  <a:cubicBezTo>
                    <a:pt x="34061" y="45245"/>
                    <a:pt x="38799" y="48441"/>
                    <a:pt x="38799" y="52384"/>
                  </a:cubicBezTo>
                  <a:cubicBezTo>
                    <a:pt x="38799" y="56326"/>
                    <a:pt x="34061" y="59522"/>
                    <a:pt x="28217" y="59522"/>
                  </a:cubicBezTo>
                  <a:close/>
                  <a:moveTo>
                    <a:pt x="63489" y="59522"/>
                  </a:moveTo>
                  <a:cubicBezTo>
                    <a:pt x="57645" y="59522"/>
                    <a:pt x="52907" y="56326"/>
                    <a:pt x="52907" y="52384"/>
                  </a:cubicBezTo>
                  <a:cubicBezTo>
                    <a:pt x="52907" y="48441"/>
                    <a:pt x="57645" y="45245"/>
                    <a:pt x="63489" y="45245"/>
                  </a:cubicBezTo>
                  <a:cubicBezTo>
                    <a:pt x="69333" y="45245"/>
                    <a:pt x="74070" y="48441"/>
                    <a:pt x="74070" y="52384"/>
                  </a:cubicBezTo>
                  <a:cubicBezTo>
                    <a:pt x="74070" y="56326"/>
                    <a:pt x="69333" y="59522"/>
                    <a:pt x="63489" y="59522"/>
                  </a:cubicBezTo>
                  <a:close/>
                </a:path>
              </a:pathLst>
            </a:custGeom>
            <a:solidFill>
              <a:schemeClr val="tx1"/>
            </a:solidFill>
            <a:ln w="3473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12D9205A-54CB-D98E-B5EA-8B9403CAEB49}"/>
              </a:ext>
            </a:extLst>
          </p:cNvPr>
          <p:cNvGrpSpPr/>
          <p:nvPr/>
        </p:nvGrpSpPr>
        <p:grpSpPr>
          <a:xfrm>
            <a:off x="814753" y="2849190"/>
            <a:ext cx="4735192" cy="656874"/>
            <a:chOff x="1380714" y="2040872"/>
            <a:chExt cx="5330282" cy="685800"/>
          </a:xfrm>
        </p:grpSpPr>
        <p:sp>
          <p:nvSpPr>
            <p:cNvPr id="24" name="Rectangle: Rounded Corners 59">
              <a:extLst>
                <a:ext uri="{FF2B5EF4-FFF2-40B4-BE49-F238E27FC236}">
                  <a16:creationId xmlns:a16="http://schemas.microsoft.com/office/drawing/2014/main" id="{78DDF02C-135A-A682-386D-B310D84FDA01}"/>
                </a:ext>
              </a:extLst>
            </p:cNvPr>
            <p:cNvSpPr/>
            <p:nvPr/>
          </p:nvSpPr>
          <p:spPr>
            <a:xfrm>
              <a:off x="1380714" y="2040872"/>
              <a:ext cx="5330282" cy="68580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sz="1200" b="1" noProof="0" dirty="0">
                  <a:solidFill>
                    <a:schemeClr val="bg2">
                      <a:lumMod val="50000"/>
                    </a:schemeClr>
                  </a:solidFill>
                  <a:latin typeface="Jura" panose="020B0604020202020204" charset="0"/>
                  <a:ea typeface="Jura" panose="020B0604020202020204" charset="0"/>
                </a:rPr>
                <a:t> </a:t>
              </a:r>
              <a:r>
                <a:rPr lang="en-US" sz="1200" b="1" noProof="0" dirty="0">
                  <a:solidFill>
                    <a:schemeClr val="tx1">
                      <a:lumMod val="50000"/>
                    </a:schemeClr>
                  </a:solidFill>
                  <a:latin typeface="Jura" panose="020B0604020202020204" charset="0"/>
                  <a:ea typeface="Jura" panose="020B0604020202020204" charset="0"/>
                </a:rPr>
                <a:t>----------Model Layer----------</a:t>
              </a:r>
              <a:endParaRPr lang="en-US" sz="1200" noProof="0" dirty="0">
                <a:solidFill>
                  <a:schemeClr val="tx1">
                    <a:lumMod val="50000"/>
                  </a:schemeClr>
                </a:solidFill>
                <a:latin typeface="Jura" panose="020B0604020202020204" charset="0"/>
                <a:ea typeface="Jura" panose="020B0604020202020204" charset="0"/>
              </a:endParaRPr>
            </a:p>
          </p:txBody>
        </p:sp>
        <p:sp>
          <p:nvSpPr>
            <p:cNvPr id="25" name="Rectangle 60">
              <a:extLst>
                <a:ext uri="{FF2B5EF4-FFF2-40B4-BE49-F238E27FC236}">
                  <a16:creationId xmlns:a16="http://schemas.microsoft.com/office/drawing/2014/main" id="{99ED86D2-98C1-037F-2352-9088F1A82ADF}"/>
                </a:ext>
              </a:extLst>
            </p:cNvPr>
            <p:cNvSpPr/>
            <p:nvPr/>
          </p:nvSpPr>
          <p:spPr>
            <a:xfrm>
              <a:off x="1998793" y="2322061"/>
              <a:ext cx="4502486" cy="294379"/>
            </a:xfrm>
            <a:prstGeom prst="rect">
              <a:avLst/>
            </a:prstGeom>
            <a:noFill/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b="1" noProof="0" dirty="0">
                  <a:solidFill>
                    <a:schemeClr val="accent1">
                      <a:lumMod val="50000"/>
                    </a:schemeClr>
                  </a:solidFill>
                  <a:latin typeface="Jura" panose="020B0604020202020204" charset="0"/>
                  <a:ea typeface="Jura" panose="020B0604020202020204" charset="0"/>
                </a:rPr>
                <a:t>Open-Source Model Portfolio (LXP, FH, IONOS, LUMI)</a:t>
              </a:r>
            </a:p>
          </p:txBody>
        </p:sp>
        <p:grpSp>
          <p:nvGrpSpPr>
            <p:cNvPr id="26" name="Gruppieren 25">
              <a:extLst>
                <a:ext uri="{FF2B5EF4-FFF2-40B4-BE49-F238E27FC236}">
                  <a16:creationId xmlns:a16="http://schemas.microsoft.com/office/drawing/2014/main" id="{54DBF5DE-23DB-1991-5CC9-0B8E0AB17CA7}"/>
                </a:ext>
              </a:extLst>
            </p:cNvPr>
            <p:cNvGrpSpPr/>
            <p:nvPr/>
          </p:nvGrpSpPr>
          <p:grpSpPr>
            <a:xfrm>
              <a:off x="1599293" y="2304153"/>
              <a:ext cx="370925" cy="297986"/>
              <a:chOff x="1589768" y="2304153"/>
              <a:chExt cx="370925" cy="297986"/>
            </a:xfrm>
            <a:solidFill>
              <a:schemeClr val="tx1"/>
            </a:solidFill>
          </p:grpSpPr>
          <p:pic>
            <p:nvPicPr>
              <p:cNvPr id="27" name="Graphic 1" descr="Database with solid fill">
                <a:extLst>
                  <a:ext uri="{FF2B5EF4-FFF2-40B4-BE49-F238E27FC236}">
                    <a16:creationId xmlns:a16="http://schemas.microsoft.com/office/drawing/2014/main" id="{FC314823-9877-C2C0-5CF2-E56E68F3C65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/>
              </a:stretch>
            </p:blipFill>
            <p:spPr>
              <a:xfrm>
                <a:off x="1589768" y="2383960"/>
                <a:ext cx="149178" cy="218179"/>
              </a:xfrm>
              <a:prstGeom prst="rect">
                <a:avLst/>
              </a:prstGeom>
            </p:spPr>
          </p:pic>
          <p:pic>
            <p:nvPicPr>
              <p:cNvPr id="29" name="Graphic 2" descr="Database with solid fill">
                <a:extLst>
                  <a:ext uri="{FF2B5EF4-FFF2-40B4-BE49-F238E27FC236}">
                    <a16:creationId xmlns:a16="http://schemas.microsoft.com/office/drawing/2014/main" id="{8EC68B25-1785-7866-9DDF-28637C5563F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/>
              </a:stretch>
            </p:blipFill>
            <p:spPr>
              <a:xfrm>
                <a:off x="1811515" y="2377748"/>
                <a:ext cx="149178" cy="218179"/>
              </a:xfrm>
              <a:prstGeom prst="rect">
                <a:avLst/>
              </a:prstGeom>
            </p:spPr>
          </p:pic>
          <p:pic>
            <p:nvPicPr>
              <p:cNvPr id="30" name="Graphic 3" descr="Database with solid fill">
                <a:extLst>
                  <a:ext uri="{FF2B5EF4-FFF2-40B4-BE49-F238E27FC236}">
                    <a16:creationId xmlns:a16="http://schemas.microsoft.com/office/drawing/2014/main" id="{626AAF9F-23A5-E6D3-8A0F-3F73F7218FA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/>
              </a:stretch>
            </p:blipFill>
            <p:spPr>
              <a:xfrm>
                <a:off x="1700641" y="2304153"/>
                <a:ext cx="149178" cy="218179"/>
              </a:xfrm>
              <a:prstGeom prst="rect">
                <a:avLst/>
              </a:prstGeom>
            </p:spPr>
          </p:pic>
        </p:grpSp>
      </p:grpSp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038E9321-97B4-62FA-945B-5FCE2382E4BC}"/>
              </a:ext>
            </a:extLst>
          </p:cNvPr>
          <p:cNvGrpSpPr/>
          <p:nvPr/>
        </p:nvGrpSpPr>
        <p:grpSpPr>
          <a:xfrm>
            <a:off x="814753" y="3580361"/>
            <a:ext cx="4735192" cy="656874"/>
            <a:chOff x="1380714" y="2804240"/>
            <a:chExt cx="5330282" cy="685800"/>
          </a:xfrm>
          <a:solidFill>
            <a:schemeClr val="bg1">
              <a:lumMod val="85000"/>
            </a:schemeClr>
          </a:solidFill>
        </p:grpSpPr>
        <p:sp>
          <p:nvSpPr>
            <p:cNvPr id="20" name="Rectangle: Rounded Corners 69">
              <a:extLst>
                <a:ext uri="{FF2B5EF4-FFF2-40B4-BE49-F238E27FC236}">
                  <a16:creationId xmlns:a16="http://schemas.microsoft.com/office/drawing/2014/main" id="{957629FF-8D3D-C2E8-7980-9539CAA2D3C1}"/>
                </a:ext>
              </a:extLst>
            </p:cNvPr>
            <p:cNvSpPr/>
            <p:nvPr/>
          </p:nvSpPr>
          <p:spPr>
            <a:xfrm>
              <a:off x="1380714" y="2804240"/>
              <a:ext cx="5330282" cy="685800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sz="1200" b="1" noProof="0" dirty="0">
                  <a:solidFill>
                    <a:schemeClr val="tx1">
                      <a:lumMod val="50000"/>
                    </a:schemeClr>
                  </a:solidFill>
                  <a:latin typeface="Jura" panose="020B0604020202020204" charset="0"/>
                  <a:ea typeface="Jura" panose="020B0604020202020204" charset="0"/>
                </a:rPr>
                <a:t>----------Platform Layer----------</a:t>
              </a:r>
              <a:endParaRPr lang="en-US" sz="1200" noProof="0" dirty="0">
                <a:solidFill>
                  <a:schemeClr val="tx1">
                    <a:lumMod val="50000"/>
                  </a:schemeClr>
                </a:solidFill>
                <a:latin typeface="Jura" panose="020B0604020202020204" charset="0"/>
                <a:ea typeface="Jura" panose="020B0604020202020204" charset="0"/>
              </a:endParaRPr>
            </a:p>
          </p:txBody>
        </p:sp>
        <p:sp>
          <p:nvSpPr>
            <p:cNvPr id="22" name="Rectangle 70">
              <a:extLst>
                <a:ext uri="{FF2B5EF4-FFF2-40B4-BE49-F238E27FC236}">
                  <a16:creationId xmlns:a16="http://schemas.microsoft.com/office/drawing/2014/main" id="{E5CB2AFE-FF09-4D45-B2FA-F3FB19BA905F}"/>
                </a:ext>
              </a:extLst>
            </p:cNvPr>
            <p:cNvSpPr/>
            <p:nvPr/>
          </p:nvSpPr>
          <p:spPr>
            <a:xfrm>
              <a:off x="2003072" y="3125874"/>
              <a:ext cx="4510571" cy="294379"/>
            </a:xfrm>
            <a:prstGeom prst="rect">
              <a:avLst/>
            </a:prstGeom>
            <a:grpFill/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noProof="0" dirty="0">
                  <a:solidFill>
                    <a:schemeClr val="accent1">
                      <a:lumMod val="75000"/>
                    </a:schemeClr>
                  </a:solidFill>
                  <a:latin typeface="Jura" panose="020B0604020202020204" charset="0"/>
                  <a:ea typeface="Jura" panose="020B0604020202020204" charset="0"/>
                </a:rPr>
                <a:t>LXP-</a:t>
              </a:r>
              <a:r>
                <a:rPr lang="en-US" sz="1200" b="1" noProof="0" dirty="0" err="1">
                  <a:solidFill>
                    <a:schemeClr val="accent1">
                      <a:lumMod val="75000"/>
                    </a:schemeClr>
                  </a:solidFill>
                  <a:latin typeface="Jura" panose="020B0604020202020204" charset="0"/>
                  <a:ea typeface="Jura" panose="020B0604020202020204" charset="0"/>
                </a:rPr>
                <a:t>Flinky</a:t>
              </a:r>
              <a:r>
                <a:rPr lang="en-US" sz="1200" b="1" noProof="0" dirty="0">
                  <a:solidFill>
                    <a:schemeClr val="accent1">
                      <a:lumMod val="75000"/>
                    </a:schemeClr>
                  </a:solidFill>
                  <a:latin typeface="Jura" panose="020B0604020202020204" charset="0"/>
                  <a:ea typeface="Jura" panose="020B0604020202020204" charset="0"/>
                </a:rPr>
                <a:t> / Fraunhofer FMH</a:t>
              </a:r>
            </a:p>
          </p:txBody>
        </p:sp>
      </p:grpSp>
      <p:sp>
        <p:nvSpPr>
          <p:cNvPr id="4" name="Explosion: 8 Points 3">
            <a:extLst>
              <a:ext uri="{FF2B5EF4-FFF2-40B4-BE49-F238E27FC236}">
                <a16:creationId xmlns:a16="http://schemas.microsoft.com/office/drawing/2014/main" id="{7345592F-B42D-F45A-E448-79F3C14BB1A4}"/>
              </a:ext>
            </a:extLst>
          </p:cNvPr>
          <p:cNvSpPr/>
          <p:nvPr/>
        </p:nvSpPr>
        <p:spPr>
          <a:xfrm rot="20286171">
            <a:off x="171754" y="1463206"/>
            <a:ext cx="2051098" cy="1661921"/>
          </a:xfrm>
          <a:prstGeom prst="irregularSeal1">
            <a:avLst/>
          </a:prstGeom>
          <a:solidFill>
            <a:srgbClr val="194C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FF00"/>
                </a:solidFill>
                <a:latin typeface="Jura" panose="020B0604020202020204" charset="0"/>
                <a:ea typeface="Jura" panose="020B0604020202020204" charset="0"/>
              </a:rPr>
              <a:t>Roll-Out 2026/2027</a:t>
            </a:r>
          </a:p>
        </p:txBody>
      </p:sp>
      <p:sp>
        <p:nvSpPr>
          <p:cNvPr id="80" name="Textfeld 79">
            <a:extLst>
              <a:ext uri="{FF2B5EF4-FFF2-40B4-BE49-F238E27FC236}">
                <a16:creationId xmlns:a16="http://schemas.microsoft.com/office/drawing/2014/main" id="{CC0AB07B-02F4-4058-5839-CBC4F80CB2D7}"/>
              </a:ext>
            </a:extLst>
          </p:cNvPr>
          <p:cNvSpPr txBox="1"/>
          <p:nvPr/>
        </p:nvSpPr>
        <p:spPr>
          <a:xfrm>
            <a:off x="2006447" y="2413367"/>
            <a:ext cx="247054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>
                <a:solidFill>
                  <a:srgbClr val="FFC000"/>
                </a:solidFill>
                <a:latin typeface="Jura" panose="020B0604020202020204" charset="0"/>
                <a:ea typeface="Jura" panose="020B0604020202020204" charset="0"/>
              </a:rPr>
              <a:t>Sovereign AI Services</a:t>
            </a:r>
          </a:p>
        </p:txBody>
      </p:sp>
      <p:pic>
        <p:nvPicPr>
          <p:cNvPr id="86" name="Picture 109" descr="The image depicts a cloud icon with interconnected gears, symbolizing an API (Application Programming Interface).&#10;&#10;KI-generierte Inhalte können fehlerhaft sein.">
            <a:extLst>
              <a:ext uri="{FF2B5EF4-FFF2-40B4-BE49-F238E27FC236}">
                <a16:creationId xmlns:a16="http://schemas.microsoft.com/office/drawing/2014/main" id="{570D8AEB-9B66-1BB9-354B-F3F203D71762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/>
        </p:blipFill>
        <p:spPr>
          <a:xfrm>
            <a:off x="983670" y="3758877"/>
            <a:ext cx="345797" cy="387307"/>
          </a:xfrm>
          <a:prstGeom prst="rect">
            <a:avLst/>
          </a:prstGeom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37530256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7C0146-A27F-73D5-9811-84AE20CF6D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Rectangle: Rounded Corners 67">
            <a:extLst>
              <a:ext uri="{FF2B5EF4-FFF2-40B4-BE49-F238E27FC236}">
                <a16:creationId xmlns:a16="http://schemas.microsoft.com/office/drawing/2014/main" id="{0D40055C-29FF-73E3-6558-A7C375AA6DEA}"/>
              </a:ext>
            </a:extLst>
          </p:cNvPr>
          <p:cNvSpPr/>
          <p:nvPr/>
        </p:nvSpPr>
        <p:spPr>
          <a:xfrm>
            <a:off x="1005807" y="1799497"/>
            <a:ext cx="10677197" cy="4296503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lnSpc>
                <a:spcPct val="125000"/>
              </a:lnSpc>
              <a:spcBef>
                <a:spcPts val="600"/>
              </a:spcBef>
            </a:pPr>
            <a:r>
              <a:rPr lang="en-US" sz="2000" b="1" noProof="0" dirty="0">
                <a:solidFill>
                  <a:srgbClr val="FFED00"/>
                </a:solidFill>
                <a:latin typeface="Jura" panose="020B0604020202020204" charset="0"/>
                <a:ea typeface="Jura" panose="020B0604020202020204" charset="0"/>
              </a:rPr>
              <a:t>AIODP</a:t>
            </a:r>
            <a:br>
              <a:rPr lang="en-US" sz="2000" b="1" noProof="0" dirty="0">
                <a:solidFill>
                  <a:srgbClr val="FFED00"/>
                </a:solidFill>
                <a:latin typeface="Jura" panose="020B0604020202020204" charset="0"/>
                <a:ea typeface="Jura" panose="020B0604020202020204" charset="0"/>
              </a:rPr>
            </a:br>
            <a:r>
              <a:rPr lang="en-US" sz="1600" b="1" noProof="0" dirty="0">
                <a:solidFill>
                  <a:srgbClr val="FFED00"/>
                </a:solidFill>
                <a:latin typeface="Jura" panose="020B0604020202020204" charset="0"/>
                <a:ea typeface="Jura" panose="020B0604020202020204" charset="0"/>
              </a:rPr>
              <a:t>Sovereign AI Services</a:t>
            </a:r>
            <a:br>
              <a:rPr lang="en-US" sz="1600" b="1" noProof="0" dirty="0">
                <a:solidFill>
                  <a:srgbClr val="FFED00"/>
                </a:solidFill>
                <a:latin typeface="Jura" panose="020B0604020202020204" charset="0"/>
                <a:ea typeface="Jura" panose="020B0604020202020204" charset="0"/>
              </a:rPr>
            </a:br>
            <a:r>
              <a:rPr lang="en-US" sz="1600" b="1" noProof="0" dirty="0">
                <a:solidFill>
                  <a:srgbClr val="FFED00"/>
                </a:solidFill>
                <a:latin typeface="Jura" panose="020B0604020202020204" charset="0"/>
                <a:ea typeface="Jura" panose="020B0604020202020204" charset="0"/>
              </a:rPr>
              <a:t>Architecture</a:t>
            </a:r>
            <a:endParaRPr lang="en-US" sz="1200" b="1" noProof="0" dirty="0">
              <a:solidFill>
                <a:srgbClr val="FFED00"/>
              </a:solidFill>
              <a:latin typeface="Jura" panose="020B0604020202020204" charset="0"/>
              <a:ea typeface="Jura" panose="020B0604020202020204" charset="0"/>
            </a:endParaRPr>
          </a:p>
          <a:p>
            <a:pPr algn="r">
              <a:lnSpc>
                <a:spcPct val="125000"/>
              </a:lnSpc>
              <a:spcBef>
                <a:spcPts val="600"/>
              </a:spcBef>
            </a:pPr>
            <a:br>
              <a:rPr lang="en-US" b="1" noProof="0" dirty="0">
                <a:solidFill>
                  <a:schemeClr val="bg1"/>
                </a:solidFill>
                <a:latin typeface="Jura" panose="020B0604020202020204" charset="0"/>
                <a:ea typeface="Jura" panose="020B0604020202020204" charset="0"/>
              </a:rPr>
            </a:br>
            <a:r>
              <a:rPr lang="en-US" b="1" noProof="0" dirty="0">
                <a:solidFill>
                  <a:schemeClr val="bg1"/>
                </a:solidFill>
                <a:latin typeface="Jura" panose="020B0604020202020204" charset="0"/>
                <a:ea typeface="Jura" panose="020B0604020202020204" charset="0"/>
              </a:rPr>
              <a:t>Blueprint to accelerate</a:t>
            </a:r>
            <a:br>
              <a:rPr lang="en-US" b="1" noProof="0" dirty="0">
                <a:solidFill>
                  <a:schemeClr val="bg1"/>
                </a:solidFill>
                <a:latin typeface="Jura" panose="020B0604020202020204" charset="0"/>
                <a:ea typeface="Jura" panose="020B0604020202020204" charset="0"/>
              </a:rPr>
            </a:br>
            <a:r>
              <a:rPr lang="en-US" b="1" noProof="0" dirty="0">
                <a:solidFill>
                  <a:schemeClr val="bg1"/>
                </a:solidFill>
                <a:latin typeface="Jura" panose="020B0604020202020204" charset="0"/>
                <a:ea typeface="Jura" panose="020B0604020202020204" charset="0"/>
              </a:rPr>
              <a:t>European Industry’s </a:t>
            </a:r>
          </a:p>
          <a:p>
            <a:pPr algn="r">
              <a:lnSpc>
                <a:spcPct val="125000"/>
              </a:lnSpc>
              <a:spcBef>
                <a:spcPts val="600"/>
              </a:spcBef>
            </a:pPr>
            <a:r>
              <a:rPr lang="en-US" b="1" noProof="0" dirty="0">
                <a:solidFill>
                  <a:schemeClr val="bg1"/>
                </a:solidFill>
                <a:latin typeface="Jura" panose="020B0604020202020204" charset="0"/>
                <a:ea typeface="Jura" panose="020B0604020202020204" charset="0"/>
              </a:rPr>
              <a:t>AI transformation process</a:t>
            </a:r>
            <a:endParaRPr lang="en-US" sz="2800" b="1" noProof="0" dirty="0">
              <a:solidFill>
                <a:srgbClr val="FFED00"/>
              </a:solidFill>
              <a:highlight>
                <a:srgbClr val="FFFF00"/>
              </a:highlight>
              <a:latin typeface="Jura" panose="020B0604020202020204" charset="0"/>
              <a:ea typeface="Jura" panose="020B0604020202020204" charset="0"/>
            </a:endParaRPr>
          </a:p>
        </p:txBody>
      </p:sp>
      <p:sp>
        <p:nvSpPr>
          <p:cNvPr id="99" name="Title 1">
            <a:extLst>
              <a:ext uri="{FF2B5EF4-FFF2-40B4-BE49-F238E27FC236}">
                <a16:creationId xmlns:a16="http://schemas.microsoft.com/office/drawing/2014/main" id="{54A3A192-C9CE-8592-197E-2FE60F4D81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noProof="0" dirty="0"/>
              <a:t>AIODP sovereign AI service architecture (I)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38F9CB0-3916-1339-7E31-803AED8E07D7}"/>
              </a:ext>
            </a:extLst>
          </p:cNvPr>
          <p:cNvSpPr/>
          <p:nvPr/>
        </p:nvSpPr>
        <p:spPr>
          <a:xfrm>
            <a:off x="1380714" y="3567608"/>
            <a:ext cx="5330282" cy="68580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200" b="1" noProof="0" dirty="0">
                <a:solidFill>
                  <a:schemeClr val="tx2">
                    <a:lumMod val="90000"/>
                    <a:lumOff val="10000"/>
                  </a:schemeClr>
                </a:solidFill>
                <a:latin typeface="Jura" panose="020B0604020202020204" charset="0"/>
                <a:ea typeface="Jura" panose="020B0604020202020204" charset="0"/>
              </a:rPr>
              <a:t>----------Open API Layer----------</a:t>
            </a:r>
            <a:endParaRPr lang="en-US" sz="1200" noProof="0" dirty="0">
              <a:solidFill>
                <a:schemeClr val="tx2">
                  <a:lumMod val="90000"/>
                  <a:lumOff val="10000"/>
                </a:schemeClr>
              </a:solidFill>
              <a:latin typeface="Jura" panose="020B0604020202020204" charset="0"/>
              <a:ea typeface="Jura" panose="020B0604020202020204" charset="0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CDFF05D-6BC5-E580-3A37-3E037709A9A8}"/>
              </a:ext>
            </a:extLst>
          </p:cNvPr>
          <p:cNvSpPr/>
          <p:nvPr/>
        </p:nvSpPr>
        <p:spPr>
          <a:xfrm>
            <a:off x="1998794" y="3890683"/>
            <a:ext cx="4502486" cy="294379"/>
          </a:xfrm>
          <a:prstGeom prst="rect">
            <a:avLst/>
          </a:prstGeom>
          <a:noFill/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noProof="0" dirty="0">
                <a:solidFill>
                  <a:schemeClr val="tx2">
                    <a:lumMod val="90000"/>
                    <a:lumOff val="10000"/>
                  </a:schemeClr>
                </a:solidFill>
                <a:latin typeface="Jura" panose="020B0604020202020204" charset="0"/>
                <a:ea typeface="Jura" panose="020B0604020202020204" charset="0"/>
              </a:rPr>
              <a:t>GenAI Gateway – Open </a:t>
            </a:r>
            <a:r>
              <a:rPr lang="en-US" sz="12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Jura" panose="020B0604020202020204" charset="0"/>
                <a:ea typeface="Jura" panose="020B0604020202020204" charset="0"/>
              </a:rPr>
              <a:t>AI </a:t>
            </a:r>
            <a:r>
              <a:rPr lang="en-US" sz="1200" b="1" noProof="0" dirty="0">
                <a:solidFill>
                  <a:schemeClr val="tx2">
                    <a:lumMod val="90000"/>
                    <a:lumOff val="10000"/>
                  </a:schemeClr>
                </a:solidFill>
                <a:latin typeface="Jura" panose="020B0604020202020204" charset="0"/>
                <a:ea typeface="Jura" panose="020B0604020202020204" charset="0"/>
              </a:rPr>
              <a:t>Industry Bus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782B3C6C-5572-8274-62F0-A6706A3B7B73}"/>
              </a:ext>
            </a:extLst>
          </p:cNvPr>
          <p:cNvSpPr/>
          <p:nvPr/>
        </p:nvSpPr>
        <p:spPr>
          <a:xfrm>
            <a:off x="1380715" y="5106884"/>
            <a:ext cx="5330282" cy="78597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200" b="1" noProof="0" dirty="0">
                <a:solidFill>
                  <a:schemeClr val="tx2">
                    <a:lumMod val="90000"/>
                    <a:lumOff val="10000"/>
                  </a:schemeClr>
                </a:solidFill>
                <a:latin typeface="Jura" panose="020B0604020202020204" charset="0"/>
                <a:ea typeface="Jura" panose="020B0604020202020204" charset="0"/>
              </a:rPr>
              <a:t>----------Service Layer----------</a:t>
            </a:r>
            <a:endParaRPr lang="en-US" sz="1200" noProof="0" dirty="0">
              <a:solidFill>
                <a:schemeClr val="tx2">
                  <a:lumMod val="90000"/>
                  <a:lumOff val="10000"/>
                </a:schemeClr>
              </a:solidFill>
              <a:latin typeface="Jura" panose="020B0604020202020204" charset="0"/>
              <a:ea typeface="Jura" panose="020B0604020202020204" charset="0"/>
            </a:endParaRPr>
          </a:p>
        </p:txBody>
      </p:sp>
      <p:pic>
        <p:nvPicPr>
          <p:cNvPr id="22" name="Graphic 21" descr="Cloud with solid fill">
            <a:extLst>
              <a:ext uri="{FF2B5EF4-FFF2-40B4-BE49-F238E27FC236}">
                <a16:creationId xmlns:a16="http://schemas.microsoft.com/office/drawing/2014/main" id="{58D94023-9BC1-C559-D7F4-0834D7A726A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174945" y="5349043"/>
            <a:ext cx="557694" cy="370346"/>
          </a:xfrm>
          <a:prstGeom prst="rect">
            <a:avLst/>
          </a:prstGeom>
        </p:spPr>
      </p:pic>
      <p:pic>
        <p:nvPicPr>
          <p:cNvPr id="28" name="Graphic 27" descr="Processor with solid fill">
            <a:extLst>
              <a:ext uri="{FF2B5EF4-FFF2-40B4-BE49-F238E27FC236}">
                <a16:creationId xmlns:a16="http://schemas.microsoft.com/office/drawing/2014/main" id="{57FFE5D8-D3E9-2C8F-F3CB-EBC4289D515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74051" y="5374974"/>
            <a:ext cx="375529" cy="249377"/>
          </a:xfrm>
          <a:prstGeom prst="rect">
            <a:avLst/>
          </a:prstGeom>
        </p:spPr>
      </p:pic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A4241122-722E-B651-F371-09DF79923898}"/>
              </a:ext>
            </a:extLst>
          </p:cNvPr>
          <p:cNvCxnSpPr>
            <a:cxnSpLocks/>
          </p:cNvCxnSpPr>
          <p:nvPr/>
        </p:nvCxnSpPr>
        <p:spPr>
          <a:xfrm>
            <a:off x="4617032" y="5351141"/>
            <a:ext cx="0" cy="450156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8B42A396-DD89-B7A4-B159-5DE25D8871FA}"/>
              </a:ext>
            </a:extLst>
          </p:cNvPr>
          <p:cNvCxnSpPr>
            <a:cxnSpLocks/>
          </p:cNvCxnSpPr>
          <p:nvPr/>
        </p:nvCxnSpPr>
        <p:spPr>
          <a:xfrm>
            <a:off x="3115081" y="5351141"/>
            <a:ext cx="0" cy="450156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Graphic 17" descr="Binary with solid fill">
            <a:extLst>
              <a:ext uri="{FF2B5EF4-FFF2-40B4-BE49-F238E27FC236}">
                <a16:creationId xmlns:a16="http://schemas.microsoft.com/office/drawing/2014/main" id="{D1C5B387-A5EF-E403-AB8A-EE2AB638E04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58618" y="5397630"/>
            <a:ext cx="454070" cy="301533"/>
          </a:xfrm>
          <a:prstGeom prst="rect">
            <a:avLst/>
          </a:prstGeom>
        </p:spPr>
      </p:pic>
      <p:sp>
        <p:nvSpPr>
          <p:cNvPr id="78" name="TextBox 77">
            <a:extLst>
              <a:ext uri="{FF2B5EF4-FFF2-40B4-BE49-F238E27FC236}">
                <a16:creationId xmlns:a16="http://schemas.microsoft.com/office/drawing/2014/main" id="{BC1693ED-6092-E476-C014-5BC2F42C6C13}"/>
              </a:ext>
            </a:extLst>
          </p:cNvPr>
          <p:cNvSpPr txBox="1"/>
          <p:nvPr/>
        </p:nvSpPr>
        <p:spPr>
          <a:xfrm>
            <a:off x="1858300" y="5636348"/>
            <a:ext cx="1019034" cy="2099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b="1" noProof="0" dirty="0">
                <a:latin typeface="Jura" panose="020B0604020202020204" charset="0"/>
                <a:ea typeface="Jura" panose="020B0604020202020204" charset="0"/>
              </a:rPr>
              <a:t>GPU-Hosting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AD4138BC-7C88-CEF0-CE6B-8D7F5234BDC0}"/>
              </a:ext>
            </a:extLst>
          </p:cNvPr>
          <p:cNvSpPr txBox="1"/>
          <p:nvPr/>
        </p:nvSpPr>
        <p:spPr>
          <a:xfrm>
            <a:off x="5169687" y="5645488"/>
            <a:ext cx="557697" cy="2099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b="1" noProof="0" dirty="0">
                <a:latin typeface="Jura" panose="020B0604020202020204" charset="0"/>
                <a:ea typeface="Jura" panose="020B0604020202020204" charset="0"/>
              </a:rPr>
              <a:t>Cloud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BFFBAD1B-9FF4-A61E-E439-FC87D3699ACA}"/>
              </a:ext>
            </a:extLst>
          </p:cNvPr>
          <p:cNvSpPr txBox="1"/>
          <p:nvPr/>
        </p:nvSpPr>
        <p:spPr>
          <a:xfrm>
            <a:off x="3488684" y="5650280"/>
            <a:ext cx="803325" cy="2099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b="1" noProof="0" dirty="0">
                <a:latin typeface="Jura" panose="020B0604020202020204" charset="0"/>
                <a:ea typeface="Jura" panose="020B0604020202020204" charset="0"/>
              </a:rPr>
              <a:t>Inference</a:t>
            </a:r>
          </a:p>
        </p:txBody>
      </p:sp>
      <p:sp>
        <p:nvSpPr>
          <p:cNvPr id="83" name="Rectangle: Rounded Corners 82">
            <a:extLst>
              <a:ext uri="{FF2B5EF4-FFF2-40B4-BE49-F238E27FC236}">
                <a16:creationId xmlns:a16="http://schemas.microsoft.com/office/drawing/2014/main" id="{D8C8E641-0344-03EC-0181-74DF8D914907}"/>
              </a:ext>
            </a:extLst>
          </p:cNvPr>
          <p:cNvSpPr/>
          <p:nvPr/>
        </p:nvSpPr>
        <p:spPr>
          <a:xfrm>
            <a:off x="1380715" y="4330976"/>
            <a:ext cx="5330282" cy="68580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200" b="1" noProof="0" dirty="0">
                <a:solidFill>
                  <a:schemeClr val="tx2">
                    <a:lumMod val="90000"/>
                    <a:lumOff val="10000"/>
                  </a:schemeClr>
                </a:solidFill>
                <a:latin typeface="Jura" panose="020B0604020202020204" charset="0"/>
                <a:ea typeface="Jura" panose="020B0604020202020204" charset="0"/>
              </a:rPr>
              <a:t>----------Tools Layer----------</a:t>
            </a:r>
          </a:p>
        </p:txBody>
      </p: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159C1E5E-1689-2304-7365-2C54B45A89B8}"/>
              </a:ext>
            </a:extLst>
          </p:cNvPr>
          <p:cNvCxnSpPr>
            <a:cxnSpLocks/>
          </p:cNvCxnSpPr>
          <p:nvPr/>
        </p:nvCxnSpPr>
        <p:spPr>
          <a:xfrm>
            <a:off x="4603742" y="4602912"/>
            <a:ext cx="0" cy="334868"/>
          </a:xfrm>
          <a:prstGeom prst="line">
            <a:avLst/>
          </a:prstGeom>
          <a:ln w="19050">
            <a:solidFill>
              <a:schemeClr val="tx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TextBox 88">
            <a:extLst>
              <a:ext uri="{FF2B5EF4-FFF2-40B4-BE49-F238E27FC236}">
                <a16:creationId xmlns:a16="http://schemas.microsoft.com/office/drawing/2014/main" id="{D5456F0A-C188-8526-FB6F-E1E42D443049}"/>
              </a:ext>
            </a:extLst>
          </p:cNvPr>
          <p:cNvSpPr txBox="1"/>
          <p:nvPr/>
        </p:nvSpPr>
        <p:spPr>
          <a:xfrm>
            <a:off x="2000524" y="4783093"/>
            <a:ext cx="67106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b="1" noProof="0" dirty="0">
                <a:latin typeface="Jura" panose="020B0604020202020204" charset="0"/>
                <a:ea typeface="Jura" panose="020B0604020202020204" charset="0"/>
              </a:rPr>
              <a:t>DevOps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89BBCB28-A456-D065-1F60-C9523CA0B00A}"/>
              </a:ext>
            </a:extLst>
          </p:cNvPr>
          <p:cNvSpPr txBox="1"/>
          <p:nvPr/>
        </p:nvSpPr>
        <p:spPr>
          <a:xfrm>
            <a:off x="4826519" y="4783093"/>
            <a:ext cx="1697654" cy="2462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b="1" noProof="0" dirty="0">
                <a:latin typeface="Jura" panose="020B0604020202020204" charset="0"/>
                <a:ea typeface="Jura" panose="020B0604020202020204" charset="0"/>
              </a:rPr>
              <a:t>Compliance-by-Design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2F66B290-59BF-7831-2FCE-3035BCA4656E}"/>
              </a:ext>
            </a:extLst>
          </p:cNvPr>
          <p:cNvSpPr txBox="1"/>
          <p:nvPr/>
        </p:nvSpPr>
        <p:spPr>
          <a:xfrm>
            <a:off x="3493861" y="4783093"/>
            <a:ext cx="64114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b="1" noProof="0" dirty="0">
                <a:latin typeface="Jura" panose="020B0604020202020204" charset="0"/>
                <a:ea typeface="Jura" panose="020B0604020202020204" charset="0"/>
              </a:rPr>
              <a:t>Agents</a:t>
            </a:r>
          </a:p>
        </p:txBody>
      </p: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328E5DC8-70F0-DA82-AB2F-9AAEE592AE4B}"/>
              </a:ext>
            </a:extLst>
          </p:cNvPr>
          <p:cNvCxnSpPr>
            <a:cxnSpLocks/>
          </p:cNvCxnSpPr>
          <p:nvPr/>
        </p:nvCxnSpPr>
        <p:spPr>
          <a:xfrm>
            <a:off x="3115082" y="4602912"/>
            <a:ext cx="0" cy="334868"/>
          </a:xfrm>
          <a:prstGeom prst="line">
            <a:avLst/>
          </a:prstGeom>
          <a:ln w="19050">
            <a:solidFill>
              <a:schemeClr val="tx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Freihandform: Form 2">
            <a:extLst>
              <a:ext uri="{FF2B5EF4-FFF2-40B4-BE49-F238E27FC236}">
                <a16:creationId xmlns:a16="http://schemas.microsoft.com/office/drawing/2014/main" id="{BDB6700D-AEA8-0323-090E-57BC66B81897}"/>
              </a:ext>
            </a:extLst>
          </p:cNvPr>
          <p:cNvSpPr/>
          <p:nvPr/>
        </p:nvSpPr>
        <p:spPr>
          <a:xfrm>
            <a:off x="5532661" y="4574498"/>
            <a:ext cx="249684" cy="200816"/>
          </a:xfrm>
          <a:custGeom>
            <a:avLst/>
            <a:gdLst>
              <a:gd name="csX0" fmla="*/ 236975 w 249684"/>
              <a:gd name="csY0" fmla="*/ 36796 h 200816"/>
              <a:gd name="csX1" fmla="*/ 135274 w 249684"/>
              <a:gd name="csY1" fmla="*/ 3223 h 200816"/>
              <a:gd name="csX2" fmla="*/ 115841 w 249684"/>
              <a:gd name="csY2" fmla="*/ 2258 h 200816"/>
              <a:gd name="csX3" fmla="*/ 114410 w 249684"/>
              <a:gd name="csY3" fmla="*/ 3223 h 200816"/>
              <a:gd name="csX4" fmla="*/ 12709 w 249684"/>
              <a:gd name="csY4" fmla="*/ 36796 h 200816"/>
              <a:gd name="csX5" fmla="*/ 0 w 249684"/>
              <a:gd name="csY5" fmla="*/ 46282 h 200816"/>
              <a:gd name="csX6" fmla="*/ 0 w 249684"/>
              <a:gd name="csY6" fmla="*/ 70215 h 200816"/>
              <a:gd name="csX7" fmla="*/ 117163 w 249684"/>
              <a:gd name="csY7" fmla="*/ 199295 h 200816"/>
              <a:gd name="csX8" fmla="*/ 132521 w 249684"/>
              <a:gd name="csY8" fmla="*/ 199295 h 200816"/>
              <a:gd name="csX9" fmla="*/ 249684 w 249684"/>
              <a:gd name="csY9" fmla="*/ 70215 h 200816"/>
              <a:gd name="csX10" fmla="*/ 249684 w 249684"/>
              <a:gd name="csY10" fmla="*/ 46282 h 200816"/>
              <a:gd name="csX11" fmla="*/ 236975 w 249684"/>
              <a:gd name="csY11" fmla="*/ 36796 h 200816"/>
              <a:gd name="csX12" fmla="*/ 225795 w 249684"/>
              <a:gd name="csY12" fmla="*/ 70215 h 200816"/>
              <a:gd name="csX13" fmla="*/ 127983 w 249684"/>
              <a:gd name="csY13" fmla="*/ 181975 h 200816"/>
              <a:gd name="csX14" fmla="*/ 124844 w 249684"/>
              <a:gd name="csY14" fmla="*/ 183440 h 200816"/>
              <a:gd name="csX15" fmla="*/ 121709 w 249684"/>
              <a:gd name="csY15" fmla="*/ 181975 h 200816"/>
              <a:gd name="csX16" fmla="*/ 23886 w 249684"/>
              <a:gd name="csY16" fmla="*/ 70215 h 200816"/>
              <a:gd name="csX17" fmla="*/ 23886 w 249684"/>
              <a:gd name="csY17" fmla="*/ 52238 h 200816"/>
              <a:gd name="csX18" fmla="*/ 28531 w 249684"/>
              <a:gd name="csY18" fmla="*/ 51742 h 200816"/>
              <a:gd name="csX19" fmla="*/ 121106 w 249684"/>
              <a:gd name="csY19" fmla="*/ 21494 h 200816"/>
              <a:gd name="csX20" fmla="*/ 124840 w 249684"/>
              <a:gd name="csY20" fmla="*/ 19173 h 200816"/>
              <a:gd name="csX21" fmla="*/ 128578 w 249684"/>
              <a:gd name="csY21" fmla="*/ 21494 h 200816"/>
              <a:gd name="csX22" fmla="*/ 221149 w 249684"/>
              <a:gd name="csY22" fmla="*/ 51742 h 200816"/>
              <a:gd name="csX23" fmla="*/ 225795 w 249684"/>
              <a:gd name="csY23" fmla="*/ 52238 h 2008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</a:cxnLst>
            <a:rect l="l" t="t" r="r" b="b"/>
            <a:pathLst>
              <a:path w="249684" h="200816">
                <a:moveTo>
                  <a:pt x="236975" y="36796"/>
                </a:moveTo>
                <a:cubicBezTo>
                  <a:pt x="197994" y="34701"/>
                  <a:pt x="161645" y="22702"/>
                  <a:pt x="135274" y="3223"/>
                </a:cubicBezTo>
                <a:cubicBezTo>
                  <a:pt x="130303" y="-664"/>
                  <a:pt x="121603" y="-1096"/>
                  <a:pt x="115841" y="2258"/>
                </a:cubicBezTo>
                <a:cubicBezTo>
                  <a:pt x="115330" y="2555"/>
                  <a:pt x="114851" y="2878"/>
                  <a:pt x="114410" y="3223"/>
                </a:cubicBezTo>
                <a:cubicBezTo>
                  <a:pt x="88039" y="22702"/>
                  <a:pt x="51690" y="34701"/>
                  <a:pt x="12709" y="36796"/>
                </a:cubicBezTo>
                <a:cubicBezTo>
                  <a:pt x="5466" y="37254"/>
                  <a:pt x="-54" y="41374"/>
                  <a:pt x="0" y="46282"/>
                </a:cubicBezTo>
                <a:lnTo>
                  <a:pt x="0" y="70215"/>
                </a:lnTo>
                <a:cubicBezTo>
                  <a:pt x="0" y="122247"/>
                  <a:pt x="49054" y="169843"/>
                  <a:pt x="117163" y="199295"/>
                </a:cubicBezTo>
                <a:cubicBezTo>
                  <a:pt x="121841" y="201324"/>
                  <a:pt x="127843" y="201324"/>
                  <a:pt x="132521" y="199295"/>
                </a:cubicBezTo>
                <a:cubicBezTo>
                  <a:pt x="200631" y="169836"/>
                  <a:pt x="249684" y="122247"/>
                  <a:pt x="249684" y="70215"/>
                </a:cubicBezTo>
                <a:lnTo>
                  <a:pt x="249684" y="46282"/>
                </a:lnTo>
                <a:cubicBezTo>
                  <a:pt x="249738" y="41374"/>
                  <a:pt x="244218" y="37254"/>
                  <a:pt x="236975" y="36796"/>
                </a:cubicBezTo>
                <a:close/>
                <a:moveTo>
                  <a:pt x="225795" y="70215"/>
                </a:moveTo>
                <a:cubicBezTo>
                  <a:pt x="225795" y="111621"/>
                  <a:pt x="189230" y="153390"/>
                  <a:pt x="127983" y="181975"/>
                </a:cubicBezTo>
                <a:lnTo>
                  <a:pt x="124844" y="183440"/>
                </a:lnTo>
                <a:lnTo>
                  <a:pt x="121709" y="181975"/>
                </a:lnTo>
                <a:cubicBezTo>
                  <a:pt x="60458" y="153388"/>
                  <a:pt x="23886" y="111608"/>
                  <a:pt x="23886" y="70215"/>
                </a:cubicBezTo>
                <a:lnTo>
                  <a:pt x="23886" y="52238"/>
                </a:lnTo>
                <a:lnTo>
                  <a:pt x="28531" y="51742"/>
                </a:lnTo>
                <a:cubicBezTo>
                  <a:pt x="63141" y="48050"/>
                  <a:pt x="95355" y="37524"/>
                  <a:pt x="121106" y="21494"/>
                </a:cubicBezTo>
                <a:lnTo>
                  <a:pt x="124840" y="19173"/>
                </a:lnTo>
                <a:lnTo>
                  <a:pt x="128578" y="21494"/>
                </a:lnTo>
                <a:cubicBezTo>
                  <a:pt x="154328" y="37524"/>
                  <a:pt x="186541" y="48050"/>
                  <a:pt x="221149" y="51742"/>
                </a:cubicBezTo>
                <a:lnTo>
                  <a:pt x="225795" y="52238"/>
                </a:lnTo>
                <a:close/>
              </a:path>
            </a:pathLst>
          </a:custGeom>
          <a:solidFill>
            <a:schemeClr val="accent3"/>
          </a:solidFill>
          <a:ln w="3671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4" name="Freihandform: Form 3">
            <a:extLst>
              <a:ext uri="{FF2B5EF4-FFF2-40B4-BE49-F238E27FC236}">
                <a16:creationId xmlns:a16="http://schemas.microsoft.com/office/drawing/2014/main" id="{73156EB9-945C-0DA9-D907-8CD3B1E6C3C6}"/>
              </a:ext>
            </a:extLst>
          </p:cNvPr>
          <p:cNvSpPr/>
          <p:nvPr/>
        </p:nvSpPr>
        <p:spPr>
          <a:xfrm>
            <a:off x="5567572" y="4603725"/>
            <a:ext cx="179857" cy="145146"/>
          </a:xfrm>
          <a:custGeom>
            <a:avLst/>
            <a:gdLst>
              <a:gd name="csX0" fmla="*/ 89929 w 179857"/>
              <a:gd name="csY0" fmla="*/ 0 h 145146"/>
              <a:gd name="csX1" fmla="*/ 0 w 179857"/>
              <a:gd name="csY1" fmla="*/ 29316 h 145146"/>
              <a:gd name="csX2" fmla="*/ 0 w 179857"/>
              <a:gd name="csY2" fmla="*/ 40989 h 145146"/>
              <a:gd name="csX3" fmla="*/ 89933 w 179857"/>
              <a:gd name="csY3" fmla="*/ 145146 h 145146"/>
              <a:gd name="csX4" fmla="*/ 179858 w 179857"/>
              <a:gd name="csY4" fmla="*/ 40989 h 145146"/>
              <a:gd name="csX5" fmla="*/ 179858 w 179857"/>
              <a:gd name="csY5" fmla="*/ 29316 h 145146"/>
              <a:gd name="csX6" fmla="*/ 89929 w 179857"/>
              <a:gd name="csY6" fmla="*/ 0 h 145146"/>
              <a:gd name="csX7" fmla="*/ 80491 w 179857"/>
              <a:gd name="csY7" fmla="*/ 96806 h 145146"/>
              <a:gd name="csX8" fmla="*/ 43327 w 179857"/>
              <a:gd name="csY8" fmla="*/ 71733 h 145146"/>
              <a:gd name="csX9" fmla="*/ 55955 w 179857"/>
              <a:gd name="csY9" fmla="*/ 63214 h 145146"/>
              <a:gd name="csX10" fmla="*/ 80491 w 179857"/>
              <a:gd name="csY10" fmla="*/ 79766 h 145146"/>
              <a:gd name="csX11" fmla="*/ 130739 w 179857"/>
              <a:gd name="csY11" fmla="*/ 45868 h 145146"/>
              <a:gd name="csX12" fmla="*/ 143367 w 179857"/>
              <a:gd name="csY12" fmla="*/ 54390 h 14514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79857" h="145146">
                <a:moveTo>
                  <a:pt x="89929" y="0"/>
                </a:moveTo>
                <a:cubicBezTo>
                  <a:pt x="64412" y="15055"/>
                  <a:pt x="33342" y="25184"/>
                  <a:pt x="0" y="29316"/>
                </a:cubicBezTo>
                <a:lnTo>
                  <a:pt x="0" y="40989"/>
                </a:lnTo>
                <a:cubicBezTo>
                  <a:pt x="0" y="79238"/>
                  <a:pt x="33544" y="118005"/>
                  <a:pt x="89933" y="145146"/>
                </a:cubicBezTo>
                <a:cubicBezTo>
                  <a:pt x="146314" y="118010"/>
                  <a:pt x="179858" y="79240"/>
                  <a:pt x="179858" y="40989"/>
                </a:cubicBezTo>
                <a:lnTo>
                  <a:pt x="179858" y="29316"/>
                </a:lnTo>
                <a:cubicBezTo>
                  <a:pt x="146516" y="25184"/>
                  <a:pt x="115446" y="15055"/>
                  <a:pt x="89929" y="0"/>
                </a:cubicBezTo>
                <a:close/>
                <a:moveTo>
                  <a:pt x="80491" y="96806"/>
                </a:moveTo>
                <a:lnTo>
                  <a:pt x="43327" y="71733"/>
                </a:lnTo>
                <a:lnTo>
                  <a:pt x="55955" y="63214"/>
                </a:lnTo>
                <a:lnTo>
                  <a:pt x="80491" y="79766"/>
                </a:lnTo>
                <a:lnTo>
                  <a:pt x="130739" y="45868"/>
                </a:lnTo>
                <a:lnTo>
                  <a:pt x="143367" y="54390"/>
                </a:lnTo>
                <a:close/>
              </a:path>
            </a:pathLst>
          </a:custGeom>
          <a:solidFill>
            <a:schemeClr val="tx1"/>
          </a:solidFill>
          <a:ln w="3671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5" name="Graphic 11" descr="Wrench with solid fill">
            <a:extLst>
              <a:ext uri="{FF2B5EF4-FFF2-40B4-BE49-F238E27FC236}">
                <a16:creationId xmlns:a16="http://schemas.microsoft.com/office/drawing/2014/main" id="{2F784C44-05C4-CF52-2E4F-EBE65B9E3387}"/>
              </a:ext>
            </a:extLst>
          </p:cNvPr>
          <p:cNvSpPr/>
          <p:nvPr/>
        </p:nvSpPr>
        <p:spPr>
          <a:xfrm>
            <a:off x="2174835" y="4563996"/>
            <a:ext cx="310084" cy="209765"/>
          </a:xfrm>
          <a:custGeom>
            <a:avLst/>
            <a:gdLst>
              <a:gd name="csX0" fmla="*/ 275318 w 310084"/>
              <a:gd name="csY0" fmla="*/ 45158 h 209765"/>
              <a:gd name="csX1" fmla="*/ 250275 w 310084"/>
              <a:gd name="csY1" fmla="*/ 40637 h 209765"/>
              <a:gd name="csX2" fmla="*/ 243574 w 310084"/>
              <a:gd name="csY2" fmla="*/ 23743 h 209765"/>
              <a:gd name="csX3" fmla="*/ 275318 w 310084"/>
              <a:gd name="csY3" fmla="*/ 2327 h 209765"/>
              <a:gd name="csX4" fmla="*/ 219942 w 310084"/>
              <a:gd name="csY4" fmla="*/ 9466 h 209765"/>
              <a:gd name="csX5" fmla="*/ 204422 w 310084"/>
              <a:gd name="csY5" fmla="*/ 45872 h 209765"/>
              <a:gd name="csX6" fmla="*/ 67569 w 310084"/>
              <a:gd name="csY6" fmla="*/ 138196 h 209765"/>
              <a:gd name="csX7" fmla="*/ 13956 w 310084"/>
              <a:gd name="csY7" fmla="*/ 148903 h 209765"/>
              <a:gd name="csX8" fmla="*/ 3374 w 310084"/>
              <a:gd name="csY8" fmla="*/ 186023 h 209765"/>
              <a:gd name="csX9" fmla="*/ 35119 w 310084"/>
              <a:gd name="csY9" fmla="*/ 164608 h 209765"/>
              <a:gd name="csX10" fmla="*/ 59809 w 310084"/>
              <a:gd name="csY10" fmla="*/ 169129 h 209765"/>
              <a:gd name="csX11" fmla="*/ 66510 w 310084"/>
              <a:gd name="csY11" fmla="*/ 186023 h 209765"/>
              <a:gd name="csX12" fmla="*/ 34766 w 310084"/>
              <a:gd name="csY12" fmla="*/ 207438 h 209765"/>
              <a:gd name="csX13" fmla="*/ 90142 w 310084"/>
              <a:gd name="csY13" fmla="*/ 200300 h 209765"/>
              <a:gd name="csX14" fmla="*/ 105662 w 310084"/>
              <a:gd name="csY14" fmla="*/ 163894 h 209765"/>
              <a:gd name="csX15" fmla="*/ 242516 w 310084"/>
              <a:gd name="csY15" fmla="*/ 71570 h 209765"/>
              <a:gd name="csX16" fmla="*/ 296128 w 310084"/>
              <a:gd name="csY16" fmla="*/ 60862 h 209765"/>
              <a:gd name="csX17" fmla="*/ 306710 w 310084"/>
              <a:gd name="csY17" fmla="*/ 23743 h 209765"/>
              <a:gd name="csX18" fmla="*/ 275318 w 310084"/>
              <a:gd name="csY18" fmla="*/ 45158 h 20976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310084" h="209765">
                <a:moveTo>
                  <a:pt x="275318" y="45158"/>
                </a:moveTo>
                <a:lnTo>
                  <a:pt x="250275" y="40637"/>
                </a:lnTo>
                <a:lnTo>
                  <a:pt x="243574" y="23743"/>
                </a:lnTo>
                <a:lnTo>
                  <a:pt x="275318" y="2327"/>
                </a:lnTo>
                <a:cubicBezTo>
                  <a:pt x="256271" y="-2432"/>
                  <a:pt x="235108" y="186"/>
                  <a:pt x="219942" y="9466"/>
                </a:cubicBezTo>
                <a:cubicBezTo>
                  <a:pt x="205128" y="18746"/>
                  <a:pt x="198779" y="32785"/>
                  <a:pt x="204422" y="45872"/>
                </a:cubicBezTo>
                <a:lnTo>
                  <a:pt x="67569" y="138196"/>
                </a:lnTo>
                <a:cubicBezTo>
                  <a:pt x="48169" y="134626"/>
                  <a:pt x="27359" y="138909"/>
                  <a:pt x="13956" y="148903"/>
                </a:cubicBezTo>
                <a:cubicBezTo>
                  <a:pt x="553" y="158897"/>
                  <a:pt x="-3680" y="173174"/>
                  <a:pt x="3374" y="186023"/>
                </a:cubicBezTo>
                <a:lnTo>
                  <a:pt x="35119" y="164608"/>
                </a:lnTo>
                <a:lnTo>
                  <a:pt x="59809" y="169129"/>
                </a:lnTo>
                <a:lnTo>
                  <a:pt x="66510" y="186023"/>
                </a:lnTo>
                <a:lnTo>
                  <a:pt x="34766" y="207438"/>
                </a:lnTo>
                <a:cubicBezTo>
                  <a:pt x="53813" y="212197"/>
                  <a:pt x="74976" y="209580"/>
                  <a:pt x="90142" y="200300"/>
                </a:cubicBezTo>
                <a:cubicBezTo>
                  <a:pt x="104956" y="191020"/>
                  <a:pt x="111305" y="176981"/>
                  <a:pt x="105662" y="163894"/>
                </a:cubicBezTo>
                <a:lnTo>
                  <a:pt x="242516" y="71570"/>
                </a:lnTo>
                <a:cubicBezTo>
                  <a:pt x="261915" y="75139"/>
                  <a:pt x="282725" y="70856"/>
                  <a:pt x="296128" y="60862"/>
                </a:cubicBezTo>
                <a:cubicBezTo>
                  <a:pt x="309531" y="50869"/>
                  <a:pt x="313764" y="36592"/>
                  <a:pt x="306710" y="23743"/>
                </a:cubicBezTo>
                <a:lnTo>
                  <a:pt x="275318" y="45158"/>
                </a:lnTo>
                <a:close/>
              </a:path>
            </a:pathLst>
          </a:custGeom>
          <a:solidFill>
            <a:schemeClr val="tx1"/>
          </a:solidFill>
          <a:ln w="3473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8" name="Freihandform: Form 7">
            <a:extLst>
              <a:ext uri="{FF2B5EF4-FFF2-40B4-BE49-F238E27FC236}">
                <a16:creationId xmlns:a16="http://schemas.microsoft.com/office/drawing/2014/main" id="{AB24EB91-4A3B-3905-C261-6BE0C19ADFF6}"/>
              </a:ext>
            </a:extLst>
          </p:cNvPr>
          <p:cNvSpPr/>
          <p:nvPr/>
        </p:nvSpPr>
        <p:spPr>
          <a:xfrm>
            <a:off x="3800719" y="4761259"/>
            <a:ext cx="169303" cy="35692"/>
          </a:xfrm>
          <a:custGeom>
            <a:avLst/>
            <a:gdLst>
              <a:gd name="csX0" fmla="*/ 142850 w 169303"/>
              <a:gd name="csY0" fmla="*/ 0 h 35692"/>
              <a:gd name="csX1" fmla="*/ 26454 w 169303"/>
              <a:gd name="csY1" fmla="*/ 0 h 35692"/>
              <a:gd name="csX2" fmla="*/ 0 w 169303"/>
              <a:gd name="csY2" fmla="*/ 17846 h 35692"/>
              <a:gd name="csX3" fmla="*/ 26454 w 169303"/>
              <a:gd name="csY3" fmla="*/ 35692 h 35692"/>
              <a:gd name="csX4" fmla="*/ 142850 w 169303"/>
              <a:gd name="csY4" fmla="*/ 35692 h 35692"/>
              <a:gd name="csX5" fmla="*/ 169304 w 169303"/>
              <a:gd name="csY5" fmla="*/ 17846 h 35692"/>
              <a:gd name="csX6" fmla="*/ 142850 w 169303"/>
              <a:gd name="csY6" fmla="*/ 0 h 35692"/>
              <a:gd name="csX7" fmla="*/ 33508 w 169303"/>
              <a:gd name="csY7" fmla="*/ 24985 h 35692"/>
              <a:gd name="csX8" fmla="*/ 22927 w 169303"/>
              <a:gd name="csY8" fmla="*/ 17846 h 35692"/>
              <a:gd name="csX9" fmla="*/ 33508 w 169303"/>
              <a:gd name="csY9" fmla="*/ 10708 h 35692"/>
              <a:gd name="csX10" fmla="*/ 44089 w 169303"/>
              <a:gd name="csY10" fmla="*/ 17846 h 35692"/>
              <a:gd name="csX11" fmla="*/ 33508 w 169303"/>
              <a:gd name="csY11" fmla="*/ 24985 h 35692"/>
              <a:gd name="csX12" fmla="*/ 84652 w 169303"/>
              <a:gd name="csY12" fmla="*/ 24985 h 35692"/>
              <a:gd name="csX13" fmla="*/ 74070 w 169303"/>
              <a:gd name="csY13" fmla="*/ 17846 h 35692"/>
              <a:gd name="csX14" fmla="*/ 84652 w 169303"/>
              <a:gd name="csY14" fmla="*/ 10708 h 35692"/>
              <a:gd name="csX15" fmla="*/ 95233 w 169303"/>
              <a:gd name="csY15" fmla="*/ 17846 h 35692"/>
              <a:gd name="csX16" fmla="*/ 84652 w 169303"/>
              <a:gd name="csY16" fmla="*/ 24985 h 35692"/>
              <a:gd name="csX17" fmla="*/ 135796 w 169303"/>
              <a:gd name="csY17" fmla="*/ 24985 h 35692"/>
              <a:gd name="csX18" fmla="*/ 125214 w 169303"/>
              <a:gd name="csY18" fmla="*/ 17846 h 35692"/>
              <a:gd name="csX19" fmla="*/ 135796 w 169303"/>
              <a:gd name="csY19" fmla="*/ 10708 h 35692"/>
              <a:gd name="csX20" fmla="*/ 146377 w 169303"/>
              <a:gd name="csY20" fmla="*/ 17846 h 35692"/>
              <a:gd name="csX21" fmla="*/ 135796 w 169303"/>
              <a:gd name="csY21" fmla="*/ 24985 h 3569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169303" h="35692">
                <a:moveTo>
                  <a:pt x="142850" y="0"/>
                </a:moveTo>
                <a:lnTo>
                  <a:pt x="26454" y="0"/>
                </a:lnTo>
                <a:cubicBezTo>
                  <a:pt x="11844" y="0"/>
                  <a:pt x="0" y="7990"/>
                  <a:pt x="0" y="17846"/>
                </a:cubicBezTo>
                <a:cubicBezTo>
                  <a:pt x="0" y="27702"/>
                  <a:pt x="11844" y="35692"/>
                  <a:pt x="26454" y="35692"/>
                </a:cubicBezTo>
                <a:lnTo>
                  <a:pt x="142850" y="35692"/>
                </a:lnTo>
                <a:cubicBezTo>
                  <a:pt x="157460" y="35692"/>
                  <a:pt x="169304" y="27702"/>
                  <a:pt x="169304" y="17846"/>
                </a:cubicBezTo>
                <a:cubicBezTo>
                  <a:pt x="169304" y="7990"/>
                  <a:pt x="157460" y="0"/>
                  <a:pt x="142850" y="0"/>
                </a:cubicBezTo>
                <a:close/>
                <a:moveTo>
                  <a:pt x="33508" y="24985"/>
                </a:moveTo>
                <a:cubicBezTo>
                  <a:pt x="27664" y="24985"/>
                  <a:pt x="22927" y="21789"/>
                  <a:pt x="22927" y="17846"/>
                </a:cubicBezTo>
                <a:cubicBezTo>
                  <a:pt x="22927" y="13904"/>
                  <a:pt x="27664" y="10708"/>
                  <a:pt x="33508" y="10708"/>
                </a:cubicBezTo>
                <a:cubicBezTo>
                  <a:pt x="39352" y="10708"/>
                  <a:pt x="44089" y="13904"/>
                  <a:pt x="44089" y="17846"/>
                </a:cubicBezTo>
                <a:cubicBezTo>
                  <a:pt x="44089" y="21789"/>
                  <a:pt x="39352" y="24985"/>
                  <a:pt x="33508" y="24985"/>
                </a:cubicBezTo>
                <a:close/>
                <a:moveTo>
                  <a:pt x="84652" y="24985"/>
                </a:moveTo>
                <a:cubicBezTo>
                  <a:pt x="78808" y="24985"/>
                  <a:pt x="74070" y="21789"/>
                  <a:pt x="74070" y="17846"/>
                </a:cubicBezTo>
                <a:cubicBezTo>
                  <a:pt x="74070" y="13904"/>
                  <a:pt x="78808" y="10708"/>
                  <a:pt x="84652" y="10708"/>
                </a:cubicBezTo>
                <a:cubicBezTo>
                  <a:pt x="90496" y="10708"/>
                  <a:pt x="95233" y="13904"/>
                  <a:pt x="95233" y="17846"/>
                </a:cubicBezTo>
                <a:cubicBezTo>
                  <a:pt x="95233" y="21789"/>
                  <a:pt x="90496" y="24985"/>
                  <a:pt x="84652" y="24985"/>
                </a:cubicBezTo>
                <a:close/>
                <a:moveTo>
                  <a:pt x="135796" y="24985"/>
                </a:moveTo>
                <a:cubicBezTo>
                  <a:pt x="129951" y="24985"/>
                  <a:pt x="125214" y="21789"/>
                  <a:pt x="125214" y="17846"/>
                </a:cubicBezTo>
                <a:cubicBezTo>
                  <a:pt x="125214" y="13904"/>
                  <a:pt x="129951" y="10708"/>
                  <a:pt x="135796" y="10708"/>
                </a:cubicBezTo>
                <a:cubicBezTo>
                  <a:pt x="141640" y="10708"/>
                  <a:pt x="146377" y="13904"/>
                  <a:pt x="146377" y="17846"/>
                </a:cubicBezTo>
                <a:cubicBezTo>
                  <a:pt x="146377" y="21789"/>
                  <a:pt x="141640" y="24985"/>
                  <a:pt x="135796" y="24985"/>
                </a:cubicBezTo>
                <a:close/>
              </a:path>
            </a:pathLst>
          </a:custGeom>
          <a:solidFill>
            <a:schemeClr val="tx1"/>
          </a:solidFill>
          <a:ln w="3473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22ABBCFD-911C-E7AF-5FCD-8FD8D1BC19E8}"/>
              </a:ext>
            </a:extLst>
          </p:cNvPr>
          <p:cNvSpPr/>
          <p:nvPr/>
        </p:nvSpPr>
        <p:spPr>
          <a:xfrm>
            <a:off x="3899162" y="4652993"/>
            <a:ext cx="10581" cy="7138"/>
          </a:xfrm>
          <a:prstGeom prst="ellipse">
            <a:avLst/>
          </a:prstGeom>
          <a:solidFill>
            <a:schemeClr val="accent3"/>
          </a:solidFill>
          <a:ln w="3473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1" name="Freihandform: Form 10">
            <a:extLst>
              <a:ext uri="{FF2B5EF4-FFF2-40B4-BE49-F238E27FC236}">
                <a16:creationId xmlns:a16="http://schemas.microsoft.com/office/drawing/2014/main" id="{9FD172BC-E27D-88EF-3100-8C3123344094}"/>
              </a:ext>
            </a:extLst>
          </p:cNvPr>
          <p:cNvSpPr/>
          <p:nvPr/>
        </p:nvSpPr>
        <p:spPr>
          <a:xfrm>
            <a:off x="3839800" y="4604178"/>
            <a:ext cx="91706" cy="76178"/>
          </a:xfrm>
          <a:custGeom>
            <a:avLst/>
            <a:gdLst>
              <a:gd name="csX0" fmla="*/ 76222 w 91706"/>
              <a:gd name="csY0" fmla="*/ 28589 h 76178"/>
              <a:gd name="csX1" fmla="*/ 52907 w 91706"/>
              <a:gd name="csY1" fmla="*/ 28589 h 76178"/>
              <a:gd name="csX2" fmla="*/ 52907 w 91706"/>
              <a:gd name="csY2" fmla="*/ 17762 h 76178"/>
              <a:gd name="csX3" fmla="*/ 58071 w 91706"/>
              <a:gd name="csY3" fmla="*/ 4761 h 76178"/>
              <a:gd name="csX4" fmla="*/ 38799 w 91706"/>
              <a:gd name="csY4" fmla="*/ 1277 h 76178"/>
              <a:gd name="csX5" fmla="*/ 33635 w 91706"/>
              <a:gd name="csY5" fmla="*/ 14278 h 76178"/>
              <a:gd name="csX6" fmla="*/ 38799 w 91706"/>
              <a:gd name="csY6" fmla="*/ 17762 h 76178"/>
              <a:gd name="csX7" fmla="*/ 38799 w 91706"/>
              <a:gd name="csY7" fmla="*/ 28589 h 76178"/>
              <a:gd name="csX8" fmla="*/ 15484 w 91706"/>
              <a:gd name="csY8" fmla="*/ 28589 h 76178"/>
              <a:gd name="csX9" fmla="*/ 0 w 91706"/>
              <a:gd name="csY9" fmla="*/ 39035 h 76178"/>
              <a:gd name="csX10" fmla="*/ 0 w 91706"/>
              <a:gd name="csY10" fmla="*/ 65733 h 76178"/>
              <a:gd name="csX11" fmla="*/ 15484 w 91706"/>
              <a:gd name="csY11" fmla="*/ 76178 h 76178"/>
              <a:gd name="csX12" fmla="*/ 76222 w 91706"/>
              <a:gd name="csY12" fmla="*/ 76178 h 76178"/>
              <a:gd name="csX13" fmla="*/ 91706 w 91706"/>
              <a:gd name="csY13" fmla="*/ 65733 h 76178"/>
              <a:gd name="csX14" fmla="*/ 91706 w 91706"/>
              <a:gd name="csY14" fmla="*/ 39035 h 76178"/>
              <a:gd name="csX15" fmla="*/ 76222 w 91706"/>
              <a:gd name="csY15" fmla="*/ 28589 h 76178"/>
              <a:gd name="csX16" fmla="*/ 28217 w 91706"/>
              <a:gd name="csY16" fmla="*/ 59522 h 76178"/>
              <a:gd name="csX17" fmla="*/ 17636 w 91706"/>
              <a:gd name="csY17" fmla="*/ 52384 h 76178"/>
              <a:gd name="csX18" fmla="*/ 28217 w 91706"/>
              <a:gd name="csY18" fmla="*/ 45245 h 76178"/>
              <a:gd name="csX19" fmla="*/ 38799 w 91706"/>
              <a:gd name="csY19" fmla="*/ 52384 h 76178"/>
              <a:gd name="csX20" fmla="*/ 28217 w 91706"/>
              <a:gd name="csY20" fmla="*/ 59522 h 76178"/>
              <a:gd name="csX21" fmla="*/ 63489 w 91706"/>
              <a:gd name="csY21" fmla="*/ 59522 h 76178"/>
              <a:gd name="csX22" fmla="*/ 52907 w 91706"/>
              <a:gd name="csY22" fmla="*/ 52384 h 76178"/>
              <a:gd name="csX23" fmla="*/ 63489 w 91706"/>
              <a:gd name="csY23" fmla="*/ 45245 h 76178"/>
              <a:gd name="csX24" fmla="*/ 74070 w 91706"/>
              <a:gd name="csY24" fmla="*/ 52384 h 76178"/>
              <a:gd name="csX25" fmla="*/ 63489 w 91706"/>
              <a:gd name="csY25" fmla="*/ 59522 h 7617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</a:cxnLst>
            <a:rect l="l" t="t" r="r" b="b"/>
            <a:pathLst>
              <a:path w="91706" h="76178">
                <a:moveTo>
                  <a:pt x="76222" y="28589"/>
                </a:moveTo>
                <a:lnTo>
                  <a:pt x="52907" y="28589"/>
                </a:lnTo>
                <a:lnTo>
                  <a:pt x="52907" y="17762"/>
                </a:lnTo>
                <a:cubicBezTo>
                  <a:pt x="59656" y="15134"/>
                  <a:pt x="61968" y="9313"/>
                  <a:pt x="58071" y="4761"/>
                </a:cubicBezTo>
                <a:cubicBezTo>
                  <a:pt x="54175" y="208"/>
                  <a:pt x="45547" y="-1352"/>
                  <a:pt x="38799" y="1277"/>
                </a:cubicBezTo>
                <a:cubicBezTo>
                  <a:pt x="32051" y="3905"/>
                  <a:pt x="29739" y="9726"/>
                  <a:pt x="33635" y="14278"/>
                </a:cubicBezTo>
                <a:cubicBezTo>
                  <a:pt x="34873" y="15725"/>
                  <a:pt x="36654" y="16927"/>
                  <a:pt x="38799" y="17762"/>
                </a:cubicBezTo>
                <a:lnTo>
                  <a:pt x="38799" y="28589"/>
                </a:lnTo>
                <a:lnTo>
                  <a:pt x="15484" y="28589"/>
                </a:lnTo>
                <a:cubicBezTo>
                  <a:pt x="6941" y="28602"/>
                  <a:pt x="19" y="33271"/>
                  <a:pt x="0" y="39035"/>
                </a:cubicBezTo>
                <a:lnTo>
                  <a:pt x="0" y="65733"/>
                </a:lnTo>
                <a:cubicBezTo>
                  <a:pt x="19" y="71496"/>
                  <a:pt x="6941" y="76165"/>
                  <a:pt x="15484" y="76178"/>
                </a:cubicBezTo>
                <a:lnTo>
                  <a:pt x="76222" y="76178"/>
                </a:lnTo>
                <a:cubicBezTo>
                  <a:pt x="84765" y="76165"/>
                  <a:pt x="91687" y="71496"/>
                  <a:pt x="91706" y="65733"/>
                </a:cubicBezTo>
                <a:lnTo>
                  <a:pt x="91706" y="39035"/>
                </a:lnTo>
                <a:cubicBezTo>
                  <a:pt x="91687" y="33271"/>
                  <a:pt x="84765" y="28602"/>
                  <a:pt x="76222" y="28589"/>
                </a:cubicBezTo>
                <a:close/>
                <a:moveTo>
                  <a:pt x="28217" y="59522"/>
                </a:moveTo>
                <a:cubicBezTo>
                  <a:pt x="22373" y="59522"/>
                  <a:pt x="17636" y="56326"/>
                  <a:pt x="17636" y="52384"/>
                </a:cubicBezTo>
                <a:cubicBezTo>
                  <a:pt x="17636" y="48441"/>
                  <a:pt x="22373" y="45245"/>
                  <a:pt x="28217" y="45245"/>
                </a:cubicBezTo>
                <a:cubicBezTo>
                  <a:pt x="34061" y="45245"/>
                  <a:pt x="38799" y="48441"/>
                  <a:pt x="38799" y="52384"/>
                </a:cubicBezTo>
                <a:cubicBezTo>
                  <a:pt x="38799" y="56326"/>
                  <a:pt x="34061" y="59522"/>
                  <a:pt x="28217" y="59522"/>
                </a:cubicBezTo>
                <a:close/>
                <a:moveTo>
                  <a:pt x="63489" y="59522"/>
                </a:moveTo>
                <a:cubicBezTo>
                  <a:pt x="57645" y="59522"/>
                  <a:pt x="52907" y="56326"/>
                  <a:pt x="52907" y="52384"/>
                </a:cubicBezTo>
                <a:cubicBezTo>
                  <a:pt x="52907" y="48441"/>
                  <a:pt x="57645" y="45245"/>
                  <a:pt x="63489" y="45245"/>
                </a:cubicBezTo>
                <a:cubicBezTo>
                  <a:pt x="69333" y="45245"/>
                  <a:pt x="74070" y="48441"/>
                  <a:pt x="74070" y="52384"/>
                </a:cubicBezTo>
                <a:cubicBezTo>
                  <a:pt x="74070" y="56326"/>
                  <a:pt x="69333" y="59522"/>
                  <a:pt x="63489" y="59522"/>
                </a:cubicBezTo>
                <a:close/>
              </a:path>
            </a:pathLst>
          </a:custGeom>
          <a:solidFill>
            <a:schemeClr val="tx1"/>
          </a:solidFill>
          <a:ln w="3473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9" name="Ellipse 18">
            <a:extLst>
              <a:ext uri="{FF2B5EF4-FFF2-40B4-BE49-F238E27FC236}">
                <a16:creationId xmlns:a16="http://schemas.microsoft.com/office/drawing/2014/main" id="{E8D6DFC6-AEA5-31E8-2F0F-112EDBFE7DC8}"/>
              </a:ext>
            </a:extLst>
          </p:cNvPr>
          <p:cNvSpPr/>
          <p:nvPr/>
        </p:nvSpPr>
        <p:spPr>
          <a:xfrm>
            <a:off x="3863890" y="4652993"/>
            <a:ext cx="10581" cy="7138"/>
          </a:xfrm>
          <a:prstGeom prst="ellipse">
            <a:avLst/>
          </a:prstGeom>
          <a:solidFill>
            <a:schemeClr val="accent3"/>
          </a:solidFill>
          <a:ln w="3473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1" name="Freihandform: Form 20">
            <a:extLst>
              <a:ext uri="{FF2B5EF4-FFF2-40B4-BE49-F238E27FC236}">
                <a16:creationId xmlns:a16="http://schemas.microsoft.com/office/drawing/2014/main" id="{8E013FBC-D08B-7B67-AABF-F8C6FD26D959}"/>
              </a:ext>
            </a:extLst>
          </p:cNvPr>
          <p:cNvSpPr/>
          <p:nvPr/>
        </p:nvSpPr>
        <p:spPr>
          <a:xfrm>
            <a:off x="3771665" y="4655777"/>
            <a:ext cx="221548" cy="99105"/>
          </a:xfrm>
          <a:custGeom>
            <a:avLst/>
            <a:gdLst>
              <a:gd name="csX0" fmla="*/ 205694 w 221548"/>
              <a:gd name="csY0" fmla="*/ 74121 h 99105"/>
              <a:gd name="csX1" fmla="*/ 205694 w 221548"/>
              <a:gd name="csY1" fmla="*/ 54300 h 99105"/>
              <a:gd name="csX2" fmla="*/ 189857 w 221548"/>
              <a:gd name="csY2" fmla="*/ 43616 h 99105"/>
              <a:gd name="csX3" fmla="*/ 170422 w 221548"/>
              <a:gd name="csY3" fmla="*/ 43616 h 99105"/>
              <a:gd name="csX4" fmla="*/ 170422 w 221548"/>
              <a:gd name="csY4" fmla="*/ 31718 h 99105"/>
              <a:gd name="csX5" fmla="*/ 57553 w 221548"/>
              <a:gd name="csY5" fmla="*/ 31718 h 99105"/>
              <a:gd name="csX6" fmla="*/ 57553 w 221548"/>
              <a:gd name="csY6" fmla="*/ 45995 h 99105"/>
              <a:gd name="csX7" fmla="*/ 31064 w 221548"/>
              <a:gd name="csY7" fmla="*/ 45995 h 99105"/>
              <a:gd name="csX8" fmla="*/ 29336 w 221548"/>
              <a:gd name="csY8" fmla="*/ 44829 h 99105"/>
              <a:gd name="csX9" fmla="*/ 29336 w 221548"/>
              <a:gd name="csY9" fmla="*/ 25104 h 99105"/>
              <a:gd name="csX10" fmla="*/ 44807 w 221548"/>
              <a:gd name="csY10" fmla="*/ 5919 h 99105"/>
              <a:gd name="csX11" fmla="*/ 39918 w 221548"/>
              <a:gd name="csY11" fmla="*/ 0 h 99105"/>
              <a:gd name="csX12" fmla="*/ 29336 w 221548"/>
              <a:gd name="csY12" fmla="*/ 6329 h 99105"/>
              <a:gd name="csX13" fmla="*/ 31699 w 221548"/>
              <a:gd name="csY13" fmla="*/ 10303 h 99105"/>
              <a:gd name="csX14" fmla="*/ 22833 w 221548"/>
              <a:gd name="csY14" fmla="*/ 16219 h 99105"/>
              <a:gd name="csX15" fmla="*/ 14064 w 221548"/>
              <a:gd name="csY15" fmla="*/ 10238 h 99105"/>
              <a:gd name="csX16" fmla="*/ 16215 w 221548"/>
              <a:gd name="csY16" fmla="*/ 6377 h 99105"/>
              <a:gd name="csX17" fmla="*/ 5634 w 221548"/>
              <a:gd name="csY17" fmla="*/ 119 h 99105"/>
              <a:gd name="csX18" fmla="*/ 7875 w 221548"/>
              <a:gd name="csY18" fmla="*/ 21940 h 99105"/>
              <a:gd name="csX19" fmla="*/ 15227 w 221548"/>
              <a:gd name="csY19" fmla="*/ 24842 h 99105"/>
              <a:gd name="csX20" fmla="*/ 15227 w 221548"/>
              <a:gd name="csY20" fmla="*/ 44829 h 99105"/>
              <a:gd name="csX21" fmla="*/ 31064 w 221548"/>
              <a:gd name="csY21" fmla="*/ 55513 h 99105"/>
              <a:gd name="csX22" fmla="*/ 57553 w 221548"/>
              <a:gd name="csY22" fmla="*/ 55513 h 99105"/>
              <a:gd name="csX23" fmla="*/ 57553 w 221548"/>
              <a:gd name="csY23" fmla="*/ 98344 h 99105"/>
              <a:gd name="csX24" fmla="*/ 170422 w 221548"/>
              <a:gd name="csY24" fmla="*/ 98344 h 99105"/>
              <a:gd name="csX25" fmla="*/ 170422 w 221548"/>
              <a:gd name="csY25" fmla="*/ 53134 h 99105"/>
              <a:gd name="csX26" fmla="*/ 189857 w 221548"/>
              <a:gd name="csY26" fmla="*/ 53134 h 99105"/>
              <a:gd name="csX27" fmla="*/ 191585 w 221548"/>
              <a:gd name="csY27" fmla="*/ 54300 h 99105"/>
              <a:gd name="csX28" fmla="*/ 191585 w 221548"/>
              <a:gd name="csY28" fmla="*/ 74121 h 99105"/>
              <a:gd name="csX29" fmla="*/ 176828 w 221548"/>
              <a:gd name="csY29" fmla="*/ 93597 h 99105"/>
              <a:gd name="csX30" fmla="*/ 181498 w 221548"/>
              <a:gd name="csY30" fmla="*/ 99105 h 99105"/>
              <a:gd name="csX31" fmla="*/ 192079 w 221548"/>
              <a:gd name="csY31" fmla="*/ 92776 h 99105"/>
              <a:gd name="csX32" fmla="*/ 189822 w 221548"/>
              <a:gd name="csY32" fmla="*/ 88826 h 99105"/>
              <a:gd name="csX33" fmla="*/ 198647 w 221548"/>
              <a:gd name="csY33" fmla="*/ 82882 h 99105"/>
              <a:gd name="csX34" fmla="*/ 207457 w 221548"/>
              <a:gd name="csY34" fmla="*/ 88836 h 99105"/>
              <a:gd name="csX35" fmla="*/ 205271 w 221548"/>
              <a:gd name="csY35" fmla="*/ 92752 h 99105"/>
              <a:gd name="csX36" fmla="*/ 215852 w 221548"/>
              <a:gd name="csY36" fmla="*/ 99010 h 99105"/>
              <a:gd name="csX37" fmla="*/ 213768 w 221548"/>
              <a:gd name="csY37" fmla="*/ 77216 h 99105"/>
              <a:gd name="csX38" fmla="*/ 205694 w 221548"/>
              <a:gd name="csY38" fmla="*/ 74121 h 99105"/>
              <a:gd name="csX39" fmla="*/ 156314 w 221548"/>
              <a:gd name="csY39" fmla="*/ 65031 h 99105"/>
              <a:gd name="csX40" fmla="*/ 146508 w 221548"/>
              <a:gd name="csY40" fmla="*/ 65031 h 99105"/>
              <a:gd name="csX41" fmla="*/ 145556 w 221548"/>
              <a:gd name="csY41" fmla="*/ 65293 h 99105"/>
              <a:gd name="csX42" fmla="*/ 134763 w 221548"/>
              <a:gd name="csY42" fmla="*/ 72741 h 99105"/>
              <a:gd name="csX43" fmla="*/ 126545 w 221548"/>
              <a:gd name="csY43" fmla="*/ 59606 h 99105"/>
              <a:gd name="csX44" fmla="*/ 111201 w 221548"/>
              <a:gd name="csY44" fmla="*/ 81021 h 99105"/>
              <a:gd name="csX45" fmla="*/ 100444 w 221548"/>
              <a:gd name="csY45" fmla="*/ 53134 h 99105"/>
              <a:gd name="csX46" fmla="*/ 92155 w 221548"/>
              <a:gd name="csY46" fmla="*/ 65031 h 99105"/>
              <a:gd name="csX47" fmla="*/ 75189 w 221548"/>
              <a:gd name="csY47" fmla="*/ 65031 h 99105"/>
              <a:gd name="csX48" fmla="*/ 75189 w 221548"/>
              <a:gd name="csY48" fmla="*/ 60272 h 99105"/>
              <a:gd name="csX49" fmla="*/ 87675 w 221548"/>
              <a:gd name="csY49" fmla="*/ 60272 h 99105"/>
              <a:gd name="csX50" fmla="*/ 102348 w 221548"/>
              <a:gd name="csY50" fmla="*/ 39214 h 99105"/>
              <a:gd name="csX51" fmla="*/ 113212 w 221548"/>
              <a:gd name="csY51" fmla="*/ 67244 h 99105"/>
              <a:gd name="csX52" fmla="*/ 127003 w 221548"/>
              <a:gd name="csY52" fmla="*/ 48208 h 99105"/>
              <a:gd name="csX53" fmla="*/ 137161 w 221548"/>
              <a:gd name="csY53" fmla="*/ 64436 h 99105"/>
              <a:gd name="csX54" fmla="*/ 140688 w 221548"/>
              <a:gd name="csY54" fmla="*/ 62057 h 99105"/>
              <a:gd name="csX55" fmla="*/ 146508 w 221548"/>
              <a:gd name="csY55" fmla="*/ 60272 h 99105"/>
              <a:gd name="csX56" fmla="*/ 156314 w 221548"/>
              <a:gd name="csY56" fmla="*/ 60272 h 9910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</a:cxnLst>
            <a:rect l="l" t="t" r="r" b="b"/>
            <a:pathLst>
              <a:path w="221548" h="99105">
                <a:moveTo>
                  <a:pt x="205694" y="74121"/>
                </a:moveTo>
                <a:lnTo>
                  <a:pt x="205694" y="54300"/>
                </a:lnTo>
                <a:cubicBezTo>
                  <a:pt x="205694" y="48399"/>
                  <a:pt x="198604" y="43616"/>
                  <a:pt x="189857" y="43616"/>
                </a:cubicBezTo>
                <a:lnTo>
                  <a:pt x="170422" y="43616"/>
                </a:lnTo>
                <a:lnTo>
                  <a:pt x="170422" y="31718"/>
                </a:lnTo>
                <a:lnTo>
                  <a:pt x="57553" y="31718"/>
                </a:lnTo>
                <a:lnTo>
                  <a:pt x="57553" y="45995"/>
                </a:lnTo>
                <a:lnTo>
                  <a:pt x="31064" y="45995"/>
                </a:lnTo>
                <a:cubicBezTo>
                  <a:pt x="30110" y="45995"/>
                  <a:pt x="29336" y="45473"/>
                  <a:pt x="29336" y="44829"/>
                </a:cubicBezTo>
                <a:lnTo>
                  <a:pt x="29336" y="25104"/>
                </a:lnTo>
                <a:cubicBezTo>
                  <a:pt x="41461" y="22688"/>
                  <a:pt x="48387" y="14099"/>
                  <a:pt x="44807" y="5919"/>
                </a:cubicBezTo>
                <a:cubicBezTo>
                  <a:pt x="43846" y="3726"/>
                  <a:pt x="42177" y="1705"/>
                  <a:pt x="39918" y="0"/>
                </a:cubicBezTo>
                <a:lnTo>
                  <a:pt x="29336" y="6329"/>
                </a:lnTo>
                <a:cubicBezTo>
                  <a:pt x="30816" y="7415"/>
                  <a:pt x="31657" y="8828"/>
                  <a:pt x="31699" y="10303"/>
                </a:cubicBezTo>
                <a:cubicBezTo>
                  <a:pt x="31673" y="13588"/>
                  <a:pt x="27703" y="16237"/>
                  <a:pt x="22833" y="16219"/>
                </a:cubicBezTo>
                <a:cubicBezTo>
                  <a:pt x="17963" y="16201"/>
                  <a:pt x="14037" y="13524"/>
                  <a:pt x="14064" y="10238"/>
                </a:cubicBezTo>
                <a:cubicBezTo>
                  <a:pt x="14075" y="8819"/>
                  <a:pt x="14838" y="7450"/>
                  <a:pt x="16215" y="6377"/>
                </a:cubicBezTo>
                <a:lnTo>
                  <a:pt x="5634" y="119"/>
                </a:lnTo>
                <a:cubicBezTo>
                  <a:pt x="-2680" y="6562"/>
                  <a:pt x="-1676" y="16332"/>
                  <a:pt x="7875" y="21940"/>
                </a:cubicBezTo>
                <a:cubicBezTo>
                  <a:pt x="10035" y="23208"/>
                  <a:pt x="12529" y="24193"/>
                  <a:pt x="15227" y="24842"/>
                </a:cubicBezTo>
                <a:lnTo>
                  <a:pt x="15227" y="44829"/>
                </a:lnTo>
                <a:cubicBezTo>
                  <a:pt x="15227" y="50730"/>
                  <a:pt x="22318" y="55513"/>
                  <a:pt x="31064" y="55513"/>
                </a:cubicBezTo>
                <a:lnTo>
                  <a:pt x="57553" y="55513"/>
                </a:lnTo>
                <a:lnTo>
                  <a:pt x="57553" y="98344"/>
                </a:lnTo>
                <a:lnTo>
                  <a:pt x="170422" y="98344"/>
                </a:lnTo>
                <a:lnTo>
                  <a:pt x="170422" y="53134"/>
                </a:lnTo>
                <a:lnTo>
                  <a:pt x="189857" y="53134"/>
                </a:lnTo>
                <a:cubicBezTo>
                  <a:pt x="190811" y="53134"/>
                  <a:pt x="191585" y="53656"/>
                  <a:pt x="191585" y="54300"/>
                </a:cubicBezTo>
                <a:lnTo>
                  <a:pt x="191585" y="74121"/>
                </a:lnTo>
                <a:cubicBezTo>
                  <a:pt x="179538" y="76750"/>
                  <a:pt x="172931" y="85470"/>
                  <a:pt x="176828" y="93597"/>
                </a:cubicBezTo>
                <a:cubicBezTo>
                  <a:pt x="177804" y="95631"/>
                  <a:pt x="179394" y="97507"/>
                  <a:pt x="181498" y="99105"/>
                </a:cubicBezTo>
                <a:lnTo>
                  <a:pt x="192079" y="92776"/>
                </a:lnTo>
                <a:cubicBezTo>
                  <a:pt x="190620" y="91697"/>
                  <a:pt x="189814" y="90287"/>
                  <a:pt x="189822" y="88826"/>
                </a:cubicBezTo>
                <a:cubicBezTo>
                  <a:pt x="189826" y="85541"/>
                  <a:pt x="193777" y="82879"/>
                  <a:pt x="198647" y="82882"/>
                </a:cubicBezTo>
                <a:cubicBezTo>
                  <a:pt x="203517" y="82885"/>
                  <a:pt x="207462" y="85551"/>
                  <a:pt x="207457" y="88836"/>
                </a:cubicBezTo>
                <a:cubicBezTo>
                  <a:pt x="207456" y="90277"/>
                  <a:pt x="206679" y="91668"/>
                  <a:pt x="205271" y="92752"/>
                </a:cubicBezTo>
                <a:lnTo>
                  <a:pt x="215852" y="99010"/>
                </a:lnTo>
                <a:cubicBezTo>
                  <a:pt x="224198" y="92604"/>
                  <a:pt x="223265" y="82846"/>
                  <a:pt x="213768" y="77216"/>
                </a:cubicBezTo>
                <a:cubicBezTo>
                  <a:pt x="211419" y="75823"/>
                  <a:pt x="208670" y="74769"/>
                  <a:pt x="205694" y="74121"/>
                </a:cubicBezTo>
                <a:close/>
                <a:moveTo>
                  <a:pt x="156314" y="65031"/>
                </a:moveTo>
                <a:lnTo>
                  <a:pt x="146508" y="65031"/>
                </a:lnTo>
                <a:cubicBezTo>
                  <a:pt x="146167" y="65072"/>
                  <a:pt x="145843" y="65162"/>
                  <a:pt x="145556" y="65293"/>
                </a:cubicBezTo>
                <a:lnTo>
                  <a:pt x="134763" y="72741"/>
                </a:lnTo>
                <a:lnTo>
                  <a:pt x="126545" y="59606"/>
                </a:lnTo>
                <a:lnTo>
                  <a:pt x="111201" y="81021"/>
                </a:lnTo>
                <a:lnTo>
                  <a:pt x="100444" y="53134"/>
                </a:lnTo>
                <a:lnTo>
                  <a:pt x="92155" y="65031"/>
                </a:lnTo>
                <a:lnTo>
                  <a:pt x="75189" y="65031"/>
                </a:lnTo>
                <a:lnTo>
                  <a:pt x="75189" y="60272"/>
                </a:lnTo>
                <a:lnTo>
                  <a:pt x="87675" y="60272"/>
                </a:lnTo>
                <a:lnTo>
                  <a:pt x="102348" y="39214"/>
                </a:lnTo>
                <a:lnTo>
                  <a:pt x="113212" y="67244"/>
                </a:lnTo>
                <a:lnTo>
                  <a:pt x="127003" y="48208"/>
                </a:lnTo>
                <a:lnTo>
                  <a:pt x="137161" y="64436"/>
                </a:lnTo>
                <a:lnTo>
                  <a:pt x="140688" y="62057"/>
                </a:lnTo>
                <a:cubicBezTo>
                  <a:pt x="142237" y="60999"/>
                  <a:pt x="144309" y="60364"/>
                  <a:pt x="146508" y="60272"/>
                </a:cubicBezTo>
                <a:lnTo>
                  <a:pt x="156314" y="60272"/>
                </a:lnTo>
                <a:close/>
              </a:path>
            </a:pathLst>
          </a:custGeom>
          <a:solidFill>
            <a:schemeClr val="tx1"/>
          </a:solidFill>
          <a:ln w="3473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49E6EFF0-B012-7800-53FA-11150C6D7494}"/>
              </a:ext>
            </a:extLst>
          </p:cNvPr>
          <p:cNvSpPr/>
          <p:nvPr/>
        </p:nvSpPr>
        <p:spPr>
          <a:xfrm>
            <a:off x="1380714" y="2040872"/>
            <a:ext cx="5330282" cy="68580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200" b="1" noProof="0" dirty="0">
                <a:solidFill>
                  <a:schemeClr val="bg2">
                    <a:lumMod val="50000"/>
                  </a:schemeClr>
                </a:solidFill>
                <a:latin typeface="Jura" panose="020B0604020202020204" charset="0"/>
                <a:ea typeface="Jura" panose="020B0604020202020204" charset="0"/>
              </a:rPr>
              <a:t> </a:t>
            </a:r>
            <a:r>
              <a:rPr lang="en-US" sz="1200" b="1" noProof="0" dirty="0">
                <a:solidFill>
                  <a:schemeClr val="tx2">
                    <a:lumMod val="90000"/>
                    <a:lumOff val="10000"/>
                  </a:schemeClr>
                </a:solidFill>
                <a:latin typeface="Jura" panose="020B0604020202020204" charset="0"/>
                <a:ea typeface="Jura" panose="020B0604020202020204" charset="0"/>
              </a:rPr>
              <a:t>----------Model Layer----------</a:t>
            </a:r>
            <a:endParaRPr lang="en-US" sz="1200" noProof="0" dirty="0">
              <a:solidFill>
                <a:schemeClr val="tx2">
                  <a:lumMod val="90000"/>
                  <a:lumOff val="10000"/>
                </a:schemeClr>
              </a:solidFill>
              <a:latin typeface="Jura" panose="020B0604020202020204" charset="0"/>
              <a:ea typeface="Jura" panose="020B0604020202020204" charset="0"/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D7D0BE99-5BFC-AA51-8145-B92C1C655ED2}"/>
              </a:ext>
            </a:extLst>
          </p:cNvPr>
          <p:cNvSpPr/>
          <p:nvPr/>
        </p:nvSpPr>
        <p:spPr>
          <a:xfrm>
            <a:off x="1998793" y="2322061"/>
            <a:ext cx="4502486" cy="294379"/>
          </a:xfrm>
          <a:prstGeom prst="rect">
            <a:avLst/>
          </a:prstGeom>
          <a:noFill/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noProof="0" dirty="0">
                <a:solidFill>
                  <a:schemeClr val="tx2">
                    <a:lumMod val="90000"/>
                    <a:lumOff val="10000"/>
                  </a:schemeClr>
                </a:solidFill>
                <a:latin typeface="Jura" panose="020B0604020202020204" charset="0"/>
                <a:ea typeface="Jura" panose="020B0604020202020204" charset="0"/>
              </a:rPr>
              <a:t>Open-Source Model Portfolio (LXP, FH, IONOS, LUMI)</a:t>
            </a:r>
          </a:p>
        </p:txBody>
      </p:sp>
      <p:grpSp>
        <p:nvGrpSpPr>
          <p:cNvPr id="13" name="Gruppieren 12">
            <a:extLst>
              <a:ext uri="{FF2B5EF4-FFF2-40B4-BE49-F238E27FC236}">
                <a16:creationId xmlns:a16="http://schemas.microsoft.com/office/drawing/2014/main" id="{D96C7F4D-2B2C-B163-56B6-3BBD6FCCC33A}"/>
              </a:ext>
            </a:extLst>
          </p:cNvPr>
          <p:cNvGrpSpPr/>
          <p:nvPr/>
        </p:nvGrpSpPr>
        <p:grpSpPr>
          <a:xfrm>
            <a:off x="1599293" y="2304153"/>
            <a:ext cx="370925" cy="297986"/>
            <a:chOff x="1589768" y="2304153"/>
            <a:chExt cx="370925" cy="297986"/>
          </a:xfrm>
          <a:solidFill>
            <a:schemeClr val="tx1"/>
          </a:solidFill>
        </p:grpSpPr>
        <p:pic>
          <p:nvPicPr>
            <p:cNvPr id="15" name="Graphic 1" descr="Database with solid fill">
              <a:extLst>
                <a:ext uri="{FF2B5EF4-FFF2-40B4-BE49-F238E27FC236}">
                  <a16:creationId xmlns:a16="http://schemas.microsoft.com/office/drawing/2014/main" id="{27CF273F-CF51-1D92-668F-30E099BC25C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589768" y="2383960"/>
              <a:ext cx="149178" cy="218179"/>
            </a:xfrm>
            <a:prstGeom prst="rect">
              <a:avLst/>
            </a:prstGeom>
          </p:spPr>
        </p:pic>
        <p:pic>
          <p:nvPicPr>
            <p:cNvPr id="16" name="Graphic 2" descr="Database with solid fill">
              <a:extLst>
                <a:ext uri="{FF2B5EF4-FFF2-40B4-BE49-F238E27FC236}">
                  <a16:creationId xmlns:a16="http://schemas.microsoft.com/office/drawing/2014/main" id="{CA1DA68B-4D4D-3FDF-46B3-271082AD86D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811515" y="2377748"/>
              <a:ext cx="149178" cy="218179"/>
            </a:xfrm>
            <a:prstGeom prst="rect">
              <a:avLst/>
            </a:prstGeom>
          </p:spPr>
        </p:pic>
        <p:pic>
          <p:nvPicPr>
            <p:cNvPr id="17" name="Graphic 3" descr="Database with solid fill">
              <a:extLst>
                <a:ext uri="{FF2B5EF4-FFF2-40B4-BE49-F238E27FC236}">
                  <a16:creationId xmlns:a16="http://schemas.microsoft.com/office/drawing/2014/main" id="{A8D1B5B4-1573-7D0C-BE8A-B81D255CBC9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700641" y="2304153"/>
              <a:ext cx="149178" cy="218179"/>
            </a:xfrm>
            <a:prstGeom prst="rect">
              <a:avLst/>
            </a:prstGeom>
          </p:spPr>
        </p:pic>
      </p:grpSp>
      <p:sp>
        <p:nvSpPr>
          <p:cNvPr id="70" name="Rectangle: Rounded Corners 69">
            <a:extLst>
              <a:ext uri="{FF2B5EF4-FFF2-40B4-BE49-F238E27FC236}">
                <a16:creationId xmlns:a16="http://schemas.microsoft.com/office/drawing/2014/main" id="{9921B7BF-9987-C98F-4C00-6057EBD88522}"/>
              </a:ext>
            </a:extLst>
          </p:cNvPr>
          <p:cNvSpPr/>
          <p:nvPr/>
        </p:nvSpPr>
        <p:spPr>
          <a:xfrm>
            <a:off x="1380714" y="2804240"/>
            <a:ext cx="5330282" cy="68580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200" b="1" noProof="0" dirty="0">
                <a:solidFill>
                  <a:schemeClr val="tx2">
                    <a:lumMod val="90000"/>
                    <a:lumOff val="10000"/>
                  </a:schemeClr>
                </a:solidFill>
                <a:latin typeface="Jura" panose="020B0604020202020204" charset="0"/>
                <a:ea typeface="Jura" panose="020B0604020202020204" charset="0"/>
              </a:rPr>
              <a:t>----------Platform Layer----------</a:t>
            </a:r>
            <a:endParaRPr lang="en-US" sz="1200" noProof="0" dirty="0">
              <a:solidFill>
                <a:schemeClr val="tx2">
                  <a:lumMod val="90000"/>
                  <a:lumOff val="10000"/>
                </a:schemeClr>
              </a:solidFill>
              <a:latin typeface="Jura" panose="020B0604020202020204" charset="0"/>
              <a:ea typeface="Jura" panose="020B0604020202020204" charset="0"/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BCD951EA-467E-8945-E48A-A14BAD5F176E}"/>
              </a:ext>
            </a:extLst>
          </p:cNvPr>
          <p:cNvSpPr/>
          <p:nvPr/>
        </p:nvSpPr>
        <p:spPr>
          <a:xfrm>
            <a:off x="2003072" y="3125874"/>
            <a:ext cx="4510571" cy="294379"/>
          </a:xfrm>
          <a:prstGeom prst="rect">
            <a:avLst/>
          </a:prstGeom>
          <a:noFill/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noProof="0" dirty="0">
                <a:solidFill>
                  <a:schemeClr val="tx2">
                    <a:lumMod val="90000"/>
                    <a:lumOff val="10000"/>
                  </a:schemeClr>
                </a:solidFill>
                <a:latin typeface="Jura" panose="020B0604020202020204" charset="0"/>
                <a:ea typeface="Jura" panose="020B0604020202020204" charset="0"/>
              </a:rPr>
              <a:t>LXP-</a:t>
            </a:r>
            <a:r>
              <a:rPr lang="en-US" sz="1200" b="1" noProof="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Jura" panose="020B0604020202020204" charset="0"/>
                <a:ea typeface="Jura" panose="020B0604020202020204" charset="0"/>
              </a:rPr>
              <a:t>Flinky</a:t>
            </a:r>
            <a:r>
              <a:rPr lang="en-US" sz="1200" b="1" noProof="0" dirty="0">
                <a:solidFill>
                  <a:schemeClr val="tx2">
                    <a:lumMod val="90000"/>
                    <a:lumOff val="10000"/>
                  </a:schemeClr>
                </a:solidFill>
                <a:latin typeface="Jura" panose="020B0604020202020204" charset="0"/>
                <a:ea typeface="Jura" panose="020B0604020202020204" charset="0"/>
              </a:rPr>
              <a:t> / Fraunhofer FMH</a:t>
            </a:r>
          </a:p>
        </p:txBody>
      </p:sp>
      <p:pic>
        <p:nvPicPr>
          <p:cNvPr id="20" name="Graphic 58" descr="Internet Of Things with solid fill">
            <a:extLst>
              <a:ext uri="{FF2B5EF4-FFF2-40B4-BE49-F238E27FC236}">
                <a16:creationId xmlns:a16="http://schemas.microsoft.com/office/drawing/2014/main" id="{1956CD91-2B73-F1A6-399E-0E5DD23D68B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48238" y="3015165"/>
            <a:ext cx="363748" cy="363748"/>
          </a:xfrm>
          <a:prstGeom prst="rect">
            <a:avLst/>
          </a:prstGeom>
        </p:spPr>
      </p:pic>
      <p:pic>
        <p:nvPicPr>
          <p:cNvPr id="7" name="Picture 109" descr="The image depicts a cloud icon with interconnected gears, symbolizing an API (Application Programming Interface).&#10;&#10;KI-generierte Inhalte können fehlerhaft sein.">
            <a:extLst>
              <a:ext uri="{FF2B5EF4-FFF2-40B4-BE49-F238E27FC236}">
                <a16:creationId xmlns:a16="http://schemas.microsoft.com/office/drawing/2014/main" id="{F44A859A-B056-2EE9-2234-0D605AE0E39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1548238" y="3825850"/>
            <a:ext cx="345797" cy="38730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0" name="Fußzeilenplatzhalter 4">
            <a:extLst>
              <a:ext uri="{FF2B5EF4-FFF2-40B4-BE49-F238E27FC236}">
                <a16:creationId xmlns:a16="http://schemas.microsoft.com/office/drawing/2014/main" id="{042FB1D3-8A79-794C-716D-856EA7561D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742537" y="6365875"/>
            <a:ext cx="78500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rgbClr val="FFFFFF"/>
                </a:solidFill>
                <a:latin typeface="Jura" panose="020B0604020202020204" charset="0"/>
                <a:ea typeface="Jura" panose="020B0604020202020204" charset="0"/>
              </a:defRPr>
            </a:lvl1pPr>
          </a:lstStyle>
          <a:p>
            <a:r>
              <a:rPr lang="en-US" dirty="0"/>
              <a:t>DeployAI EU Review – Technical Part – September 15, 2026   |   © aspect partners GmbH &amp; Co KG | Private &amp; Confidential</a:t>
            </a:r>
          </a:p>
        </p:txBody>
      </p:sp>
    </p:spTree>
    <p:extLst>
      <p:ext uri="{BB962C8B-B14F-4D97-AF65-F5344CB8AC3E}">
        <p14:creationId xmlns:p14="http://schemas.microsoft.com/office/powerpoint/2010/main" val="23573432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7B559A9-969B-2CCE-0AFF-729A9DC51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noProof="0" dirty="0"/>
              <a:t>AIODP sovereign service architecture (II)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8C9F6CEC-3529-30EF-E82C-290BE7D96D46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6838950" y="1286423"/>
            <a:ext cx="5025948" cy="4946650"/>
          </a:xfr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anchor="ctr">
            <a:normAutofit/>
          </a:bodyPr>
          <a:lstStyle/>
          <a:p>
            <a:pPr marL="342900" indent="-342900">
              <a:buClr>
                <a:srgbClr val="FFED00"/>
              </a:buClr>
              <a:buFont typeface="+mj-lt"/>
              <a:buAutoNum type="arabicPeriod" startAt="3"/>
            </a:pPr>
            <a:r>
              <a:rPr lang="en-US" sz="1600" b="1" noProof="0" dirty="0">
                <a:solidFill>
                  <a:srgbClr val="FFED00"/>
                </a:solidFill>
              </a:rPr>
              <a:t>Open API Layer</a:t>
            </a:r>
          </a:p>
          <a:p>
            <a:pPr marL="628650" lvl="1" indent="-188913">
              <a:buFont typeface="+mj-lt"/>
              <a:buAutoNum type="alphaLcPeriod"/>
              <a:tabLst>
                <a:tab pos="628650" algn="l"/>
              </a:tabLst>
            </a:pPr>
            <a:r>
              <a:rPr lang="en-US" sz="1200" noProof="0" dirty="0"/>
              <a:t>GenAI Gateway as a unified access layer</a:t>
            </a:r>
          </a:p>
          <a:p>
            <a:pPr marL="628650" lvl="1" indent="-188913">
              <a:buFont typeface="+mj-lt"/>
              <a:buAutoNum type="alphaLcPeriod"/>
              <a:tabLst>
                <a:tab pos="628650" algn="l"/>
              </a:tabLst>
            </a:pPr>
            <a:r>
              <a:rPr lang="en-US" sz="1200" noProof="0" dirty="0"/>
              <a:t>OpenAI-compatible API</a:t>
            </a:r>
          </a:p>
          <a:p>
            <a:pPr marL="628650" lvl="1" indent="-188913">
              <a:buFont typeface="+mj-lt"/>
              <a:buAutoNum type="alphaLcPeriod"/>
              <a:tabLst>
                <a:tab pos="628650" algn="l"/>
              </a:tabLst>
            </a:pPr>
            <a:r>
              <a:rPr lang="en-US" sz="1200" noProof="0" dirty="0"/>
              <a:t>Tool calling, structured outputs, embeddings, vision</a:t>
            </a:r>
            <a:endParaRPr lang="en-US" sz="1400" b="1" noProof="0" dirty="0">
              <a:solidFill>
                <a:schemeClr val="accent2"/>
              </a:solidFill>
            </a:endParaRPr>
          </a:p>
          <a:p>
            <a:pPr>
              <a:buClr>
                <a:srgbClr val="FFFF00"/>
              </a:buClr>
              <a:buFont typeface="+mj-lt"/>
              <a:buAutoNum type="arabicPeriod" startAt="4"/>
            </a:pPr>
            <a:r>
              <a:rPr lang="en-US" sz="1600" b="1" noProof="0" dirty="0">
                <a:solidFill>
                  <a:srgbClr val="FFED00"/>
                </a:solidFill>
              </a:rPr>
              <a:t>Tools Layer</a:t>
            </a:r>
          </a:p>
          <a:p>
            <a:pPr marL="782638" lvl="1" indent="-342900">
              <a:buFont typeface="+mj-lt"/>
              <a:buAutoNum type="alphaLcPeriod"/>
            </a:pPr>
            <a:r>
              <a:rPr lang="en-US" sz="1200" noProof="0" dirty="0"/>
              <a:t>DevOps</a:t>
            </a:r>
          </a:p>
          <a:p>
            <a:pPr marL="782638" lvl="1" indent="-342900">
              <a:buFont typeface="+mj-lt"/>
              <a:buAutoNum type="alphaLcPeriod"/>
            </a:pPr>
            <a:r>
              <a:rPr lang="en-US" sz="1200" noProof="0" dirty="0"/>
              <a:t>Agents</a:t>
            </a:r>
          </a:p>
          <a:p>
            <a:pPr marL="782638" lvl="1" indent="-342900">
              <a:buFont typeface="+mj-lt"/>
              <a:buAutoNum type="alphaLcPeriod"/>
            </a:pPr>
            <a:r>
              <a:rPr lang="en-US" sz="1200" noProof="0" dirty="0"/>
              <a:t>Compliance-by-Design</a:t>
            </a:r>
          </a:p>
          <a:p>
            <a:pPr marL="782638" lvl="1" indent="-342900">
              <a:buFont typeface="+mj-lt"/>
              <a:buAutoNum type="alphaLcPeriod"/>
            </a:pPr>
            <a:r>
              <a:rPr lang="en-US" sz="1200" noProof="0" dirty="0"/>
              <a:t>Monitoring, logging, governance</a:t>
            </a:r>
          </a:p>
          <a:p>
            <a:pPr>
              <a:buClr>
                <a:srgbClr val="FFED00"/>
              </a:buClr>
              <a:buAutoNum type="arabicPeriod" startAt="4"/>
            </a:pPr>
            <a:r>
              <a:rPr lang="en-US" sz="1600" b="1" noProof="0" dirty="0">
                <a:solidFill>
                  <a:srgbClr val="FFED00"/>
                </a:solidFill>
              </a:rPr>
              <a:t>Service Layer</a:t>
            </a:r>
          </a:p>
          <a:p>
            <a:pPr marL="782638" lvl="1" indent="-342900">
              <a:buFont typeface="+mj-lt"/>
              <a:buAutoNum type="alphaLcPeriod"/>
            </a:pPr>
            <a:r>
              <a:rPr lang="en-US" sz="1200" noProof="0" dirty="0"/>
              <a:t>GPU Hosting</a:t>
            </a:r>
          </a:p>
          <a:p>
            <a:pPr marL="782638" lvl="1" indent="-342900">
              <a:buFont typeface="+mj-lt"/>
              <a:buAutoNum type="alphaLcPeriod"/>
            </a:pPr>
            <a:r>
              <a:rPr lang="en-US" sz="1200" noProof="0" dirty="0"/>
              <a:t>Cloud and inference services</a:t>
            </a:r>
          </a:p>
          <a:p>
            <a:pPr marL="782638" lvl="1" indent="-342900">
              <a:buFont typeface="+mj-lt"/>
              <a:buAutoNum type="alphaLcPeriod"/>
            </a:pPr>
            <a:r>
              <a:rPr lang="en-US" sz="1200" noProof="0" dirty="0"/>
              <a:t>AI factories and industrial providers</a:t>
            </a:r>
          </a:p>
          <a:p>
            <a:pPr marL="782638" lvl="1" indent="-342900">
              <a:buFont typeface="+mj-lt"/>
              <a:buAutoNum type="alphaLcPeriod"/>
            </a:pPr>
            <a:r>
              <a:rPr lang="en-US" sz="1200" noProof="0" dirty="0"/>
              <a:t>On-demand or permanently hosted models</a:t>
            </a:r>
            <a:endParaRPr lang="en-US" noProof="0" dirty="0"/>
          </a:p>
        </p:txBody>
      </p:sp>
      <p:sp>
        <p:nvSpPr>
          <p:cNvPr id="7" name="Textplatzhalter 5">
            <a:extLst>
              <a:ext uri="{FF2B5EF4-FFF2-40B4-BE49-F238E27FC236}">
                <a16:creationId xmlns:a16="http://schemas.microsoft.com/office/drawing/2014/main" id="{E0D4497E-1363-4F79-0237-C2B52A3E70B6}"/>
              </a:ext>
            </a:extLst>
          </p:cNvPr>
          <p:cNvSpPr txBox="1">
            <a:spLocks/>
          </p:cNvSpPr>
          <p:nvPr/>
        </p:nvSpPr>
        <p:spPr>
          <a:xfrm>
            <a:off x="838200" y="1286423"/>
            <a:ext cx="5448300" cy="494665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8300" algn="l" rtl="0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  <a:buClr>
                <a:schemeClr val="bg1"/>
              </a:buClr>
              <a:buSzPct val="80000"/>
              <a:buFont typeface="Arial"/>
              <a:buAutoNum type="arabicPeriod"/>
              <a:defRPr sz="1800" b="0" i="0" u="none" strike="noStrike" cap="none">
                <a:solidFill>
                  <a:schemeClr val="bg1"/>
                </a:solidFill>
                <a:latin typeface="Jura" panose="020B0604020202020204" charset="0"/>
                <a:ea typeface="Jura" panose="020B0604020202020204" charset="0"/>
                <a:cs typeface="Arial"/>
                <a:sym typeface="Arial"/>
              </a:defRPr>
            </a:lvl1pPr>
            <a:lvl2pPr marL="808038" marR="0" lvl="1" indent="-236538" algn="l" rtl="0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ct val="80000"/>
              <a:buFont typeface="Arial"/>
              <a:buChar char="•"/>
              <a:defRPr sz="1600" b="0" i="0" u="none" strike="noStrike" cap="none">
                <a:solidFill>
                  <a:schemeClr val="bg1"/>
                </a:solidFill>
                <a:latin typeface="Jura" panose="020B0604020202020204" charset="0"/>
                <a:ea typeface="Jura" panose="020B0604020202020204" charset="0"/>
                <a:cs typeface="Arial"/>
                <a:sym typeface="Arial"/>
              </a:defRPr>
            </a:lvl2pPr>
            <a:lvl3pPr marL="1163638" marR="0" lvl="2" indent="-134938" algn="l" rtl="0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ct val="80000"/>
              <a:buFont typeface="Arial"/>
              <a:buChar char="•"/>
              <a:defRPr sz="1200" b="0" i="0" u="none" strike="noStrike" cap="none">
                <a:solidFill>
                  <a:schemeClr val="bg1"/>
                </a:solidFill>
                <a:latin typeface="Jura" panose="020B0604020202020204" charset="0"/>
                <a:ea typeface="Jura" panose="020B0604020202020204" charset="0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>
              <a:buClr>
                <a:srgbClr val="FFED00"/>
              </a:buClr>
              <a:buSzPct val="100000"/>
            </a:pPr>
            <a:r>
              <a:rPr lang="en-US" sz="1600" b="1" noProof="0" dirty="0">
                <a:solidFill>
                  <a:srgbClr val="FFED00"/>
                </a:solidFill>
              </a:rPr>
              <a:t>Model Layer</a:t>
            </a:r>
          </a:p>
          <a:p>
            <a:pPr marL="628650" lvl="1" indent="-188913">
              <a:buFont typeface="+mj-lt"/>
              <a:buAutoNum type="alphaLcPeriod"/>
            </a:pPr>
            <a:r>
              <a:rPr lang="en-US" sz="1200" noProof="0" dirty="0"/>
              <a:t>Open-Source Model Portfolio</a:t>
            </a:r>
          </a:p>
          <a:p>
            <a:pPr marL="628650" lvl="1" indent="-188913">
              <a:buFont typeface="+mj-lt"/>
              <a:buAutoNum type="alphaLcPeriod"/>
            </a:pPr>
            <a:r>
              <a:rPr lang="en-US" sz="1200" noProof="0" dirty="0"/>
              <a:t>European and international models</a:t>
            </a:r>
          </a:p>
          <a:p>
            <a:pPr marL="628650" lvl="1" indent="-188913">
              <a:buFont typeface="+mj-lt"/>
              <a:buAutoNum type="alphaLcPeriod"/>
            </a:pPr>
            <a:r>
              <a:rPr lang="en-US" sz="1200" noProof="0" dirty="0"/>
              <a:t>LLMs, VLMs, embeddings, OCR, code models</a:t>
            </a:r>
          </a:p>
          <a:p>
            <a:pPr marL="628650" lvl="1" indent="-188913">
              <a:buFont typeface="+mj-lt"/>
              <a:buAutoNum type="alphaLcPeriod"/>
            </a:pPr>
            <a:r>
              <a:rPr lang="en-US" sz="1200" noProof="0" dirty="0"/>
              <a:t>Model maps, license information, and evaluation data</a:t>
            </a:r>
          </a:p>
          <a:p>
            <a:pPr>
              <a:buClr>
                <a:srgbClr val="FFED00"/>
              </a:buClr>
              <a:buSzPct val="100000"/>
            </a:pPr>
            <a:r>
              <a:rPr lang="en-US" sz="1600" b="1" noProof="0" dirty="0">
                <a:solidFill>
                  <a:srgbClr val="FFED00"/>
                </a:solidFill>
              </a:rPr>
              <a:t>Platform Layer</a:t>
            </a:r>
          </a:p>
          <a:p>
            <a:pPr marL="628650" lvl="1" indent="-188913">
              <a:buFont typeface="+mj-lt"/>
              <a:buAutoNum type="alphaLcPeriod"/>
            </a:pPr>
            <a:r>
              <a:rPr lang="en-US" sz="1200" noProof="0" dirty="0"/>
              <a:t>AIODP Foundation Model Hub</a:t>
            </a:r>
          </a:p>
          <a:p>
            <a:pPr marL="628650" lvl="1" indent="-188913">
              <a:buFont typeface="+mj-lt"/>
              <a:buAutoNum type="alphaLcPeriod"/>
            </a:pPr>
            <a:r>
              <a:rPr lang="en-US" sz="1200" noProof="0" dirty="0"/>
              <a:t>Model management</a:t>
            </a:r>
          </a:p>
          <a:p>
            <a:pPr marL="628650" lvl="1" indent="-188913">
              <a:buFont typeface="+mj-lt"/>
              <a:buAutoNum type="alphaLcPeriod"/>
            </a:pPr>
            <a:r>
              <a:rPr lang="en-US" sz="1200" noProof="0" dirty="0"/>
              <a:t>Prompt engineering</a:t>
            </a:r>
          </a:p>
          <a:p>
            <a:pPr marL="628650" lvl="1" indent="-188913">
              <a:buFont typeface="+mj-lt"/>
              <a:buAutoNum type="alphaLcPeriod"/>
            </a:pPr>
            <a:r>
              <a:rPr lang="en-US" sz="1200" noProof="0" dirty="0"/>
              <a:t>User interface for model comparison and prompt optimization</a:t>
            </a:r>
          </a:p>
          <a:p>
            <a:pPr>
              <a:buClr>
                <a:schemeClr val="accent2"/>
              </a:buClr>
            </a:pPr>
            <a:endParaRPr lang="en-US" sz="1300" noProof="0" dirty="0"/>
          </a:p>
        </p:txBody>
      </p:sp>
      <p:sp>
        <p:nvSpPr>
          <p:cNvPr id="4" name="Fußzeilenplatzhalter 4">
            <a:extLst>
              <a:ext uri="{FF2B5EF4-FFF2-40B4-BE49-F238E27FC236}">
                <a16:creationId xmlns:a16="http://schemas.microsoft.com/office/drawing/2014/main" id="{F0CB3D14-4CD4-FB40-9CD3-998C662B22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742537" y="6365875"/>
            <a:ext cx="78500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rgbClr val="FFFFFF"/>
                </a:solidFill>
                <a:latin typeface="Jura" panose="020B0604020202020204" charset="0"/>
                <a:ea typeface="Jura" panose="020B0604020202020204" charset="0"/>
              </a:defRPr>
            </a:lvl1pPr>
          </a:lstStyle>
          <a:p>
            <a:r>
              <a:rPr lang="en-US" dirty="0"/>
              <a:t>DeployAI EU Review – Technical Part – September 15, 2026   |   © aspect partners GmbH &amp; Co KG | Private &amp; Confidential</a:t>
            </a:r>
          </a:p>
        </p:txBody>
      </p:sp>
    </p:spTree>
    <p:extLst>
      <p:ext uri="{BB962C8B-B14F-4D97-AF65-F5344CB8AC3E}">
        <p14:creationId xmlns:p14="http://schemas.microsoft.com/office/powerpoint/2010/main" val="5070910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2736D096-3FAE-45A6-024A-D0EFA42060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to be discussed…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53C45644-7E46-89F7-9908-E2629E696B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Impact of Hugging Face Acquisition</a:t>
            </a:r>
          </a:p>
          <a:p>
            <a:r>
              <a:rPr lang="en-US" dirty="0">
                <a:latin typeface="Jura"/>
                <a:ea typeface="Jura"/>
              </a:rPr>
              <a:t>Status </a:t>
            </a:r>
            <a:r>
              <a:rPr lang="en-US" dirty="0" err="1">
                <a:latin typeface="Jura"/>
                <a:ea typeface="Jura"/>
              </a:rPr>
              <a:t>EuroHPC</a:t>
            </a:r>
            <a:r>
              <a:rPr lang="en-US" dirty="0">
                <a:latin typeface="Jura"/>
                <a:ea typeface="Jura"/>
              </a:rPr>
              <a:t> and other corresponding projects</a:t>
            </a:r>
          </a:p>
          <a:p>
            <a:r>
              <a:rPr lang="en-US" dirty="0"/>
              <a:t>Open Industry APIS</a:t>
            </a:r>
          </a:p>
          <a:p>
            <a:r>
              <a:rPr lang="en-US" dirty="0"/>
              <a:t>Role of Open-Source Models in the Industry / What’s next ?</a:t>
            </a:r>
          </a:p>
          <a:p>
            <a:r>
              <a:rPr lang="en-US" dirty="0">
                <a:latin typeface="Jura"/>
                <a:ea typeface="Jura"/>
              </a:rPr>
              <a:t>Competitiveness of EuroHPC commercial offerings / Brokerage possible?</a:t>
            </a:r>
          </a:p>
          <a:p>
            <a:r>
              <a:rPr lang="en-US" dirty="0"/>
              <a:t>Competitive role of Compliance Tools / Political impact.</a:t>
            </a:r>
          </a:p>
          <a:p>
            <a:r>
              <a:rPr lang="en-US" dirty="0"/>
              <a:t>Competitive Role of Development Tools / AI Router, etc.</a:t>
            </a:r>
          </a:p>
          <a:p>
            <a:r>
              <a:rPr lang="en-US" dirty="0"/>
              <a:t>Other topics</a:t>
            </a:r>
          </a:p>
          <a:p>
            <a:endParaRPr lang="en-US" dirty="0"/>
          </a:p>
          <a:p>
            <a:r>
              <a:rPr lang="en-US" dirty="0"/>
              <a:t>Principal Positioning of AIODP in the European EU AND Market Context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2" name="Fußzeilenplatzhalter 4">
            <a:extLst>
              <a:ext uri="{FF2B5EF4-FFF2-40B4-BE49-F238E27FC236}">
                <a16:creationId xmlns:a16="http://schemas.microsoft.com/office/drawing/2014/main" id="{662947FB-4CBE-263C-A93B-F7B7F97E5C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742537" y="6365875"/>
            <a:ext cx="78500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rgbClr val="FFFFFF"/>
                </a:solidFill>
                <a:latin typeface="Jura" panose="020B0604020202020204" charset="0"/>
                <a:ea typeface="Jura" panose="020B0604020202020204" charset="0"/>
              </a:defRPr>
            </a:lvl1pPr>
          </a:lstStyle>
          <a:p>
            <a:r>
              <a:rPr lang="en-US" dirty="0"/>
              <a:t>DeployAI  WA3 2026_2027 Strategy &amp; Roll-Out Planning  |  Luxembourg, September 10, 2026  |  Private &amp; Confidential</a:t>
            </a:r>
          </a:p>
        </p:txBody>
      </p:sp>
    </p:spTree>
    <p:extLst>
      <p:ext uri="{BB962C8B-B14F-4D97-AF65-F5344CB8AC3E}">
        <p14:creationId xmlns:p14="http://schemas.microsoft.com/office/powerpoint/2010/main" val="12930370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5FC0BA86-1199-6085-BE38-0B408B5EDC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Outcomes</a:t>
            </a:r>
          </a:p>
        </p:txBody>
      </p:sp>
      <p:sp>
        <p:nvSpPr>
          <p:cNvPr id="6" name="Fußzeilenplatzhalter 4">
            <a:extLst>
              <a:ext uri="{FF2B5EF4-FFF2-40B4-BE49-F238E27FC236}">
                <a16:creationId xmlns:a16="http://schemas.microsoft.com/office/drawing/2014/main" id="{2A93ABE1-7BE4-F025-409A-B01EB68704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742537" y="6365875"/>
            <a:ext cx="78500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rgbClr val="FFFFFF"/>
                </a:solidFill>
                <a:latin typeface="Jura" panose="020B0604020202020204" charset="0"/>
                <a:ea typeface="Jura" panose="020B0604020202020204" charset="0"/>
              </a:defRPr>
            </a:lvl1pPr>
          </a:lstStyle>
          <a:p>
            <a:r>
              <a:rPr lang="en-US" dirty="0"/>
              <a:t>DeployAI  WA3 2026_2027 Strategy &amp; Roll-Out Planning  |  Luxembourg, September 10, 2026  |  Private &amp; Confidential</a:t>
            </a:r>
          </a:p>
        </p:txBody>
      </p:sp>
    </p:spTree>
    <p:extLst>
      <p:ext uri="{BB962C8B-B14F-4D97-AF65-F5344CB8AC3E}">
        <p14:creationId xmlns:p14="http://schemas.microsoft.com/office/powerpoint/2010/main" val="32825041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40D470-100A-4287-F3A9-80B2EF240DBB}"/>
            </a:ext>
          </a:extLst>
        </p:cNvPr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8CB47A9-786F-3942-A06B-FE3EA150FCB9}"/>
              </a:ext>
            </a:extLst>
          </p:cNvPr>
          <p:cNvSpPr/>
          <p:nvPr/>
        </p:nvSpPr>
        <p:spPr>
          <a:xfrm>
            <a:off x="502920" y="201168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FFE800"/>
                </a:solidFill>
              </a:rPr>
              <a:t>FLINKY INTEGRATION / RELEASE PLAN</a:t>
            </a:r>
            <a:endParaRPr lang="en-US" sz="85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2E95E3B-E7E2-6DBB-2933-DAE3D5FBC961}"/>
              </a:ext>
            </a:extLst>
          </p:cNvPr>
          <p:cNvSpPr/>
          <p:nvPr/>
        </p:nvSpPr>
        <p:spPr>
          <a:xfrm>
            <a:off x="502920" y="47548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</a:rPr>
              <a:t>Flinky platform: capabilities and release status</a:t>
            </a:r>
            <a:endParaRPr lang="en-US" sz="23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DF5F9918-5DF1-21A5-B735-3BE4FEC82633}"/>
              </a:ext>
            </a:extLst>
          </p:cNvPr>
          <p:cNvSpPr/>
          <p:nvPr/>
        </p:nvSpPr>
        <p:spPr>
          <a:xfrm>
            <a:off x="502920" y="1051560"/>
            <a:ext cx="10385733" cy="9144"/>
          </a:xfrm>
          <a:prstGeom prst="line">
            <a:avLst/>
          </a:prstGeom>
          <a:noFill/>
          <a:ln w="12700">
            <a:solidFill>
              <a:srgbClr val="72B7DF"/>
            </a:solidFill>
            <a:prstDash val="solid"/>
          </a:ln>
        </p:spPr>
        <p:txBody>
          <a:bodyPr/>
          <a:lstStyle/>
          <a:p>
            <a:endParaRPr lang="fr-LU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492A8D1-EC7A-711A-B3D1-DB760378DDB4}"/>
              </a:ext>
            </a:extLst>
          </p:cNvPr>
          <p:cNvSpPr/>
          <p:nvPr/>
        </p:nvSpPr>
        <p:spPr>
          <a:xfrm>
            <a:off x="10936224" y="27432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</a:rPr>
              <a:t>AIODP</a:t>
            </a:r>
            <a:endParaRPr lang="en-US" sz="9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955F6E17-A3E7-829C-CB57-9456BCFF2028}"/>
              </a:ext>
            </a:extLst>
          </p:cNvPr>
          <p:cNvSpPr/>
          <p:nvPr/>
        </p:nvSpPr>
        <p:spPr>
          <a:xfrm>
            <a:off x="530352" y="11887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8ECF7"/>
                </a:solidFill>
              </a:rPr>
              <a:t>Applications and tools built on a sovereign execution layer</a:t>
            </a:r>
            <a:endParaRPr lang="en-US" sz="12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B601A358-3B73-F842-2467-09A610DA4DB3}"/>
              </a:ext>
            </a:extLst>
          </p:cNvPr>
          <p:cNvSpPr/>
          <p:nvPr/>
        </p:nvSpPr>
        <p:spPr>
          <a:xfrm>
            <a:off x="8412480" y="1225296"/>
            <a:ext cx="118872" cy="118872"/>
          </a:xfrm>
          <a:prstGeom prst="ellipse">
            <a:avLst/>
          </a:prstGeom>
          <a:solidFill>
            <a:srgbClr val="008000"/>
          </a:solidFill>
          <a:ln w="12700">
            <a:solidFill>
              <a:srgbClr val="008000"/>
            </a:solidFill>
            <a:prstDash val="solid"/>
          </a:ln>
        </p:spPr>
        <p:txBody>
          <a:bodyPr/>
          <a:lstStyle/>
          <a:p>
            <a:endParaRPr lang="fr-LU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EDFF2631-1853-908E-1B9E-486E0C5EE6AD}"/>
              </a:ext>
            </a:extLst>
          </p:cNvPr>
          <p:cNvSpPr/>
          <p:nvPr/>
        </p:nvSpPr>
        <p:spPr>
          <a:xfrm>
            <a:off x="8595360" y="1207008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</a:rPr>
              <a:t>AVAILABLE</a:t>
            </a:r>
            <a:endParaRPr lang="en-US" sz="75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62109FCE-979D-B2B8-7054-3BF31ADC7CEA}"/>
              </a:ext>
            </a:extLst>
          </p:cNvPr>
          <p:cNvSpPr/>
          <p:nvPr/>
        </p:nvSpPr>
        <p:spPr>
          <a:xfrm>
            <a:off x="9464040" y="1225296"/>
            <a:ext cx="118872" cy="118872"/>
          </a:xfrm>
          <a:prstGeom prst="ellipse">
            <a:avLst/>
          </a:prstGeom>
          <a:solidFill>
            <a:srgbClr val="FFED00"/>
          </a:solidFill>
          <a:ln w="12700">
            <a:solidFill>
              <a:srgbClr val="FFED00"/>
            </a:solidFill>
            <a:prstDash val="solid"/>
          </a:ln>
        </p:spPr>
        <p:txBody>
          <a:bodyPr/>
          <a:lstStyle/>
          <a:p>
            <a:endParaRPr lang="fr-LU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488389D9-5B19-E2FB-E1F8-B078048CE108}"/>
              </a:ext>
            </a:extLst>
          </p:cNvPr>
          <p:cNvSpPr/>
          <p:nvPr/>
        </p:nvSpPr>
        <p:spPr>
          <a:xfrm>
            <a:off x="9646920" y="1207008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</a:rPr>
              <a:t>OCT. 2026</a:t>
            </a:r>
            <a:endParaRPr lang="en-US" sz="75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CF38DF9B-4778-812C-7969-FFEE5CE6EBC5}"/>
              </a:ext>
            </a:extLst>
          </p:cNvPr>
          <p:cNvSpPr/>
          <p:nvPr/>
        </p:nvSpPr>
        <p:spPr>
          <a:xfrm>
            <a:off x="10515600" y="1225296"/>
            <a:ext cx="118872" cy="118872"/>
          </a:xfrm>
          <a:prstGeom prst="ellipse">
            <a:avLst/>
          </a:prstGeom>
          <a:solidFill>
            <a:srgbClr val="194CA4"/>
          </a:solidFill>
          <a:ln w="12700">
            <a:solidFill>
              <a:srgbClr val="194CA4"/>
            </a:solidFill>
            <a:prstDash val="solid"/>
          </a:ln>
        </p:spPr>
        <p:txBody>
          <a:bodyPr/>
          <a:lstStyle/>
          <a:p>
            <a:endParaRPr lang="fr-LU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A01E36C8-BCAC-4E26-873F-4A6C6FEA11E8}"/>
              </a:ext>
            </a:extLst>
          </p:cNvPr>
          <p:cNvSpPr/>
          <p:nvPr/>
        </p:nvSpPr>
        <p:spPr>
          <a:xfrm>
            <a:off x="10698480" y="1207008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</a:rPr>
              <a:t>ROADMAP</a:t>
            </a:r>
            <a:endParaRPr lang="en-US" sz="75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7B7EB7D7-C808-B845-37AA-FA47FEBD2497}"/>
              </a:ext>
            </a:extLst>
          </p:cNvPr>
          <p:cNvSpPr/>
          <p:nvPr/>
        </p:nvSpPr>
        <p:spPr>
          <a:xfrm>
            <a:off x="502920" y="1572768"/>
            <a:ext cx="5532120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2700" dist="508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LU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DCC33C83-0CFB-6EC3-BDD0-C82001A82492}"/>
              </a:ext>
            </a:extLst>
          </p:cNvPr>
          <p:cNvSpPr/>
          <p:nvPr/>
        </p:nvSpPr>
        <p:spPr>
          <a:xfrm>
            <a:off x="713232" y="1773936"/>
            <a:ext cx="5111496" cy="347472"/>
          </a:xfrm>
          <a:prstGeom prst="roundRect">
            <a:avLst>
              <a:gd name="adj" fmla="val 10526"/>
            </a:avLst>
          </a:prstGeom>
          <a:solidFill>
            <a:srgbClr val="42C7D9"/>
          </a:solidFill>
          <a:ln w="12700">
            <a:solidFill>
              <a:srgbClr val="42C7D9"/>
            </a:solidFill>
            <a:prstDash val="solid"/>
          </a:ln>
        </p:spPr>
        <p:txBody>
          <a:bodyPr/>
          <a:lstStyle/>
          <a:p>
            <a:endParaRPr lang="fr-LU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80DEF7B4-6433-6214-4C56-014DA5C5B40C}"/>
              </a:ext>
            </a:extLst>
          </p:cNvPr>
          <p:cNvSpPr/>
          <p:nvPr/>
        </p:nvSpPr>
        <p:spPr>
          <a:xfrm>
            <a:off x="822960" y="1865376"/>
            <a:ext cx="4892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70" dirty="0">
                <a:solidFill>
                  <a:srgbClr val="0B2945"/>
                </a:solidFill>
              </a:rPr>
              <a:t>APPLICATIONS</a:t>
            </a:r>
            <a:endParaRPr lang="en-US" sz="1000" dirty="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02ECF9FA-B74E-1DBB-80E8-932D800FA2FD}"/>
              </a:ext>
            </a:extLst>
          </p:cNvPr>
          <p:cNvSpPr/>
          <p:nvPr/>
        </p:nvSpPr>
        <p:spPr>
          <a:xfrm>
            <a:off x="713232" y="2221992"/>
            <a:ext cx="2441448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C8D8E5"/>
            </a:solidFill>
            <a:prstDash val="solid"/>
          </a:ln>
        </p:spPr>
        <p:txBody>
          <a:bodyPr/>
          <a:lstStyle/>
          <a:p>
            <a:endParaRPr lang="fr-LU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0D6C0EA1-824A-F8CF-980D-9020B16E13FA}"/>
              </a:ext>
            </a:extLst>
          </p:cNvPr>
          <p:cNvSpPr/>
          <p:nvPr/>
        </p:nvSpPr>
        <p:spPr>
          <a:xfrm>
            <a:off x="786384" y="2318004"/>
            <a:ext cx="109728" cy="109728"/>
          </a:xfrm>
          <a:prstGeom prst="ellipse">
            <a:avLst/>
          </a:prstGeom>
          <a:solidFill>
            <a:srgbClr val="FFED00"/>
          </a:solidFill>
          <a:ln w="12700">
            <a:solidFill>
              <a:srgbClr val="FFED00"/>
            </a:solidFill>
            <a:prstDash val="solid"/>
          </a:ln>
        </p:spPr>
        <p:txBody>
          <a:bodyPr/>
          <a:lstStyle/>
          <a:p>
            <a:endParaRPr lang="fr-LU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DF09A7EF-42BA-3895-76E5-1BDAA3D643B0}"/>
              </a:ext>
            </a:extLst>
          </p:cNvPr>
          <p:cNvSpPr/>
          <p:nvPr/>
        </p:nvSpPr>
        <p:spPr>
          <a:xfrm>
            <a:off x="960120" y="2299716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70" b="1" dirty="0">
                <a:solidFill>
                  <a:srgbClr val="0B2945"/>
                </a:solidFill>
              </a:rPr>
              <a:t>Corporate Chat</a:t>
            </a:r>
            <a:endParaRPr lang="en-US" sz="87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6884FF9E-A2BC-5272-A1A7-B2D8DD64F070}"/>
              </a:ext>
            </a:extLst>
          </p:cNvPr>
          <p:cNvSpPr/>
          <p:nvPr/>
        </p:nvSpPr>
        <p:spPr>
          <a:xfrm>
            <a:off x="2423160" y="2304288"/>
            <a:ext cx="640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90" b="1" dirty="0">
                <a:solidFill>
                  <a:srgbClr val="0B2945"/>
                </a:solidFill>
              </a:rPr>
              <a:t>Oct 26 Release</a:t>
            </a:r>
            <a:endParaRPr lang="en-US" sz="690" dirty="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AE351C31-467A-F343-3D29-629C712DDFE9}"/>
              </a:ext>
            </a:extLst>
          </p:cNvPr>
          <p:cNvSpPr/>
          <p:nvPr/>
        </p:nvSpPr>
        <p:spPr>
          <a:xfrm>
            <a:off x="3273552" y="2221992"/>
            <a:ext cx="2441448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C8D8E5"/>
            </a:solidFill>
            <a:prstDash val="solid"/>
          </a:ln>
        </p:spPr>
        <p:txBody>
          <a:bodyPr/>
          <a:lstStyle/>
          <a:p>
            <a:endParaRPr lang="fr-LU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F011B30F-E727-5CB1-AC0B-C53854B73C12}"/>
              </a:ext>
            </a:extLst>
          </p:cNvPr>
          <p:cNvSpPr/>
          <p:nvPr/>
        </p:nvSpPr>
        <p:spPr>
          <a:xfrm>
            <a:off x="3346704" y="2318004"/>
            <a:ext cx="109728" cy="109728"/>
          </a:xfrm>
          <a:prstGeom prst="ellipse">
            <a:avLst/>
          </a:prstGeom>
          <a:solidFill>
            <a:srgbClr val="FFED00"/>
          </a:solidFill>
          <a:ln w="12700">
            <a:solidFill>
              <a:srgbClr val="FFED00"/>
            </a:solidFill>
            <a:prstDash val="solid"/>
          </a:ln>
        </p:spPr>
        <p:txBody>
          <a:bodyPr/>
          <a:lstStyle/>
          <a:p>
            <a:endParaRPr lang="fr-LU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0233C93A-A19E-8A2C-2CBA-27B33CBC20D4}"/>
              </a:ext>
            </a:extLst>
          </p:cNvPr>
          <p:cNvSpPr/>
          <p:nvPr/>
        </p:nvSpPr>
        <p:spPr>
          <a:xfrm>
            <a:off x="3520440" y="2299716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70" b="1" dirty="0">
                <a:solidFill>
                  <a:srgbClr val="0B2945"/>
                </a:solidFill>
              </a:rPr>
              <a:t>Speech-to-Text &amp; Translate</a:t>
            </a:r>
            <a:endParaRPr lang="en-US" sz="87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4415DEFB-1D1B-764F-C710-62E75CBB0D22}"/>
              </a:ext>
            </a:extLst>
          </p:cNvPr>
          <p:cNvSpPr/>
          <p:nvPr/>
        </p:nvSpPr>
        <p:spPr>
          <a:xfrm>
            <a:off x="4983480" y="2304288"/>
            <a:ext cx="640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90" b="1" dirty="0">
                <a:solidFill>
                  <a:srgbClr val="0B2945"/>
                </a:solidFill>
              </a:rPr>
              <a:t>Oct 26 Release</a:t>
            </a:r>
            <a:endParaRPr lang="en-US" sz="690" dirty="0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0CF0CCA3-3F17-3084-AECA-118F62A9C0E2}"/>
              </a:ext>
            </a:extLst>
          </p:cNvPr>
          <p:cNvSpPr/>
          <p:nvPr/>
        </p:nvSpPr>
        <p:spPr>
          <a:xfrm>
            <a:off x="713232" y="2615184"/>
            <a:ext cx="2441448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C8D8E5"/>
            </a:solidFill>
            <a:prstDash val="solid"/>
          </a:ln>
        </p:spPr>
        <p:txBody>
          <a:bodyPr/>
          <a:lstStyle/>
          <a:p>
            <a:endParaRPr lang="fr-LU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53C17077-3733-ADA1-F584-5F2A047CE01F}"/>
              </a:ext>
            </a:extLst>
          </p:cNvPr>
          <p:cNvSpPr/>
          <p:nvPr/>
        </p:nvSpPr>
        <p:spPr>
          <a:xfrm>
            <a:off x="786384" y="2711196"/>
            <a:ext cx="109728" cy="109728"/>
          </a:xfrm>
          <a:prstGeom prst="ellipse">
            <a:avLst/>
          </a:prstGeom>
          <a:solidFill>
            <a:srgbClr val="194CA4"/>
          </a:solidFill>
          <a:ln w="12700">
            <a:solidFill>
              <a:srgbClr val="194CA4"/>
            </a:solidFill>
            <a:prstDash val="solid"/>
          </a:ln>
        </p:spPr>
        <p:txBody>
          <a:bodyPr/>
          <a:lstStyle/>
          <a:p>
            <a:endParaRPr lang="fr-LU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58B83C27-0009-0D80-D896-16D4CF50C4BD}"/>
              </a:ext>
            </a:extLst>
          </p:cNvPr>
          <p:cNvSpPr/>
          <p:nvPr/>
        </p:nvSpPr>
        <p:spPr>
          <a:xfrm>
            <a:off x="960120" y="2692908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70" b="1" dirty="0">
                <a:solidFill>
                  <a:srgbClr val="0B2945"/>
                </a:solidFill>
              </a:rPr>
              <a:t>Model Fine-Tuning</a:t>
            </a:r>
            <a:endParaRPr lang="en-US" sz="870" dirty="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9BADCC7E-6BB9-42AC-64CE-5D9609E1669F}"/>
              </a:ext>
            </a:extLst>
          </p:cNvPr>
          <p:cNvSpPr/>
          <p:nvPr/>
        </p:nvSpPr>
        <p:spPr>
          <a:xfrm>
            <a:off x="2423160" y="2697480"/>
            <a:ext cx="640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90" b="1" dirty="0">
                <a:solidFill>
                  <a:srgbClr val="0B2945"/>
                </a:solidFill>
              </a:rPr>
              <a:t>Roadmap</a:t>
            </a:r>
            <a:endParaRPr lang="en-US" sz="690" dirty="0"/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A5E4BC7D-B58C-30EC-9BFD-05767CCA3E64}"/>
              </a:ext>
            </a:extLst>
          </p:cNvPr>
          <p:cNvSpPr/>
          <p:nvPr/>
        </p:nvSpPr>
        <p:spPr>
          <a:xfrm>
            <a:off x="3273552" y="2615184"/>
            <a:ext cx="2441448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C8D8E5"/>
            </a:solidFill>
            <a:prstDash val="solid"/>
          </a:ln>
        </p:spPr>
        <p:txBody>
          <a:bodyPr/>
          <a:lstStyle/>
          <a:p>
            <a:endParaRPr lang="fr-LU"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84A9B534-B20E-94E0-6ABB-AB624E82415C}"/>
              </a:ext>
            </a:extLst>
          </p:cNvPr>
          <p:cNvSpPr/>
          <p:nvPr/>
        </p:nvSpPr>
        <p:spPr>
          <a:xfrm>
            <a:off x="3346704" y="2711196"/>
            <a:ext cx="109728" cy="109728"/>
          </a:xfrm>
          <a:prstGeom prst="ellipse">
            <a:avLst/>
          </a:prstGeom>
          <a:solidFill>
            <a:srgbClr val="194CA4"/>
          </a:solidFill>
          <a:ln w="12700">
            <a:solidFill>
              <a:srgbClr val="194CA4"/>
            </a:solidFill>
            <a:prstDash val="solid"/>
          </a:ln>
        </p:spPr>
        <p:txBody>
          <a:bodyPr/>
          <a:lstStyle/>
          <a:p>
            <a:endParaRPr lang="fr-LU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459CA297-DC0F-F2EB-36AE-A4B6799F6097}"/>
              </a:ext>
            </a:extLst>
          </p:cNvPr>
          <p:cNvSpPr/>
          <p:nvPr/>
        </p:nvSpPr>
        <p:spPr>
          <a:xfrm>
            <a:off x="3520440" y="2692908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70" b="1" dirty="0">
                <a:solidFill>
                  <a:srgbClr val="0B2945"/>
                </a:solidFill>
              </a:rPr>
              <a:t>AI Agents</a:t>
            </a:r>
            <a:endParaRPr lang="en-US" sz="870" dirty="0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FCBA7189-D94A-2B4D-B09E-7044963BE398}"/>
              </a:ext>
            </a:extLst>
          </p:cNvPr>
          <p:cNvSpPr/>
          <p:nvPr/>
        </p:nvSpPr>
        <p:spPr>
          <a:xfrm>
            <a:off x="4983480" y="2697480"/>
            <a:ext cx="640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90" b="1" dirty="0">
                <a:solidFill>
                  <a:srgbClr val="0B2945"/>
                </a:solidFill>
              </a:rPr>
              <a:t>Roadmap</a:t>
            </a:r>
            <a:endParaRPr lang="en-US" sz="690" dirty="0"/>
          </a:p>
        </p:txBody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2D3FFC94-C9C7-9D6C-3639-6D6F82902A5C}"/>
              </a:ext>
            </a:extLst>
          </p:cNvPr>
          <p:cNvSpPr/>
          <p:nvPr/>
        </p:nvSpPr>
        <p:spPr>
          <a:xfrm>
            <a:off x="713232" y="3008376"/>
            <a:ext cx="2441448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C8D8E5"/>
            </a:solidFill>
            <a:prstDash val="solid"/>
          </a:ln>
        </p:spPr>
        <p:txBody>
          <a:bodyPr/>
          <a:lstStyle/>
          <a:p>
            <a:endParaRPr lang="fr-LU"/>
          </a:p>
        </p:txBody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92F45C9A-D88B-2E35-6E5D-5275B90ADB76}"/>
              </a:ext>
            </a:extLst>
          </p:cNvPr>
          <p:cNvSpPr/>
          <p:nvPr/>
        </p:nvSpPr>
        <p:spPr>
          <a:xfrm>
            <a:off x="786384" y="3104388"/>
            <a:ext cx="109728" cy="109728"/>
          </a:xfrm>
          <a:prstGeom prst="ellipse">
            <a:avLst/>
          </a:prstGeom>
          <a:solidFill>
            <a:srgbClr val="194CA4"/>
          </a:solidFill>
          <a:ln w="12700">
            <a:solidFill>
              <a:srgbClr val="194CA4"/>
            </a:solidFill>
            <a:prstDash val="solid"/>
          </a:ln>
        </p:spPr>
        <p:txBody>
          <a:bodyPr/>
          <a:lstStyle/>
          <a:p>
            <a:endParaRPr lang="fr-LU"/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62BBC2CE-6011-C717-D581-5CE1B6BF3116}"/>
              </a:ext>
            </a:extLst>
          </p:cNvPr>
          <p:cNvSpPr/>
          <p:nvPr/>
        </p:nvSpPr>
        <p:spPr>
          <a:xfrm>
            <a:off x="960120" y="3086100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70" b="1" dirty="0">
                <a:solidFill>
                  <a:srgbClr val="0B2945"/>
                </a:solidFill>
              </a:rPr>
              <a:t>Knowledge Assistant</a:t>
            </a:r>
            <a:endParaRPr lang="en-US" sz="870" dirty="0"/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2A70F244-7154-2292-BD4E-AF2C21BF2C6F}"/>
              </a:ext>
            </a:extLst>
          </p:cNvPr>
          <p:cNvSpPr/>
          <p:nvPr/>
        </p:nvSpPr>
        <p:spPr>
          <a:xfrm>
            <a:off x="2423160" y="3090672"/>
            <a:ext cx="640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90" b="1" dirty="0">
                <a:solidFill>
                  <a:srgbClr val="0B2945"/>
                </a:solidFill>
              </a:rPr>
              <a:t>Roadmap</a:t>
            </a:r>
            <a:endParaRPr lang="en-US" sz="690" dirty="0"/>
          </a:p>
        </p:txBody>
      </p:sp>
      <p:sp>
        <p:nvSpPr>
          <p:cNvPr id="37" name="Shape 35">
            <a:extLst>
              <a:ext uri="{FF2B5EF4-FFF2-40B4-BE49-F238E27FC236}">
                <a16:creationId xmlns:a16="http://schemas.microsoft.com/office/drawing/2014/main" id="{9D043B60-C0C5-8379-A6DF-7B5E157C986D}"/>
              </a:ext>
            </a:extLst>
          </p:cNvPr>
          <p:cNvSpPr/>
          <p:nvPr/>
        </p:nvSpPr>
        <p:spPr>
          <a:xfrm>
            <a:off x="6245352" y="1572768"/>
            <a:ext cx="5440680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2700" dist="508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LU"/>
          </a:p>
        </p:txBody>
      </p:sp>
      <p:sp>
        <p:nvSpPr>
          <p:cNvPr id="38" name="Shape 36">
            <a:extLst>
              <a:ext uri="{FF2B5EF4-FFF2-40B4-BE49-F238E27FC236}">
                <a16:creationId xmlns:a16="http://schemas.microsoft.com/office/drawing/2014/main" id="{D8DE6302-3ED8-D50A-A18E-B81EA1E317B1}"/>
              </a:ext>
            </a:extLst>
          </p:cNvPr>
          <p:cNvSpPr/>
          <p:nvPr/>
        </p:nvSpPr>
        <p:spPr>
          <a:xfrm>
            <a:off x="6455664" y="1773936"/>
            <a:ext cx="5020056" cy="347472"/>
          </a:xfrm>
          <a:prstGeom prst="roundRect">
            <a:avLst>
              <a:gd name="adj" fmla="val 10526"/>
            </a:avLst>
          </a:prstGeom>
          <a:solidFill>
            <a:srgbClr val="A8E6A3"/>
          </a:solidFill>
          <a:ln w="12700">
            <a:solidFill>
              <a:srgbClr val="A8E6A3"/>
            </a:solidFill>
            <a:prstDash val="solid"/>
          </a:ln>
        </p:spPr>
        <p:txBody>
          <a:bodyPr/>
          <a:lstStyle/>
          <a:p>
            <a:endParaRPr lang="fr-LU"/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66D73844-F5D4-158C-1117-6E241931893C}"/>
              </a:ext>
            </a:extLst>
          </p:cNvPr>
          <p:cNvSpPr/>
          <p:nvPr/>
        </p:nvSpPr>
        <p:spPr>
          <a:xfrm>
            <a:off x="6565392" y="1865376"/>
            <a:ext cx="4800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70" dirty="0">
                <a:solidFill>
                  <a:srgbClr val="0B2945"/>
                </a:solidFill>
              </a:rPr>
              <a:t>TOOLS</a:t>
            </a:r>
            <a:endParaRPr lang="en-US" sz="1000" dirty="0"/>
          </a:p>
        </p:txBody>
      </p:sp>
      <p:sp>
        <p:nvSpPr>
          <p:cNvPr id="40" name="Shape 38">
            <a:extLst>
              <a:ext uri="{FF2B5EF4-FFF2-40B4-BE49-F238E27FC236}">
                <a16:creationId xmlns:a16="http://schemas.microsoft.com/office/drawing/2014/main" id="{56EB9A65-F6BF-5F0D-EE54-2E59478496CB}"/>
              </a:ext>
            </a:extLst>
          </p:cNvPr>
          <p:cNvSpPr/>
          <p:nvPr/>
        </p:nvSpPr>
        <p:spPr>
          <a:xfrm>
            <a:off x="6455664" y="2221992"/>
            <a:ext cx="2395728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C8D8E5"/>
            </a:solidFill>
            <a:prstDash val="solid"/>
          </a:ln>
        </p:spPr>
        <p:txBody>
          <a:bodyPr/>
          <a:lstStyle/>
          <a:p>
            <a:endParaRPr lang="fr-LU"/>
          </a:p>
        </p:txBody>
      </p:sp>
      <p:sp>
        <p:nvSpPr>
          <p:cNvPr id="41" name="Shape 39">
            <a:extLst>
              <a:ext uri="{FF2B5EF4-FFF2-40B4-BE49-F238E27FC236}">
                <a16:creationId xmlns:a16="http://schemas.microsoft.com/office/drawing/2014/main" id="{0CBBED01-843E-B686-41A3-A8ED221ADF4A}"/>
              </a:ext>
            </a:extLst>
          </p:cNvPr>
          <p:cNvSpPr/>
          <p:nvPr/>
        </p:nvSpPr>
        <p:spPr>
          <a:xfrm>
            <a:off x="6528816" y="2318004"/>
            <a:ext cx="109728" cy="109728"/>
          </a:xfrm>
          <a:prstGeom prst="ellipse">
            <a:avLst/>
          </a:prstGeom>
          <a:solidFill>
            <a:srgbClr val="FFED00"/>
          </a:solidFill>
          <a:ln w="12700">
            <a:solidFill>
              <a:srgbClr val="FFED00"/>
            </a:solidFill>
            <a:prstDash val="solid"/>
          </a:ln>
        </p:spPr>
        <p:txBody>
          <a:bodyPr/>
          <a:lstStyle/>
          <a:p>
            <a:endParaRPr lang="fr-LU"/>
          </a:p>
        </p:txBody>
      </p:sp>
      <p:sp>
        <p:nvSpPr>
          <p:cNvPr id="42" name="Text 40">
            <a:extLst>
              <a:ext uri="{FF2B5EF4-FFF2-40B4-BE49-F238E27FC236}">
                <a16:creationId xmlns:a16="http://schemas.microsoft.com/office/drawing/2014/main" id="{2AAA6D74-92D9-2B09-4ADE-E26514AA2B20}"/>
              </a:ext>
            </a:extLst>
          </p:cNvPr>
          <p:cNvSpPr/>
          <p:nvPr/>
        </p:nvSpPr>
        <p:spPr>
          <a:xfrm>
            <a:off x="6702552" y="2299716"/>
            <a:ext cx="14813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70" b="1" dirty="0">
                <a:solidFill>
                  <a:srgbClr val="0B2945"/>
                </a:solidFill>
              </a:rPr>
              <a:t>AI Guardrails</a:t>
            </a:r>
            <a:endParaRPr lang="en-US" sz="870" dirty="0"/>
          </a:p>
        </p:txBody>
      </p:sp>
      <p:sp>
        <p:nvSpPr>
          <p:cNvPr id="43" name="Text 41">
            <a:extLst>
              <a:ext uri="{FF2B5EF4-FFF2-40B4-BE49-F238E27FC236}">
                <a16:creationId xmlns:a16="http://schemas.microsoft.com/office/drawing/2014/main" id="{07641ADF-BAA0-1EEE-EBDD-A3A33CE8C176}"/>
              </a:ext>
            </a:extLst>
          </p:cNvPr>
          <p:cNvSpPr/>
          <p:nvPr/>
        </p:nvSpPr>
        <p:spPr>
          <a:xfrm>
            <a:off x="8119872" y="2304288"/>
            <a:ext cx="640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90" b="1" dirty="0">
                <a:solidFill>
                  <a:srgbClr val="0B2945"/>
                </a:solidFill>
              </a:rPr>
              <a:t>Oct 26 Release</a:t>
            </a:r>
            <a:endParaRPr lang="en-US" sz="690" dirty="0"/>
          </a:p>
        </p:txBody>
      </p:sp>
      <p:sp>
        <p:nvSpPr>
          <p:cNvPr id="44" name="Shape 42">
            <a:extLst>
              <a:ext uri="{FF2B5EF4-FFF2-40B4-BE49-F238E27FC236}">
                <a16:creationId xmlns:a16="http://schemas.microsoft.com/office/drawing/2014/main" id="{2109B868-9337-6E62-724C-2BD27F7A4DE0}"/>
              </a:ext>
            </a:extLst>
          </p:cNvPr>
          <p:cNvSpPr/>
          <p:nvPr/>
        </p:nvSpPr>
        <p:spPr>
          <a:xfrm>
            <a:off x="8970264" y="2221992"/>
            <a:ext cx="2395728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C8D8E5"/>
            </a:solidFill>
            <a:prstDash val="solid"/>
          </a:ln>
        </p:spPr>
        <p:txBody>
          <a:bodyPr/>
          <a:lstStyle/>
          <a:p>
            <a:endParaRPr lang="fr-LU"/>
          </a:p>
        </p:txBody>
      </p:sp>
      <p:sp>
        <p:nvSpPr>
          <p:cNvPr id="45" name="Shape 43">
            <a:extLst>
              <a:ext uri="{FF2B5EF4-FFF2-40B4-BE49-F238E27FC236}">
                <a16:creationId xmlns:a16="http://schemas.microsoft.com/office/drawing/2014/main" id="{0705F112-19E0-5A53-883B-78EB45D815D1}"/>
              </a:ext>
            </a:extLst>
          </p:cNvPr>
          <p:cNvSpPr/>
          <p:nvPr/>
        </p:nvSpPr>
        <p:spPr>
          <a:xfrm>
            <a:off x="9043416" y="2318004"/>
            <a:ext cx="109728" cy="109728"/>
          </a:xfrm>
          <a:prstGeom prst="ellipse">
            <a:avLst/>
          </a:prstGeom>
          <a:solidFill>
            <a:srgbClr val="194CA4"/>
          </a:solidFill>
          <a:ln w="12700">
            <a:solidFill>
              <a:srgbClr val="194CA4"/>
            </a:solidFill>
            <a:prstDash val="solid"/>
          </a:ln>
        </p:spPr>
        <p:txBody>
          <a:bodyPr/>
          <a:lstStyle/>
          <a:p>
            <a:endParaRPr lang="fr-LU"/>
          </a:p>
        </p:txBody>
      </p:sp>
      <p:sp>
        <p:nvSpPr>
          <p:cNvPr id="46" name="Text 44">
            <a:extLst>
              <a:ext uri="{FF2B5EF4-FFF2-40B4-BE49-F238E27FC236}">
                <a16:creationId xmlns:a16="http://schemas.microsoft.com/office/drawing/2014/main" id="{873DEC40-0868-314E-EA5C-CF0E0EC127EC}"/>
              </a:ext>
            </a:extLst>
          </p:cNvPr>
          <p:cNvSpPr/>
          <p:nvPr/>
        </p:nvSpPr>
        <p:spPr>
          <a:xfrm>
            <a:off x="9217152" y="2299716"/>
            <a:ext cx="14813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70" b="1" dirty="0">
                <a:solidFill>
                  <a:srgbClr val="0B2945"/>
                </a:solidFill>
              </a:rPr>
              <a:t>RAG</a:t>
            </a:r>
            <a:endParaRPr lang="en-US" sz="870" dirty="0"/>
          </a:p>
        </p:txBody>
      </p:sp>
      <p:sp>
        <p:nvSpPr>
          <p:cNvPr id="47" name="Text 45">
            <a:extLst>
              <a:ext uri="{FF2B5EF4-FFF2-40B4-BE49-F238E27FC236}">
                <a16:creationId xmlns:a16="http://schemas.microsoft.com/office/drawing/2014/main" id="{A68A47FC-AF95-2C52-1FC2-9D16F837EE64}"/>
              </a:ext>
            </a:extLst>
          </p:cNvPr>
          <p:cNvSpPr/>
          <p:nvPr/>
        </p:nvSpPr>
        <p:spPr>
          <a:xfrm>
            <a:off x="10634472" y="2304288"/>
            <a:ext cx="640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90" b="1" dirty="0">
                <a:solidFill>
                  <a:srgbClr val="0B2945"/>
                </a:solidFill>
              </a:rPr>
              <a:t>Roadmap</a:t>
            </a:r>
            <a:endParaRPr lang="en-US" sz="690" dirty="0"/>
          </a:p>
        </p:txBody>
      </p:sp>
      <p:sp>
        <p:nvSpPr>
          <p:cNvPr id="48" name="Shape 46">
            <a:extLst>
              <a:ext uri="{FF2B5EF4-FFF2-40B4-BE49-F238E27FC236}">
                <a16:creationId xmlns:a16="http://schemas.microsoft.com/office/drawing/2014/main" id="{9072A179-E830-9128-5E00-5354F11953C8}"/>
              </a:ext>
            </a:extLst>
          </p:cNvPr>
          <p:cNvSpPr/>
          <p:nvPr/>
        </p:nvSpPr>
        <p:spPr>
          <a:xfrm>
            <a:off x="6455664" y="2615184"/>
            <a:ext cx="2395728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C8D8E5"/>
            </a:solidFill>
            <a:prstDash val="solid"/>
          </a:ln>
        </p:spPr>
        <p:txBody>
          <a:bodyPr/>
          <a:lstStyle/>
          <a:p>
            <a:endParaRPr lang="fr-LU"/>
          </a:p>
        </p:txBody>
      </p:sp>
      <p:sp>
        <p:nvSpPr>
          <p:cNvPr id="49" name="Shape 47">
            <a:extLst>
              <a:ext uri="{FF2B5EF4-FFF2-40B4-BE49-F238E27FC236}">
                <a16:creationId xmlns:a16="http://schemas.microsoft.com/office/drawing/2014/main" id="{57315E0B-889C-6D2D-343B-472185DC4E18}"/>
              </a:ext>
            </a:extLst>
          </p:cNvPr>
          <p:cNvSpPr/>
          <p:nvPr/>
        </p:nvSpPr>
        <p:spPr>
          <a:xfrm>
            <a:off x="6528816" y="2711196"/>
            <a:ext cx="109728" cy="109728"/>
          </a:xfrm>
          <a:prstGeom prst="ellipse">
            <a:avLst/>
          </a:prstGeom>
          <a:solidFill>
            <a:srgbClr val="194CA4"/>
          </a:solidFill>
          <a:ln w="12700">
            <a:solidFill>
              <a:srgbClr val="194CA4"/>
            </a:solidFill>
            <a:prstDash val="solid"/>
          </a:ln>
        </p:spPr>
        <p:txBody>
          <a:bodyPr/>
          <a:lstStyle/>
          <a:p>
            <a:endParaRPr lang="fr-LU"/>
          </a:p>
        </p:txBody>
      </p:sp>
      <p:sp>
        <p:nvSpPr>
          <p:cNvPr id="50" name="Text 48">
            <a:extLst>
              <a:ext uri="{FF2B5EF4-FFF2-40B4-BE49-F238E27FC236}">
                <a16:creationId xmlns:a16="http://schemas.microsoft.com/office/drawing/2014/main" id="{1F13564B-A2E3-1AD2-37CB-8EDE554B720C}"/>
              </a:ext>
            </a:extLst>
          </p:cNvPr>
          <p:cNvSpPr/>
          <p:nvPr/>
        </p:nvSpPr>
        <p:spPr>
          <a:xfrm>
            <a:off x="6702552" y="2692908"/>
            <a:ext cx="14813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70" b="1" dirty="0">
                <a:solidFill>
                  <a:srgbClr val="0B2945"/>
                </a:solidFill>
              </a:rPr>
              <a:t>Knowledge Graph</a:t>
            </a:r>
            <a:endParaRPr lang="en-US" sz="870" dirty="0"/>
          </a:p>
        </p:txBody>
      </p:sp>
      <p:sp>
        <p:nvSpPr>
          <p:cNvPr id="51" name="Text 49">
            <a:extLst>
              <a:ext uri="{FF2B5EF4-FFF2-40B4-BE49-F238E27FC236}">
                <a16:creationId xmlns:a16="http://schemas.microsoft.com/office/drawing/2014/main" id="{F891CDAE-FDF8-75A8-7E06-9FFDE1EB7CE9}"/>
              </a:ext>
            </a:extLst>
          </p:cNvPr>
          <p:cNvSpPr/>
          <p:nvPr/>
        </p:nvSpPr>
        <p:spPr>
          <a:xfrm>
            <a:off x="8119872" y="2697480"/>
            <a:ext cx="640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90" b="1" dirty="0">
                <a:solidFill>
                  <a:srgbClr val="0B2945"/>
                </a:solidFill>
              </a:rPr>
              <a:t>Roadmap</a:t>
            </a:r>
            <a:endParaRPr lang="en-US" sz="690" dirty="0"/>
          </a:p>
        </p:txBody>
      </p:sp>
      <p:sp>
        <p:nvSpPr>
          <p:cNvPr id="52" name="Shape 50">
            <a:extLst>
              <a:ext uri="{FF2B5EF4-FFF2-40B4-BE49-F238E27FC236}">
                <a16:creationId xmlns:a16="http://schemas.microsoft.com/office/drawing/2014/main" id="{F64F29E1-4411-BDAE-CBF5-CBDDBE5D7920}"/>
              </a:ext>
            </a:extLst>
          </p:cNvPr>
          <p:cNvSpPr/>
          <p:nvPr/>
        </p:nvSpPr>
        <p:spPr>
          <a:xfrm>
            <a:off x="8970264" y="2615184"/>
            <a:ext cx="2395728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C8D8E5"/>
            </a:solidFill>
            <a:prstDash val="solid"/>
          </a:ln>
        </p:spPr>
        <p:txBody>
          <a:bodyPr/>
          <a:lstStyle/>
          <a:p>
            <a:endParaRPr lang="fr-LU"/>
          </a:p>
        </p:txBody>
      </p:sp>
      <p:sp>
        <p:nvSpPr>
          <p:cNvPr id="53" name="Shape 51">
            <a:extLst>
              <a:ext uri="{FF2B5EF4-FFF2-40B4-BE49-F238E27FC236}">
                <a16:creationId xmlns:a16="http://schemas.microsoft.com/office/drawing/2014/main" id="{33A262CB-5732-C604-1D51-DB736DAAD7BC}"/>
              </a:ext>
            </a:extLst>
          </p:cNvPr>
          <p:cNvSpPr/>
          <p:nvPr/>
        </p:nvSpPr>
        <p:spPr>
          <a:xfrm>
            <a:off x="9043416" y="2711196"/>
            <a:ext cx="109728" cy="109728"/>
          </a:xfrm>
          <a:prstGeom prst="ellipse">
            <a:avLst/>
          </a:prstGeom>
          <a:solidFill>
            <a:srgbClr val="194CA4"/>
          </a:solidFill>
          <a:ln w="12700">
            <a:solidFill>
              <a:srgbClr val="194CA4"/>
            </a:solidFill>
            <a:prstDash val="solid"/>
          </a:ln>
        </p:spPr>
        <p:txBody>
          <a:bodyPr/>
          <a:lstStyle/>
          <a:p>
            <a:endParaRPr lang="fr-LU"/>
          </a:p>
        </p:txBody>
      </p:sp>
      <p:sp>
        <p:nvSpPr>
          <p:cNvPr id="54" name="Text 52">
            <a:extLst>
              <a:ext uri="{FF2B5EF4-FFF2-40B4-BE49-F238E27FC236}">
                <a16:creationId xmlns:a16="http://schemas.microsoft.com/office/drawing/2014/main" id="{562B74EC-33ED-605A-B096-56D8688F9BBD}"/>
              </a:ext>
            </a:extLst>
          </p:cNvPr>
          <p:cNvSpPr/>
          <p:nvPr/>
        </p:nvSpPr>
        <p:spPr>
          <a:xfrm>
            <a:off x="9217152" y="2692908"/>
            <a:ext cx="14813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70" b="1" dirty="0">
                <a:solidFill>
                  <a:srgbClr val="0B2945"/>
                </a:solidFill>
              </a:rPr>
              <a:t>Blueprint</a:t>
            </a:r>
            <a:endParaRPr lang="en-US" sz="870" dirty="0"/>
          </a:p>
        </p:txBody>
      </p:sp>
      <p:sp>
        <p:nvSpPr>
          <p:cNvPr id="55" name="Text 53">
            <a:extLst>
              <a:ext uri="{FF2B5EF4-FFF2-40B4-BE49-F238E27FC236}">
                <a16:creationId xmlns:a16="http://schemas.microsoft.com/office/drawing/2014/main" id="{A06F9BE7-9D4E-F94A-4A21-AF0F386B5ACF}"/>
              </a:ext>
            </a:extLst>
          </p:cNvPr>
          <p:cNvSpPr/>
          <p:nvPr/>
        </p:nvSpPr>
        <p:spPr>
          <a:xfrm>
            <a:off x="10634472" y="2697480"/>
            <a:ext cx="640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90" b="1" dirty="0">
                <a:solidFill>
                  <a:srgbClr val="0B2945"/>
                </a:solidFill>
              </a:rPr>
              <a:t>Roadmap</a:t>
            </a:r>
            <a:endParaRPr lang="en-US" sz="690" dirty="0"/>
          </a:p>
        </p:txBody>
      </p:sp>
      <p:sp>
        <p:nvSpPr>
          <p:cNvPr id="56" name="Shape 54">
            <a:extLst>
              <a:ext uri="{FF2B5EF4-FFF2-40B4-BE49-F238E27FC236}">
                <a16:creationId xmlns:a16="http://schemas.microsoft.com/office/drawing/2014/main" id="{6DFDC1E4-6A4E-BA94-7384-D2B3B1B3B14F}"/>
              </a:ext>
            </a:extLst>
          </p:cNvPr>
          <p:cNvSpPr/>
          <p:nvPr/>
        </p:nvSpPr>
        <p:spPr>
          <a:xfrm>
            <a:off x="6455664" y="3008376"/>
            <a:ext cx="2395728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C8D8E5"/>
            </a:solidFill>
            <a:prstDash val="solid"/>
          </a:ln>
        </p:spPr>
        <p:txBody>
          <a:bodyPr/>
          <a:lstStyle/>
          <a:p>
            <a:endParaRPr lang="fr-LU"/>
          </a:p>
        </p:txBody>
      </p:sp>
      <p:sp>
        <p:nvSpPr>
          <p:cNvPr id="57" name="Shape 55">
            <a:extLst>
              <a:ext uri="{FF2B5EF4-FFF2-40B4-BE49-F238E27FC236}">
                <a16:creationId xmlns:a16="http://schemas.microsoft.com/office/drawing/2014/main" id="{BD06A959-63C8-1C0A-669B-6A7540E481C8}"/>
              </a:ext>
            </a:extLst>
          </p:cNvPr>
          <p:cNvSpPr/>
          <p:nvPr/>
        </p:nvSpPr>
        <p:spPr>
          <a:xfrm>
            <a:off x="6528816" y="3104388"/>
            <a:ext cx="109728" cy="109728"/>
          </a:xfrm>
          <a:prstGeom prst="ellipse">
            <a:avLst/>
          </a:prstGeom>
          <a:solidFill>
            <a:srgbClr val="194CA4"/>
          </a:solidFill>
          <a:ln w="12700">
            <a:solidFill>
              <a:srgbClr val="194CA4"/>
            </a:solidFill>
            <a:prstDash val="solid"/>
          </a:ln>
        </p:spPr>
        <p:txBody>
          <a:bodyPr/>
          <a:lstStyle/>
          <a:p>
            <a:endParaRPr lang="fr-LU"/>
          </a:p>
        </p:txBody>
      </p:sp>
      <p:sp>
        <p:nvSpPr>
          <p:cNvPr id="58" name="Text 56">
            <a:extLst>
              <a:ext uri="{FF2B5EF4-FFF2-40B4-BE49-F238E27FC236}">
                <a16:creationId xmlns:a16="http://schemas.microsoft.com/office/drawing/2014/main" id="{865D6AD6-9CEC-6F8F-F3F1-8E9995A7168F}"/>
              </a:ext>
            </a:extLst>
          </p:cNvPr>
          <p:cNvSpPr/>
          <p:nvPr/>
        </p:nvSpPr>
        <p:spPr>
          <a:xfrm>
            <a:off x="6702552" y="3086100"/>
            <a:ext cx="14813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70" b="1" dirty="0">
                <a:solidFill>
                  <a:srgbClr val="0B2945"/>
                </a:solidFill>
              </a:rPr>
              <a:t>Model Benchmarking</a:t>
            </a:r>
            <a:endParaRPr lang="en-US" sz="870" dirty="0"/>
          </a:p>
        </p:txBody>
      </p:sp>
      <p:sp>
        <p:nvSpPr>
          <p:cNvPr id="59" name="Text 57">
            <a:extLst>
              <a:ext uri="{FF2B5EF4-FFF2-40B4-BE49-F238E27FC236}">
                <a16:creationId xmlns:a16="http://schemas.microsoft.com/office/drawing/2014/main" id="{C255C83D-5EAA-9EBD-A62B-BCFFFF5489A0}"/>
              </a:ext>
            </a:extLst>
          </p:cNvPr>
          <p:cNvSpPr/>
          <p:nvPr/>
        </p:nvSpPr>
        <p:spPr>
          <a:xfrm>
            <a:off x="8119872" y="3090672"/>
            <a:ext cx="640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90" b="1" dirty="0">
                <a:solidFill>
                  <a:srgbClr val="0B2945"/>
                </a:solidFill>
              </a:rPr>
              <a:t>Roadmap</a:t>
            </a:r>
            <a:endParaRPr lang="en-US" sz="690" dirty="0"/>
          </a:p>
        </p:txBody>
      </p:sp>
      <p:sp>
        <p:nvSpPr>
          <p:cNvPr id="60" name="Shape 58">
            <a:extLst>
              <a:ext uri="{FF2B5EF4-FFF2-40B4-BE49-F238E27FC236}">
                <a16:creationId xmlns:a16="http://schemas.microsoft.com/office/drawing/2014/main" id="{978BE67E-EA31-CC72-7347-31509AEFBBE8}"/>
              </a:ext>
            </a:extLst>
          </p:cNvPr>
          <p:cNvSpPr/>
          <p:nvPr/>
        </p:nvSpPr>
        <p:spPr>
          <a:xfrm>
            <a:off x="502920" y="3703320"/>
            <a:ext cx="11183112" cy="2395728"/>
          </a:xfrm>
          <a:prstGeom prst="roundRect">
            <a:avLst>
              <a:gd name="adj" fmla="val 229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2700" dist="508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LU"/>
          </a:p>
        </p:txBody>
      </p:sp>
      <p:sp>
        <p:nvSpPr>
          <p:cNvPr id="61" name="Shape 59">
            <a:extLst>
              <a:ext uri="{FF2B5EF4-FFF2-40B4-BE49-F238E27FC236}">
                <a16:creationId xmlns:a16="http://schemas.microsoft.com/office/drawing/2014/main" id="{EEE8B8C1-4690-A8AF-FE02-E343BDF0A2B1}"/>
              </a:ext>
            </a:extLst>
          </p:cNvPr>
          <p:cNvSpPr/>
          <p:nvPr/>
        </p:nvSpPr>
        <p:spPr>
          <a:xfrm>
            <a:off x="713232" y="3904488"/>
            <a:ext cx="10762488" cy="347472"/>
          </a:xfrm>
          <a:prstGeom prst="roundRect">
            <a:avLst>
              <a:gd name="adj" fmla="val 10526"/>
            </a:avLst>
          </a:prstGeom>
          <a:solidFill>
            <a:srgbClr val="FFE800"/>
          </a:solidFill>
          <a:ln w="12700">
            <a:solidFill>
              <a:srgbClr val="FFE800"/>
            </a:solidFill>
            <a:prstDash val="solid"/>
          </a:ln>
        </p:spPr>
        <p:txBody>
          <a:bodyPr/>
          <a:lstStyle/>
          <a:p>
            <a:endParaRPr lang="fr-LU"/>
          </a:p>
        </p:txBody>
      </p:sp>
      <p:sp>
        <p:nvSpPr>
          <p:cNvPr id="62" name="Text 60">
            <a:extLst>
              <a:ext uri="{FF2B5EF4-FFF2-40B4-BE49-F238E27FC236}">
                <a16:creationId xmlns:a16="http://schemas.microsoft.com/office/drawing/2014/main" id="{D71D1DED-4A65-20C3-C01E-6AAFD1D4D6C0}"/>
              </a:ext>
            </a:extLst>
          </p:cNvPr>
          <p:cNvSpPr/>
          <p:nvPr/>
        </p:nvSpPr>
        <p:spPr>
          <a:xfrm>
            <a:off x="822960" y="3995928"/>
            <a:ext cx="10543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70" dirty="0">
                <a:solidFill>
                  <a:srgbClr val="0B2945"/>
                </a:solidFill>
              </a:rPr>
              <a:t>FEATURES</a:t>
            </a:r>
            <a:endParaRPr lang="en-US" sz="1000" dirty="0"/>
          </a:p>
        </p:txBody>
      </p:sp>
      <p:sp>
        <p:nvSpPr>
          <p:cNvPr id="63" name="Text 61">
            <a:extLst>
              <a:ext uri="{FF2B5EF4-FFF2-40B4-BE49-F238E27FC236}">
                <a16:creationId xmlns:a16="http://schemas.microsoft.com/office/drawing/2014/main" id="{3BA00C76-7B22-50AD-AC3F-5ACD47F143A1}"/>
              </a:ext>
            </a:extLst>
          </p:cNvPr>
          <p:cNvSpPr/>
          <p:nvPr/>
        </p:nvSpPr>
        <p:spPr>
          <a:xfrm>
            <a:off x="713232" y="4370832"/>
            <a:ext cx="33558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kern="0" spc="50" dirty="0">
                <a:solidFill>
                  <a:srgbClr val="0878BE"/>
                </a:solidFill>
              </a:rPr>
              <a:t>CONSUMPTION</a:t>
            </a:r>
            <a:endParaRPr lang="en-US" sz="880" dirty="0"/>
          </a:p>
        </p:txBody>
      </p:sp>
      <p:sp>
        <p:nvSpPr>
          <p:cNvPr id="64" name="Shape 62">
            <a:extLst>
              <a:ext uri="{FF2B5EF4-FFF2-40B4-BE49-F238E27FC236}">
                <a16:creationId xmlns:a16="http://schemas.microsoft.com/office/drawing/2014/main" id="{AB46698A-CDFF-96A0-5C8B-FA60BBA06AFC}"/>
              </a:ext>
            </a:extLst>
          </p:cNvPr>
          <p:cNvSpPr/>
          <p:nvPr/>
        </p:nvSpPr>
        <p:spPr>
          <a:xfrm>
            <a:off x="713232" y="4645152"/>
            <a:ext cx="3355848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C8D8E5"/>
            </a:solidFill>
            <a:prstDash val="solid"/>
          </a:ln>
        </p:spPr>
        <p:txBody>
          <a:bodyPr/>
          <a:lstStyle/>
          <a:p>
            <a:endParaRPr lang="fr-LU"/>
          </a:p>
        </p:txBody>
      </p:sp>
      <p:sp>
        <p:nvSpPr>
          <p:cNvPr id="65" name="Shape 63">
            <a:extLst>
              <a:ext uri="{FF2B5EF4-FFF2-40B4-BE49-F238E27FC236}">
                <a16:creationId xmlns:a16="http://schemas.microsoft.com/office/drawing/2014/main" id="{F1B33697-8E41-D525-49BB-918FB5B9AB6E}"/>
              </a:ext>
            </a:extLst>
          </p:cNvPr>
          <p:cNvSpPr/>
          <p:nvPr/>
        </p:nvSpPr>
        <p:spPr>
          <a:xfrm>
            <a:off x="786384" y="4741164"/>
            <a:ext cx="109728" cy="109728"/>
          </a:xfrm>
          <a:prstGeom prst="ellipse">
            <a:avLst/>
          </a:prstGeom>
          <a:solidFill>
            <a:srgbClr val="008000"/>
          </a:solidFill>
          <a:ln w="12700">
            <a:solidFill>
              <a:srgbClr val="008000"/>
            </a:solidFill>
            <a:prstDash val="solid"/>
          </a:ln>
        </p:spPr>
        <p:txBody>
          <a:bodyPr/>
          <a:lstStyle/>
          <a:p>
            <a:endParaRPr lang="fr-LU"/>
          </a:p>
        </p:txBody>
      </p:sp>
      <p:sp>
        <p:nvSpPr>
          <p:cNvPr id="66" name="Text 64">
            <a:extLst>
              <a:ext uri="{FF2B5EF4-FFF2-40B4-BE49-F238E27FC236}">
                <a16:creationId xmlns:a16="http://schemas.microsoft.com/office/drawing/2014/main" id="{EE2A3178-F20B-EAF1-FC2A-C46B861BFB74}"/>
              </a:ext>
            </a:extLst>
          </p:cNvPr>
          <p:cNvSpPr/>
          <p:nvPr/>
        </p:nvSpPr>
        <p:spPr>
          <a:xfrm>
            <a:off x="960120" y="4722876"/>
            <a:ext cx="24414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70" b="1" dirty="0">
                <a:solidFill>
                  <a:srgbClr val="0B2945"/>
                </a:solidFill>
              </a:rPr>
              <a:t>Model Gateway</a:t>
            </a:r>
            <a:endParaRPr lang="en-US" sz="870" dirty="0"/>
          </a:p>
        </p:txBody>
      </p:sp>
      <p:sp>
        <p:nvSpPr>
          <p:cNvPr id="67" name="Text 65">
            <a:extLst>
              <a:ext uri="{FF2B5EF4-FFF2-40B4-BE49-F238E27FC236}">
                <a16:creationId xmlns:a16="http://schemas.microsoft.com/office/drawing/2014/main" id="{F533D6DB-F55C-E7F9-F358-7A117C9B837D}"/>
              </a:ext>
            </a:extLst>
          </p:cNvPr>
          <p:cNvSpPr/>
          <p:nvPr/>
        </p:nvSpPr>
        <p:spPr>
          <a:xfrm>
            <a:off x="3337560" y="4727448"/>
            <a:ext cx="640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90" b="1" dirty="0">
                <a:solidFill>
                  <a:srgbClr val="0B2945"/>
                </a:solidFill>
              </a:rPr>
              <a:t>Available</a:t>
            </a:r>
            <a:endParaRPr lang="en-US" sz="690" dirty="0"/>
          </a:p>
        </p:txBody>
      </p:sp>
      <p:sp>
        <p:nvSpPr>
          <p:cNvPr id="68" name="Shape 66">
            <a:extLst>
              <a:ext uri="{FF2B5EF4-FFF2-40B4-BE49-F238E27FC236}">
                <a16:creationId xmlns:a16="http://schemas.microsoft.com/office/drawing/2014/main" id="{0438EEDF-7EE2-CBAC-BB37-F144D46B93F1}"/>
              </a:ext>
            </a:extLst>
          </p:cNvPr>
          <p:cNvSpPr/>
          <p:nvPr/>
        </p:nvSpPr>
        <p:spPr>
          <a:xfrm>
            <a:off x="713232" y="4992624"/>
            <a:ext cx="3355848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C8D8E5"/>
            </a:solidFill>
            <a:prstDash val="solid"/>
          </a:ln>
        </p:spPr>
        <p:txBody>
          <a:bodyPr/>
          <a:lstStyle/>
          <a:p>
            <a:endParaRPr lang="fr-LU"/>
          </a:p>
        </p:txBody>
      </p:sp>
      <p:sp>
        <p:nvSpPr>
          <p:cNvPr id="69" name="Shape 67">
            <a:extLst>
              <a:ext uri="{FF2B5EF4-FFF2-40B4-BE49-F238E27FC236}">
                <a16:creationId xmlns:a16="http://schemas.microsoft.com/office/drawing/2014/main" id="{DFBF94DF-02E5-47DB-69E2-F826BCAFEED2}"/>
              </a:ext>
            </a:extLst>
          </p:cNvPr>
          <p:cNvSpPr/>
          <p:nvPr/>
        </p:nvSpPr>
        <p:spPr>
          <a:xfrm>
            <a:off x="786384" y="5088636"/>
            <a:ext cx="109728" cy="109728"/>
          </a:xfrm>
          <a:prstGeom prst="ellipse">
            <a:avLst/>
          </a:prstGeom>
          <a:solidFill>
            <a:srgbClr val="008000"/>
          </a:solidFill>
          <a:ln w="12700">
            <a:solidFill>
              <a:srgbClr val="008000"/>
            </a:solidFill>
            <a:prstDash val="solid"/>
          </a:ln>
        </p:spPr>
        <p:txBody>
          <a:bodyPr/>
          <a:lstStyle/>
          <a:p>
            <a:endParaRPr lang="fr-LU"/>
          </a:p>
        </p:txBody>
      </p:sp>
      <p:sp>
        <p:nvSpPr>
          <p:cNvPr id="70" name="Text 68">
            <a:extLst>
              <a:ext uri="{FF2B5EF4-FFF2-40B4-BE49-F238E27FC236}">
                <a16:creationId xmlns:a16="http://schemas.microsoft.com/office/drawing/2014/main" id="{C25DDE2C-1363-565D-4ABC-12CC9CBF44C6}"/>
              </a:ext>
            </a:extLst>
          </p:cNvPr>
          <p:cNvSpPr/>
          <p:nvPr/>
        </p:nvSpPr>
        <p:spPr>
          <a:xfrm>
            <a:off x="960120" y="5070348"/>
            <a:ext cx="24414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70" b="1" dirty="0">
                <a:solidFill>
                  <a:srgbClr val="0B2945"/>
                </a:solidFill>
              </a:rPr>
              <a:t>Model-as-a-Service</a:t>
            </a:r>
            <a:endParaRPr lang="en-US" sz="870" dirty="0"/>
          </a:p>
        </p:txBody>
      </p:sp>
      <p:sp>
        <p:nvSpPr>
          <p:cNvPr id="71" name="Text 69">
            <a:extLst>
              <a:ext uri="{FF2B5EF4-FFF2-40B4-BE49-F238E27FC236}">
                <a16:creationId xmlns:a16="http://schemas.microsoft.com/office/drawing/2014/main" id="{D08DBE7B-3B58-D854-5B33-8FD66F833781}"/>
              </a:ext>
            </a:extLst>
          </p:cNvPr>
          <p:cNvSpPr/>
          <p:nvPr/>
        </p:nvSpPr>
        <p:spPr>
          <a:xfrm>
            <a:off x="3337560" y="5074920"/>
            <a:ext cx="640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90" b="1" dirty="0">
                <a:solidFill>
                  <a:srgbClr val="0B2945"/>
                </a:solidFill>
              </a:rPr>
              <a:t>Available</a:t>
            </a:r>
            <a:endParaRPr lang="en-US" sz="690" dirty="0"/>
          </a:p>
        </p:txBody>
      </p:sp>
      <p:sp>
        <p:nvSpPr>
          <p:cNvPr id="72" name="Shape 70">
            <a:extLst>
              <a:ext uri="{FF2B5EF4-FFF2-40B4-BE49-F238E27FC236}">
                <a16:creationId xmlns:a16="http://schemas.microsoft.com/office/drawing/2014/main" id="{DB452BA2-A11E-3521-F86F-5183D0F0B594}"/>
              </a:ext>
            </a:extLst>
          </p:cNvPr>
          <p:cNvSpPr/>
          <p:nvPr/>
        </p:nvSpPr>
        <p:spPr>
          <a:xfrm>
            <a:off x="713232" y="5340096"/>
            <a:ext cx="3355848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C8D8E5"/>
            </a:solidFill>
            <a:prstDash val="solid"/>
          </a:ln>
        </p:spPr>
        <p:txBody>
          <a:bodyPr/>
          <a:lstStyle/>
          <a:p>
            <a:endParaRPr lang="fr-LU"/>
          </a:p>
        </p:txBody>
      </p:sp>
      <p:sp>
        <p:nvSpPr>
          <p:cNvPr id="73" name="Shape 71">
            <a:extLst>
              <a:ext uri="{FF2B5EF4-FFF2-40B4-BE49-F238E27FC236}">
                <a16:creationId xmlns:a16="http://schemas.microsoft.com/office/drawing/2014/main" id="{ACF2FC51-892D-FF71-5510-F57B804A0694}"/>
              </a:ext>
            </a:extLst>
          </p:cNvPr>
          <p:cNvSpPr/>
          <p:nvPr/>
        </p:nvSpPr>
        <p:spPr>
          <a:xfrm>
            <a:off x="786384" y="5436108"/>
            <a:ext cx="109728" cy="109728"/>
          </a:xfrm>
          <a:prstGeom prst="ellipse">
            <a:avLst/>
          </a:prstGeom>
          <a:solidFill>
            <a:srgbClr val="FFED00"/>
          </a:solidFill>
          <a:ln w="12700">
            <a:solidFill>
              <a:srgbClr val="FFED00"/>
            </a:solidFill>
            <a:prstDash val="solid"/>
          </a:ln>
        </p:spPr>
        <p:txBody>
          <a:bodyPr/>
          <a:lstStyle/>
          <a:p>
            <a:endParaRPr lang="fr-LU"/>
          </a:p>
        </p:txBody>
      </p:sp>
      <p:sp>
        <p:nvSpPr>
          <p:cNvPr id="74" name="Text 72">
            <a:extLst>
              <a:ext uri="{FF2B5EF4-FFF2-40B4-BE49-F238E27FC236}">
                <a16:creationId xmlns:a16="http://schemas.microsoft.com/office/drawing/2014/main" id="{3CECA847-CBEF-C8EB-BE81-ECBC8D3D0638}"/>
              </a:ext>
            </a:extLst>
          </p:cNvPr>
          <p:cNvSpPr/>
          <p:nvPr/>
        </p:nvSpPr>
        <p:spPr>
          <a:xfrm>
            <a:off x="960120" y="5417820"/>
            <a:ext cx="24414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70" b="1" dirty="0">
                <a:solidFill>
                  <a:srgbClr val="0B2945"/>
                </a:solidFill>
              </a:rPr>
              <a:t>Deployment Recipes</a:t>
            </a:r>
            <a:endParaRPr lang="en-US" sz="870" dirty="0"/>
          </a:p>
        </p:txBody>
      </p:sp>
      <p:sp>
        <p:nvSpPr>
          <p:cNvPr id="75" name="Text 73">
            <a:extLst>
              <a:ext uri="{FF2B5EF4-FFF2-40B4-BE49-F238E27FC236}">
                <a16:creationId xmlns:a16="http://schemas.microsoft.com/office/drawing/2014/main" id="{B8AEBEC8-7628-CF0C-2BDB-73F0A8347E3C}"/>
              </a:ext>
            </a:extLst>
          </p:cNvPr>
          <p:cNvSpPr/>
          <p:nvPr/>
        </p:nvSpPr>
        <p:spPr>
          <a:xfrm>
            <a:off x="3337560" y="5422392"/>
            <a:ext cx="640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90" b="1" dirty="0">
                <a:solidFill>
                  <a:srgbClr val="0B2945"/>
                </a:solidFill>
              </a:rPr>
              <a:t>Oct 26 Release</a:t>
            </a:r>
            <a:endParaRPr lang="en-US" sz="690" dirty="0"/>
          </a:p>
        </p:txBody>
      </p:sp>
      <p:sp>
        <p:nvSpPr>
          <p:cNvPr id="76" name="Text 74">
            <a:extLst>
              <a:ext uri="{FF2B5EF4-FFF2-40B4-BE49-F238E27FC236}">
                <a16:creationId xmlns:a16="http://schemas.microsoft.com/office/drawing/2014/main" id="{AD4763EB-A6BA-145E-2DAC-E286640C70D5}"/>
              </a:ext>
            </a:extLst>
          </p:cNvPr>
          <p:cNvSpPr/>
          <p:nvPr/>
        </p:nvSpPr>
        <p:spPr>
          <a:xfrm>
            <a:off x="4306824" y="4370832"/>
            <a:ext cx="33558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kern="0" spc="50" dirty="0">
                <a:solidFill>
                  <a:srgbClr val="0878BE"/>
                </a:solidFill>
              </a:rPr>
              <a:t>MODEL LIFECYCLE</a:t>
            </a:r>
            <a:endParaRPr lang="en-US" sz="880" dirty="0"/>
          </a:p>
        </p:txBody>
      </p:sp>
      <p:sp>
        <p:nvSpPr>
          <p:cNvPr id="77" name="Shape 75">
            <a:extLst>
              <a:ext uri="{FF2B5EF4-FFF2-40B4-BE49-F238E27FC236}">
                <a16:creationId xmlns:a16="http://schemas.microsoft.com/office/drawing/2014/main" id="{A467B942-6B3C-59BE-5C38-C3D053430933}"/>
              </a:ext>
            </a:extLst>
          </p:cNvPr>
          <p:cNvSpPr/>
          <p:nvPr/>
        </p:nvSpPr>
        <p:spPr>
          <a:xfrm>
            <a:off x="4306824" y="4645152"/>
            <a:ext cx="3355848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C8D8E5"/>
            </a:solidFill>
            <a:prstDash val="solid"/>
          </a:ln>
        </p:spPr>
        <p:txBody>
          <a:bodyPr/>
          <a:lstStyle/>
          <a:p>
            <a:endParaRPr lang="fr-LU"/>
          </a:p>
        </p:txBody>
      </p:sp>
      <p:sp>
        <p:nvSpPr>
          <p:cNvPr id="78" name="Shape 76">
            <a:extLst>
              <a:ext uri="{FF2B5EF4-FFF2-40B4-BE49-F238E27FC236}">
                <a16:creationId xmlns:a16="http://schemas.microsoft.com/office/drawing/2014/main" id="{9A2FA57B-8028-00ED-1B6D-074B525239B2}"/>
              </a:ext>
            </a:extLst>
          </p:cNvPr>
          <p:cNvSpPr/>
          <p:nvPr/>
        </p:nvSpPr>
        <p:spPr>
          <a:xfrm>
            <a:off x="4379976" y="4741164"/>
            <a:ext cx="109728" cy="109728"/>
          </a:xfrm>
          <a:prstGeom prst="ellipse">
            <a:avLst/>
          </a:prstGeom>
          <a:solidFill>
            <a:srgbClr val="008000"/>
          </a:solidFill>
          <a:ln w="12700">
            <a:solidFill>
              <a:srgbClr val="008000"/>
            </a:solidFill>
            <a:prstDash val="solid"/>
          </a:ln>
        </p:spPr>
        <p:txBody>
          <a:bodyPr/>
          <a:lstStyle/>
          <a:p>
            <a:endParaRPr lang="fr-LU"/>
          </a:p>
        </p:txBody>
      </p:sp>
      <p:sp>
        <p:nvSpPr>
          <p:cNvPr id="79" name="Text 77">
            <a:extLst>
              <a:ext uri="{FF2B5EF4-FFF2-40B4-BE49-F238E27FC236}">
                <a16:creationId xmlns:a16="http://schemas.microsoft.com/office/drawing/2014/main" id="{FCB9F770-BEB0-F35C-0641-1234610B722A}"/>
              </a:ext>
            </a:extLst>
          </p:cNvPr>
          <p:cNvSpPr/>
          <p:nvPr/>
        </p:nvSpPr>
        <p:spPr>
          <a:xfrm>
            <a:off x="4553712" y="4722876"/>
            <a:ext cx="24414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70" b="1" dirty="0">
                <a:solidFill>
                  <a:srgbClr val="0B2945"/>
                </a:solidFill>
              </a:rPr>
              <a:t>Model Scheduling</a:t>
            </a:r>
            <a:endParaRPr lang="en-US" sz="870" dirty="0"/>
          </a:p>
        </p:txBody>
      </p:sp>
      <p:sp>
        <p:nvSpPr>
          <p:cNvPr id="80" name="Text 78">
            <a:extLst>
              <a:ext uri="{FF2B5EF4-FFF2-40B4-BE49-F238E27FC236}">
                <a16:creationId xmlns:a16="http://schemas.microsoft.com/office/drawing/2014/main" id="{B6E0878A-8BA3-04A8-7D84-6BD44DE10736}"/>
              </a:ext>
            </a:extLst>
          </p:cNvPr>
          <p:cNvSpPr/>
          <p:nvPr/>
        </p:nvSpPr>
        <p:spPr>
          <a:xfrm>
            <a:off x="6931152" y="4727448"/>
            <a:ext cx="640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90" b="1" dirty="0">
                <a:solidFill>
                  <a:srgbClr val="0B2945"/>
                </a:solidFill>
              </a:rPr>
              <a:t>Available</a:t>
            </a:r>
            <a:endParaRPr lang="en-US" sz="690" dirty="0"/>
          </a:p>
        </p:txBody>
      </p:sp>
      <p:sp>
        <p:nvSpPr>
          <p:cNvPr id="81" name="Shape 79">
            <a:extLst>
              <a:ext uri="{FF2B5EF4-FFF2-40B4-BE49-F238E27FC236}">
                <a16:creationId xmlns:a16="http://schemas.microsoft.com/office/drawing/2014/main" id="{4E122C70-48ED-E9FC-15F2-6D3B349F308F}"/>
              </a:ext>
            </a:extLst>
          </p:cNvPr>
          <p:cNvSpPr/>
          <p:nvPr/>
        </p:nvSpPr>
        <p:spPr>
          <a:xfrm>
            <a:off x="4306824" y="4992624"/>
            <a:ext cx="3355848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C8D8E5"/>
            </a:solidFill>
            <a:prstDash val="solid"/>
          </a:ln>
        </p:spPr>
        <p:txBody>
          <a:bodyPr/>
          <a:lstStyle/>
          <a:p>
            <a:endParaRPr lang="fr-LU"/>
          </a:p>
        </p:txBody>
      </p:sp>
      <p:sp>
        <p:nvSpPr>
          <p:cNvPr id="82" name="Shape 80">
            <a:extLst>
              <a:ext uri="{FF2B5EF4-FFF2-40B4-BE49-F238E27FC236}">
                <a16:creationId xmlns:a16="http://schemas.microsoft.com/office/drawing/2014/main" id="{450EBE93-B00B-E537-7DE4-D3A43ED7F9A2}"/>
              </a:ext>
            </a:extLst>
          </p:cNvPr>
          <p:cNvSpPr/>
          <p:nvPr/>
        </p:nvSpPr>
        <p:spPr>
          <a:xfrm>
            <a:off x="4379976" y="5088636"/>
            <a:ext cx="109728" cy="109728"/>
          </a:xfrm>
          <a:prstGeom prst="ellipse">
            <a:avLst/>
          </a:prstGeom>
          <a:solidFill>
            <a:srgbClr val="008000"/>
          </a:solidFill>
          <a:ln w="12700">
            <a:solidFill>
              <a:srgbClr val="008000"/>
            </a:solidFill>
            <a:prstDash val="solid"/>
          </a:ln>
        </p:spPr>
        <p:txBody>
          <a:bodyPr/>
          <a:lstStyle/>
          <a:p>
            <a:endParaRPr lang="fr-LU"/>
          </a:p>
        </p:txBody>
      </p:sp>
      <p:sp>
        <p:nvSpPr>
          <p:cNvPr id="83" name="Text 81">
            <a:extLst>
              <a:ext uri="{FF2B5EF4-FFF2-40B4-BE49-F238E27FC236}">
                <a16:creationId xmlns:a16="http://schemas.microsoft.com/office/drawing/2014/main" id="{C37D21D0-246F-2642-067F-F48D0BDCADCC}"/>
              </a:ext>
            </a:extLst>
          </p:cNvPr>
          <p:cNvSpPr/>
          <p:nvPr/>
        </p:nvSpPr>
        <p:spPr>
          <a:xfrm>
            <a:off x="4553712" y="5070348"/>
            <a:ext cx="24414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70" b="1" dirty="0">
                <a:solidFill>
                  <a:srgbClr val="0B2945"/>
                </a:solidFill>
              </a:rPr>
              <a:t>SDK for Application Integration</a:t>
            </a:r>
            <a:endParaRPr lang="en-US" sz="870" dirty="0"/>
          </a:p>
        </p:txBody>
      </p:sp>
      <p:sp>
        <p:nvSpPr>
          <p:cNvPr id="84" name="Text 82">
            <a:extLst>
              <a:ext uri="{FF2B5EF4-FFF2-40B4-BE49-F238E27FC236}">
                <a16:creationId xmlns:a16="http://schemas.microsoft.com/office/drawing/2014/main" id="{974FBE25-0F3E-FF15-1ADE-C37295914100}"/>
              </a:ext>
            </a:extLst>
          </p:cNvPr>
          <p:cNvSpPr/>
          <p:nvPr/>
        </p:nvSpPr>
        <p:spPr>
          <a:xfrm>
            <a:off x="6931152" y="5074920"/>
            <a:ext cx="640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90" b="1" dirty="0">
                <a:solidFill>
                  <a:srgbClr val="0B2945"/>
                </a:solidFill>
              </a:rPr>
              <a:t>Available</a:t>
            </a:r>
            <a:endParaRPr lang="en-US" sz="690" dirty="0"/>
          </a:p>
        </p:txBody>
      </p:sp>
      <p:sp>
        <p:nvSpPr>
          <p:cNvPr id="85" name="Shape 83">
            <a:extLst>
              <a:ext uri="{FF2B5EF4-FFF2-40B4-BE49-F238E27FC236}">
                <a16:creationId xmlns:a16="http://schemas.microsoft.com/office/drawing/2014/main" id="{41EC3BA7-6D7C-F565-1FB9-265142A62422}"/>
              </a:ext>
            </a:extLst>
          </p:cNvPr>
          <p:cNvSpPr/>
          <p:nvPr/>
        </p:nvSpPr>
        <p:spPr>
          <a:xfrm>
            <a:off x="4306824" y="5340096"/>
            <a:ext cx="3355848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C8D8E5"/>
            </a:solidFill>
            <a:prstDash val="solid"/>
          </a:ln>
        </p:spPr>
        <p:txBody>
          <a:bodyPr/>
          <a:lstStyle/>
          <a:p>
            <a:endParaRPr lang="fr-LU"/>
          </a:p>
        </p:txBody>
      </p:sp>
      <p:sp>
        <p:nvSpPr>
          <p:cNvPr id="86" name="Shape 84">
            <a:extLst>
              <a:ext uri="{FF2B5EF4-FFF2-40B4-BE49-F238E27FC236}">
                <a16:creationId xmlns:a16="http://schemas.microsoft.com/office/drawing/2014/main" id="{E2CED651-5032-EA25-8818-2F2A149E6BFE}"/>
              </a:ext>
            </a:extLst>
          </p:cNvPr>
          <p:cNvSpPr/>
          <p:nvPr/>
        </p:nvSpPr>
        <p:spPr>
          <a:xfrm>
            <a:off x="4379976" y="5436108"/>
            <a:ext cx="109728" cy="109728"/>
          </a:xfrm>
          <a:prstGeom prst="ellipse">
            <a:avLst/>
          </a:prstGeom>
          <a:solidFill>
            <a:srgbClr val="008000"/>
          </a:solidFill>
          <a:ln w="12700">
            <a:solidFill>
              <a:srgbClr val="008000"/>
            </a:solidFill>
            <a:prstDash val="solid"/>
          </a:ln>
        </p:spPr>
        <p:txBody>
          <a:bodyPr/>
          <a:lstStyle/>
          <a:p>
            <a:endParaRPr lang="fr-LU"/>
          </a:p>
        </p:txBody>
      </p:sp>
      <p:sp>
        <p:nvSpPr>
          <p:cNvPr id="87" name="Text 85">
            <a:extLst>
              <a:ext uri="{FF2B5EF4-FFF2-40B4-BE49-F238E27FC236}">
                <a16:creationId xmlns:a16="http://schemas.microsoft.com/office/drawing/2014/main" id="{A791360C-31C3-CF5A-054B-0BF5F4198CF1}"/>
              </a:ext>
            </a:extLst>
          </p:cNvPr>
          <p:cNvSpPr/>
          <p:nvPr/>
        </p:nvSpPr>
        <p:spPr>
          <a:xfrm>
            <a:off x="4553712" y="5417820"/>
            <a:ext cx="24414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70" b="1" dirty="0">
                <a:solidFill>
                  <a:srgbClr val="0B2945"/>
                </a:solidFill>
              </a:rPr>
              <a:t>Shared Model</a:t>
            </a:r>
            <a:endParaRPr lang="en-US" sz="870" dirty="0"/>
          </a:p>
        </p:txBody>
      </p:sp>
      <p:sp>
        <p:nvSpPr>
          <p:cNvPr id="88" name="Text 86">
            <a:extLst>
              <a:ext uri="{FF2B5EF4-FFF2-40B4-BE49-F238E27FC236}">
                <a16:creationId xmlns:a16="http://schemas.microsoft.com/office/drawing/2014/main" id="{6AEF7E92-DDF0-C46E-B1F7-3BA5132F4B28}"/>
              </a:ext>
            </a:extLst>
          </p:cNvPr>
          <p:cNvSpPr/>
          <p:nvPr/>
        </p:nvSpPr>
        <p:spPr>
          <a:xfrm>
            <a:off x="6931152" y="5422392"/>
            <a:ext cx="640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90" b="1" dirty="0">
                <a:solidFill>
                  <a:srgbClr val="0B2945"/>
                </a:solidFill>
              </a:rPr>
              <a:t>Available</a:t>
            </a:r>
            <a:endParaRPr lang="en-US" sz="690" dirty="0"/>
          </a:p>
        </p:txBody>
      </p:sp>
      <p:sp>
        <p:nvSpPr>
          <p:cNvPr id="89" name="Shape 87">
            <a:extLst>
              <a:ext uri="{FF2B5EF4-FFF2-40B4-BE49-F238E27FC236}">
                <a16:creationId xmlns:a16="http://schemas.microsoft.com/office/drawing/2014/main" id="{9D279047-10EA-CCEE-67D7-B35E31DB1299}"/>
              </a:ext>
            </a:extLst>
          </p:cNvPr>
          <p:cNvSpPr/>
          <p:nvPr/>
        </p:nvSpPr>
        <p:spPr>
          <a:xfrm>
            <a:off x="4306824" y="5687568"/>
            <a:ext cx="3355848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C8D8E5"/>
            </a:solidFill>
            <a:prstDash val="solid"/>
          </a:ln>
        </p:spPr>
        <p:txBody>
          <a:bodyPr/>
          <a:lstStyle/>
          <a:p>
            <a:endParaRPr lang="fr-LU"/>
          </a:p>
        </p:txBody>
      </p:sp>
      <p:sp>
        <p:nvSpPr>
          <p:cNvPr id="90" name="Shape 88">
            <a:extLst>
              <a:ext uri="{FF2B5EF4-FFF2-40B4-BE49-F238E27FC236}">
                <a16:creationId xmlns:a16="http://schemas.microsoft.com/office/drawing/2014/main" id="{D2E4244B-064A-7BCA-6EF1-CAA1E4C597EF}"/>
              </a:ext>
            </a:extLst>
          </p:cNvPr>
          <p:cNvSpPr/>
          <p:nvPr/>
        </p:nvSpPr>
        <p:spPr>
          <a:xfrm>
            <a:off x="4379976" y="5783580"/>
            <a:ext cx="109728" cy="109728"/>
          </a:xfrm>
          <a:prstGeom prst="ellipse">
            <a:avLst/>
          </a:prstGeom>
          <a:solidFill>
            <a:srgbClr val="008000"/>
          </a:solidFill>
          <a:ln w="12700">
            <a:solidFill>
              <a:srgbClr val="008000"/>
            </a:solidFill>
            <a:prstDash val="solid"/>
          </a:ln>
        </p:spPr>
        <p:txBody>
          <a:bodyPr/>
          <a:lstStyle/>
          <a:p>
            <a:endParaRPr lang="fr-LU"/>
          </a:p>
        </p:txBody>
      </p:sp>
      <p:sp>
        <p:nvSpPr>
          <p:cNvPr id="91" name="Text 89">
            <a:extLst>
              <a:ext uri="{FF2B5EF4-FFF2-40B4-BE49-F238E27FC236}">
                <a16:creationId xmlns:a16="http://schemas.microsoft.com/office/drawing/2014/main" id="{B17C60E8-61DD-7548-3B17-522397C4C2E7}"/>
              </a:ext>
            </a:extLst>
          </p:cNvPr>
          <p:cNvSpPr/>
          <p:nvPr/>
        </p:nvSpPr>
        <p:spPr>
          <a:xfrm>
            <a:off x="4553712" y="5765292"/>
            <a:ext cx="24414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70" b="1" dirty="0">
                <a:solidFill>
                  <a:srgbClr val="0B2945"/>
                </a:solidFill>
              </a:rPr>
              <a:t>Dynamic GPU Scaling</a:t>
            </a:r>
            <a:endParaRPr lang="en-US" sz="870" dirty="0"/>
          </a:p>
        </p:txBody>
      </p:sp>
      <p:sp>
        <p:nvSpPr>
          <p:cNvPr id="92" name="Text 90">
            <a:extLst>
              <a:ext uri="{FF2B5EF4-FFF2-40B4-BE49-F238E27FC236}">
                <a16:creationId xmlns:a16="http://schemas.microsoft.com/office/drawing/2014/main" id="{890B4E8B-3887-2915-AAEA-A6BAC148E56F}"/>
              </a:ext>
            </a:extLst>
          </p:cNvPr>
          <p:cNvSpPr/>
          <p:nvPr/>
        </p:nvSpPr>
        <p:spPr>
          <a:xfrm>
            <a:off x="6931152" y="5769864"/>
            <a:ext cx="640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90" b="1" dirty="0">
                <a:solidFill>
                  <a:srgbClr val="0B2945"/>
                </a:solidFill>
              </a:rPr>
              <a:t>Available</a:t>
            </a:r>
            <a:endParaRPr lang="en-US" sz="690" dirty="0"/>
          </a:p>
        </p:txBody>
      </p:sp>
      <p:sp>
        <p:nvSpPr>
          <p:cNvPr id="93" name="Text 91">
            <a:extLst>
              <a:ext uri="{FF2B5EF4-FFF2-40B4-BE49-F238E27FC236}">
                <a16:creationId xmlns:a16="http://schemas.microsoft.com/office/drawing/2014/main" id="{7697DE24-CBAC-E35D-EB5E-57A9BECB4F79}"/>
              </a:ext>
            </a:extLst>
          </p:cNvPr>
          <p:cNvSpPr/>
          <p:nvPr/>
        </p:nvSpPr>
        <p:spPr>
          <a:xfrm>
            <a:off x="7900416" y="4370832"/>
            <a:ext cx="33558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kern="0" spc="50" dirty="0">
                <a:solidFill>
                  <a:srgbClr val="0878BE"/>
                </a:solidFill>
              </a:rPr>
              <a:t>OPERATIONS</a:t>
            </a:r>
            <a:endParaRPr lang="en-US" sz="880" dirty="0"/>
          </a:p>
        </p:txBody>
      </p:sp>
      <p:sp>
        <p:nvSpPr>
          <p:cNvPr id="94" name="Shape 92">
            <a:extLst>
              <a:ext uri="{FF2B5EF4-FFF2-40B4-BE49-F238E27FC236}">
                <a16:creationId xmlns:a16="http://schemas.microsoft.com/office/drawing/2014/main" id="{B4E147B9-08CD-79DB-C635-7020712BABD6}"/>
              </a:ext>
            </a:extLst>
          </p:cNvPr>
          <p:cNvSpPr/>
          <p:nvPr/>
        </p:nvSpPr>
        <p:spPr>
          <a:xfrm>
            <a:off x="7900416" y="4645152"/>
            <a:ext cx="3355848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C8D8E5"/>
            </a:solidFill>
            <a:prstDash val="solid"/>
          </a:ln>
        </p:spPr>
        <p:txBody>
          <a:bodyPr/>
          <a:lstStyle/>
          <a:p>
            <a:endParaRPr lang="fr-LU"/>
          </a:p>
        </p:txBody>
      </p:sp>
      <p:sp>
        <p:nvSpPr>
          <p:cNvPr id="95" name="Shape 93">
            <a:extLst>
              <a:ext uri="{FF2B5EF4-FFF2-40B4-BE49-F238E27FC236}">
                <a16:creationId xmlns:a16="http://schemas.microsoft.com/office/drawing/2014/main" id="{4FC3F0F7-52CE-FA94-BAED-3A5FDE7575B7}"/>
              </a:ext>
            </a:extLst>
          </p:cNvPr>
          <p:cNvSpPr/>
          <p:nvPr/>
        </p:nvSpPr>
        <p:spPr>
          <a:xfrm>
            <a:off x="7973568" y="4741164"/>
            <a:ext cx="109728" cy="109728"/>
          </a:xfrm>
          <a:prstGeom prst="ellipse">
            <a:avLst/>
          </a:prstGeom>
          <a:solidFill>
            <a:srgbClr val="008000"/>
          </a:solidFill>
          <a:ln w="12700">
            <a:solidFill>
              <a:srgbClr val="008000"/>
            </a:solidFill>
            <a:prstDash val="solid"/>
          </a:ln>
        </p:spPr>
        <p:txBody>
          <a:bodyPr/>
          <a:lstStyle/>
          <a:p>
            <a:endParaRPr lang="fr-LU"/>
          </a:p>
        </p:txBody>
      </p:sp>
      <p:sp>
        <p:nvSpPr>
          <p:cNvPr id="96" name="Text 94">
            <a:extLst>
              <a:ext uri="{FF2B5EF4-FFF2-40B4-BE49-F238E27FC236}">
                <a16:creationId xmlns:a16="http://schemas.microsoft.com/office/drawing/2014/main" id="{A61207C7-9D31-2C47-31BC-D47ADB5EF8B4}"/>
              </a:ext>
            </a:extLst>
          </p:cNvPr>
          <p:cNvSpPr/>
          <p:nvPr/>
        </p:nvSpPr>
        <p:spPr>
          <a:xfrm>
            <a:off x="8147304" y="4722876"/>
            <a:ext cx="24414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70" b="1" dirty="0">
                <a:solidFill>
                  <a:srgbClr val="0B2945"/>
                </a:solidFill>
              </a:rPr>
              <a:t>Monitoring &amp; Observability</a:t>
            </a:r>
            <a:endParaRPr lang="en-US" sz="870" dirty="0"/>
          </a:p>
        </p:txBody>
      </p:sp>
      <p:sp>
        <p:nvSpPr>
          <p:cNvPr id="97" name="Text 95">
            <a:extLst>
              <a:ext uri="{FF2B5EF4-FFF2-40B4-BE49-F238E27FC236}">
                <a16:creationId xmlns:a16="http://schemas.microsoft.com/office/drawing/2014/main" id="{069C0A5D-5F9D-C1A8-0E1E-782A7BFB0581}"/>
              </a:ext>
            </a:extLst>
          </p:cNvPr>
          <p:cNvSpPr/>
          <p:nvPr/>
        </p:nvSpPr>
        <p:spPr>
          <a:xfrm>
            <a:off x="10524744" y="4727448"/>
            <a:ext cx="640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90" b="1" dirty="0">
                <a:solidFill>
                  <a:srgbClr val="0B2945"/>
                </a:solidFill>
              </a:rPr>
              <a:t>Available</a:t>
            </a:r>
            <a:endParaRPr lang="en-US" sz="690" dirty="0"/>
          </a:p>
        </p:txBody>
      </p:sp>
      <p:sp>
        <p:nvSpPr>
          <p:cNvPr id="98" name="Shape 96">
            <a:extLst>
              <a:ext uri="{FF2B5EF4-FFF2-40B4-BE49-F238E27FC236}">
                <a16:creationId xmlns:a16="http://schemas.microsoft.com/office/drawing/2014/main" id="{9AE8AA2B-505E-33B8-522A-04320A3E4F38}"/>
              </a:ext>
            </a:extLst>
          </p:cNvPr>
          <p:cNvSpPr/>
          <p:nvPr/>
        </p:nvSpPr>
        <p:spPr>
          <a:xfrm>
            <a:off x="7900416" y="4992624"/>
            <a:ext cx="3355848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C8D8E5"/>
            </a:solidFill>
            <a:prstDash val="solid"/>
          </a:ln>
        </p:spPr>
        <p:txBody>
          <a:bodyPr/>
          <a:lstStyle/>
          <a:p>
            <a:endParaRPr lang="fr-LU"/>
          </a:p>
        </p:txBody>
      </p:sp>
      <p:sp>
        <p:nvSpPr>
          <p:cNvPr id="99" name="Shape 97">
            <a:extLst>
              <a:ext uri="{FF2B5EF4-FFF2-40B4-BE49-F238E27FC236}">
                <a16:creationId xmlns:a16="http://schemas.microsoft.com/office/drawing/2014/main" id="{B95FF23D-CFD6-3156-F0EE-7D8950F8ECD7}"/>
              </a:ext>
            </a:extLst>
          </p:cNvPr>
          <p:cNvSpPr/>
          <p:nvPr/>
        </p:nvSpPr>
        <p:spPr>
          <a:xfrm>
            <a:off x="7973568" y="5088636"/>
            <a:ext cx="109728" cy="109728"/>
          </a:xfrm>
          <a:prstGeom prst="ellipse">
            <a:avLst/>
          </a:prstGeom>
          <a:solidFill>
            <a:srgbClr val="008000"/>
          </a:solidFill>
          <a:ln w="12700">
            <a:solidFill>
              <a:srgbClr val="008000"/>
            </a:solidFill>
            <a:prstDash val="solid"/>
          </a:ln>
        </p:spPr>
        <p:txBody>
          <a:bodyPr/>
          <a:lstStyle/>
          <a:p>
            <a:endParaRPr lang="fr-LU"/>
          </a:p>
        </p:txBody>
      </p:sp>
      <p:sp>
        <p:nvSpPr>
          <p:cNvPr id="100" name="Text 98">
            <a:extLst>
              <a:ext uri="{FF2B5EF4-FFF2-40B4-BE49-F238E27FC236}">
                <a16:creationId xmlns:a16="http://schemas.microsoft.com/office/drawing/2014/main" id="{B9A1BA01-9105-7A52-5830-FE84872608C1}"/>
              </a:ext>
            </a:extLst>
          </p:cNvPr>
          <p:cNvSpPr/>
          <p:nvPr/>
        </p:nvSpPr>
        <p:spPr>
          <a:xfrm>
            <a:off x="8147304" y="5070348"/>
            <a:ext cx="24414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70" b="1" dirty="0">
                <a:solidFill>
                  <a:srgbClr val="0B2945"/>
                </a:solidFill>
              </a:rPr>
              <a:t>CLI for Infrastructure Operations</a:t>
            </a:r>
            <a:endParaRPr lang="en-US" sz="870" dirty="0"/>
          </a:p>
        </p:txBody>
      </p:sp>
      <p:sp>
        <p:nvSpPr>
          <p:cNvPr id="101" name="Text 99">
            <a:extLst>
              <a:ext uri="{FF2B5EF4-FFF2-40B4-BE49-F238E27FC236}">
                <a16:creationId xmlns:a16="http://schemas.microsoft.com/office/drawing/2014/main" id="{DD0B2AD3-428D-20F8-9A17-725B2C98360E}"/>
              </a:ext>
            </a:extLst>
          </p:cNvPr>
          <p:cNvSpPr/>
          <p:nvPr/>
        </p:nvSpPr>
        <p:spPr>
          <a:xfrm>
            <a:off x="10524744" y="5074920"/>
            <a:ext cx="640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90" b="1" dirty="0">
                <a:solidFill>
                  <a:srgbClr val="0B2945"/>
                </a:solidFill>
              </a:rPr>
              <a:t>Available</a:t>
            </a:r>
            <a:endParaRPr lang="en-US" sz="690" dirty="0"/>
          </a:p>
        </p:txBody>
      </p:sp>
      <p:sp>
        <p:nvSpPr>
          <p:cNvPr id="102" name="Shape 100">
            <a:extLst>
              <a:ext uri="{FF2B5EF4-FFF2-40B4-BE49-F238E27FC236}">
                <a16:creationId xmlns:a16="http://schemas.microsoft.com/office/drawing/2014/main" id="{D3B09EEE-232C-52E2-CCCF-D3504D993E44}"/>
              </a:ext>
            </a:extLst>
          </p:cNvPr>
          <p:cNvSpPr/>
          <p:nvPr/>
        </p:nvSpPr>
        <p:spPr>
          <a:xfrm>
            <a:off x="7900416" y="5340096"/>
            <a:ext cx="3355848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C8D8E5"/>
            </a:solidFill>
            <a:prstDash val="solid"/>
          </a:ln>
        </p:spPr>
        <p:txBody>
          <a:bodyPr/>
          <a:lstStyle/>
          <a:p>
            <a:endParaRPr lang="fr-LU"/>
          </a:p>
        </p:txBody>
      </p:sp>
      <p:sp>
        <p:nvSpPr>
          <p:cNvPr id="103" name="Shape 101">
            <a:extLst>
              <a:ext uri="{FF2B5EF4-FFF2-40B4-BE49-F238E27FC236}">
                <a16:creationId xmlns:a16="http://schemas.microsoft.com/office/drawing/2014/main" id="{E43F83CB-993C-C609-FE38-645325EBF4C3}"/>
              </a:ext>
            </a:extLst>
          </p:cNvPr>
          <p:cNvSpPr/>
          <p:nvPr/>
        </p:nvSpPr>
        <p:spPr>
          <a:xfrm>
            <a:off x="7973568" y="5436108"/>
            <a:ext cx="109728" cy="109728"/>
          </a:xfrm>
          <a:prstGeom prst="ellipse">
            <a:avLst/>
          </a:prstGeom>
          <a:solidFill>
            <a:srgbClr val="194CA4"/>
          </a:solidFill>
          <a:ln w="12700">
            <a:solidFill>
              <a:srgbClr val="194CA4"/>
            </a:solidFill>
            <a:prstDash val="solid"/>
          </a:ln>
        </p:spPr>
        <p:txBody>
          <a:bodyPr/>
          <a:lstStyle/>
          <a:p>
            <a:endParaRPr lang="fr-LU"/>
          </a:p>
        </p:txBody>
      </p:sp>
      <p:sp>
        <p:nvSpPr>
          <p:cNvPr id="104" name="Text 102">
            <a:extLst>
              <a:ext uri="{FF2B5EF4-FFF2-40B4-BE49-F238E27FC236}">
                <a16:creationId xmlns:a16="http://schemas.microsoft.com/office/drawing/2014/main" id="{A4F8AF90-95EC-2E17-46C7-7EDE005120F0}"/>
              </a:ext>
            </a:extLst>
          </p:cNvPr>
          <p:cNvSpPr/>
          <p:nvPr/>
        </p:nvSpPr>
        <p:spPr>
          <a:xfrm>
            <a:off x="8147304" y="5417820"/>
            <a:ext cx="24414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70" b="1" dirty="0">
                <a:solidFill>
                  <a:srgbClr val="0B2945"/>
                </a:solidFill>
              </a:rPr>
              <a:t>Advanced Admin</a:t>
            </a:r>
            <a:endParaRPr lang="en-US" sz="870" dirty="0"/>
          </a:p>
        </p:txBody>
      </p:sp>
      <p:sp>
        <p:nvSpPr>
          <p:cNvPr id="105" name="Text 103">
            <a:extLst>
              <a:ext uri="{FF2B5EF4-FFF2-40B4-BE49-F238E27FC236}">
                <a16:creationId xmlns:a16="http://schemas.microsoft.com/office/drawing/2014/main" id="{0C7E5A66-B4E0-DDE2-0486-C8611D6037D9}"/>
              </a:ext>
            </a:extLst>
          </p:cNvPr>
          <p:cNvSpPr/>
          <p:nvPr/>
        </p:nvSpPr>
        <p:spPr>
          <a:xfrm>
            <a:off x="10524744" y="5422392"/>
            <a:ext cx="640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90" b="1" dirty="0">
                <a:solidFill>
                  <a:srgbClr val="0B2945"/>
                </a:solidFill>
              </a:rPr>
              <a:t>Roadmap</a:t>
            </a:r>
            <a:endParaRPr lang="en-US" sz="690" dirty="0"/>
          </a:p>
        </p:txBody>
      </p:sp>
      <p:sp>
        <p:nvSpPr>
          <p:cNvPr id="106" name="Fußzeilenplatzhalter 4">
            <a:extLst>
              <a:ext uri="{FF2B5EF4-FFF2-40B4-BE49-F238E27FC236}">
                <a16:creationId xmlns:a16="http://schemas.microsoft.com/office/drawing/2014/main" id="{E663499A-7E0E-152E-6EE9-E7BB2E7C7E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742537" y="6365875"/>
            <a:ext cx="78500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rgbClr val="FFFFFF"/>
                </a:solidFill>
                <a:latin typeface="Jura" panose="020B0604020202020204" charset="0"/>
                <a:ea typeface="Jura" panose="020B0604020202020204" charset="0"/>
              </a:defRPr>
            </a:lvl1pPr>
          </a:lstStyle>
          <a:p>
            <a:r>
              <a:rPr lang="en-US" dirty="0"/>
              <a:t>DeployAI  WA3 2026_2027 Strategy &amp; Roll-Out Planning  |  Luxembourg, September 10, 2026  |  Private &amp; Confidential</a:t>
            </a:r>
          </a:p>
        </p:txBody>
      </p:sp>
    </p:spTree>
    <p:extLst>
      <p:ext uri="{BB962C8B-B14F-4D97-AF65-F5344CB8AC3E}">
        <p14:creationId xmlns:p14="http://schemas.microsoft.com/office/powerpoint/2010/main" val="28497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D65F802E-2360-22AB-C44F-7D4B9DE780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AIODP Sovereign Services Integration under Flinky</a:t>
            </a:r>
          </a:p>
        </p:txBody>
      </p:sp>
      <p:graphicFrame>
        <p:nvGraphicFramePr>
          <p:cNvPr id="12" name="Inhaltsplatzhalter 11">
            <a:extLst>
              <a:ext uri="{FF2B5EF4-FFF2-40B4-BE49-F238E27FC236}">
                <a16:creationId xmlns:a16="http://schemas.microsoft.com/office/drawing/2014/main" id="{12D5D51B-C495-9FBD-6FEA-007E667A5D8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42823411"/>
              </p:ext>
            </p:extLst>
          </p:nvPr>
        </p:nvGraphicFramePr>
        <p:xfrm>
          <a:off x="838200" y="1506538"/>
          <a:ext cx="10515600" cy="46704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3" name="Fußzeilenplatzhalter 4">
            <a:extLst>
              <a:ext uri="{FF2B5EF4-FFF2-40B4-BE49-F238E27FC236}">
                <a16:creationId xmlns:a16="http://schemas.microsoft.com/office/drawing/2014/main" id="{D007DF74-D79B-395E-9B16-840FF70057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742537" y="6365875"/>
            <a:ext cx="78500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rgbClr val="FFFFFF"/>
                </a:solidFill>
                <a:latin typeface="Jura" panose="020B0604020202020204" charset="0"/>
                <a:ea typeface="Jura" panose="020B0604020202020204" charset="0"/>
              </a:defRPr>
            </a:lvl1pPr>
          </a:lstStyle>
          <a:p>
            <a:r>
              <a:rPr lang="en-US" dirty="0"/>
              <a:t>DeployAI  WA3 2026_2027 Strategy &amp; Roll-Out Planning  |  Luxembourg, September 10, 2026  |  Private &amp; Confidential</a:t>
            </a:r>
          </a:p>
        </p:txBody>
      </p:sp>
      <p:sp>
        <p:nvSpPr>
          <p:cNvPr id="14" name="Scrollen: vertikal 13">
            <a:extLst>
              <a:ext uri="{FF2B5EF4-FFF2-40B4-BE49-F238E27FC236}">
                <a16:creationId xmlns:a16="http://schemas.microsoft.com/office/drawing/2014/main" id="{58A28C37-1866-389F-0612-A4B8A5D3B008}"/>
              </a:ext>
            </a:extLst>
          </p:cNvPr>
          <p:cNvSpPr/>
          <p:nvPr/>
        </p:nvSpPr>
        <p:spPr>
          <a:xfrm>
            <a:off x="1210491" y="-653143"/>
            <a:ext cx="1033272" cy="1143000"/>
          </a:xfrm>
          <a:prstGeom prst="verticalScrol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25360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7A4CEBF-4AEA-B3CA-5D65-586021172F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Planning Process / Call for action</a:t>
            </a:r>
          </a:p>
        </p:txBody>
      </p:sp>
      <p:graphicFrame>
        <p:nvGraphicFramePr>
          <p:cNvPr id="6" name="Inhaltsplatzhalter 5">
            <a:extLst>
              <a:ext uri="{FF2B5EF4-FFF2-40B4-BE49-F238E27FC236}">
                <a16:creationId xmlns:a16="http://schemas.microsoft.com/office/drawing/2014/main" id="{C8A83D6C-C249-293C-366A-EA894F0BBCB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34098288"/>
              </p:ext>
            </p:extLst>
          </p:nvPr>
        </p:nvGraphicFramePr>
        <p:xfrm>
          <a:off x="721157" y="1608950"/>
          <a:ext cx="10515600" cy="458702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12085">
                  <a:extLst>
                    <a:ext uri="{9D8B030D-6E8A-4147-A177-3AD203B41FA5}">
                      <a16:colId xmlns:a16="http://schemas.microsoft.com/office/drawing/2014/main" val="4100499864"/>
                    </a:ext>
                  </a:extLst>
                </a:gridCol>
                <a:gridCol w="1565452">
                  <a:extLst>
                    <a:ext uri="{9D8B030D-6E8A-4147-A177-3AD203B41FA5}">
                      <a16:colId xmlns:a16="http://schemas.microsoft.com/office/drawing/2014/main" val="4168571127"/>
                    </a:ext>
                  </a:extLst>
                </a:gridCol>
                <a:gridCol w="980237">
                  <a:extLst>
                    <a:ext uri="{9D8B030D-6E8A-4147-A177-3AD203B41FA5}">
                      <a16:colId xmlns:a16="http://schemas.microsoft.com/office/drawing/2014/main" val="390169632"/>
                    </a:ext>
                  </a:extLst>
                </a:gridCol>
                <a:gridCol w="2528926">
                  <a:extLst>
                    <a:ext uri="{9D8B030D-6E8A-4147-A177-3AD203B41FA5}">
                      <a16:colId xmlns:a16="http://schemas.microsoft.com/office/drawing/2014/main" val="1838609071"/>
                    </a:ext>
                  </a:extLst>
                </a:gridCol>
                <a:gridCol w="1457523">
                  <a:extLst>
                    <a:ext uri="{9D8B030D-6E8A-4147-A177-3AD203B41FA5}">
                      <a16:colId xmlns:a16="http://schemas.microsoft.com/office/drawing/2014/main" val="169039446"/>
                    </a:ext>
                  </a:extLst>
                </a:gridCol>
                <a:gridCol w="1171377">
                  <a:extLst>
                    <a:ext uri="{9D8B030D-6E8A-4147-A177-3AD203B41FA5}">
                      <a16:colId xmlns:a16="http://schemas.microsoft.com/office/drawing/2014/main" val="2879570248"/>
                    </a:ext>
                  </a:extLst>
                </a:gridCol>
              </a:tblGrid>
              <a:tr h="435439">
                <a:tc gridSpan="2"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Operational 2026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Lead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5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Roll-Out Planning 2027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Lead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9905018"/>
                  </a:ext>
                </a:extLst>
              </a:tr>
              <a:tr h="608422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Overall Flinky Integration Plan</a:t>
                      </a:r>
                      <a:br>
                        <a:rPr lang="en-US" sz="1400" dirty="0">
                          <a:solidFill>
                            <a:schemeClr val="bg1"/>
                          </a:solidFill>
                        </a:rPr>
                      </a:b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Flinky Release Plan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Scoping Paper</a:t>
                      </a:r>
                    </a:p>
                    <a:p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Release Plan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Agentic Development Workflow Automation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Scoping Document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1752326"/>
                  </a:ext>
                </a:extLst>
              </a:tr>
              <a:tr h="608422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Cloud/Kubernetes &lt;-&gt; Flinky Integration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Scoping Paper</a:t>
                      </a:r>
                    </a:p>
                    <a:p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Release Plan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AI Enterprise Suite Integration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Scoping Document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3098044"/>
                  </a:ext>
                </a:extLst>
              </a:tr>
              <a:tr h="858948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Marketplace &lt;-&gt; Flinky Interoperability &amp; Integration Plan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Scoping Paper</a:t>
                      </a:r>
                    </a:p>
                    <a:p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Release Plan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Onboarding of additional HPC / AI Factories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Scoping Document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172899"/>
                  </a:ext>
                </a:extLst>
              </a:tr>
              <a:tr h="858948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Open Industry API </a:t>
                      </a:r>
                      <a:br>
                        <a:rPr lang="en-US" sz="1400" dirty="0">
                          <a:solidFill>
                            <a:schemeClr val="bg1"/>
                          </a:solidFill>
                        </a:rPr>
                      </a:b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From GenAI Gateway to Open Industry AI API Bus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Scoping Paper</a:t>
                      </a:r>
                    </a:p>
                    <a:p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Release Plan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Open Industry API </a:t>
                      </a:r>
                      <a:br>
                        <a:rPr lang="en-US" sz="1400" dirty="0">
                          <a:solidFill>
                            <a:schemeClr val="bg1"/>
                          </a:solidFill>
                        </a:rPr>
                      </a:b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From GenAI Gateway to Open Industry AI API Bus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Scoping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1534069"/>
                  </a:ext>
                </a:extLst>
              </a:tr>
              <a:tr h="608422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AIODP Consolidated</a:t>
                      </a:r>
                      <a:br>
                        <a:rPr lang="en-US" sz="1400" dirty="0">
                          <a:solidFill>
                            <a:schemeClr val="bg1"/>
                          </a:solidFill>
                        </a:rPr>
                      </a:b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Front End Plan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Scoping Paper</a:t>
                      </a:r>
                    </a:p>
                    <a:p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Release Plan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White Label Concepts</a:t>
                      </a:r>
                      <a:br>
                        <a:rPr lang="en-US" sz="1400" dirty="0">
                          <a:solidFill>
                            <a:schemeClr val="bg1"/>
                          </a:solidFill>
                        </a:rPr>
                      </a:b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(Marketplace, Flinky)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Draft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1769151"/>
                  </a:ext>
                </a:extLst>
              </a:tr>
              <a:tr h="608422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2026 Tools delivery</a:t>
                      </a:r>
                    </a:p>
                    <a:p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(SALL, Compliance, AI Builder)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Scoping Paper</a:t>
                      </a:r>
                    </a:p>
                    <a:p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Release Plan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Other functional enhancements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Proposals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4589276"/>
                  </a:ext>
                </a:extLst>
              </a:tr>
            </a:tbl>
          </a:graphicData>
        </a:graphic>
      </p:graphicFrame>
      <p:sp>
        <p:nvSpPr>
          <p:cNvPr id="4" name="Fußzeilenplatzhalter 4">
            <a:extLst>
              <a:ext uri="{FF2B5EF4-FFF2-40B4-BE49-F238E27FC236}">
                <a16:creationId xmlns:a16="http://schemas.microsoft.com/office/drawing/2014/main" id="{F673EA54-9DDB-9208-AF19-A950E0D5E2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742537" y="6365875"/>
            <a:ext cx="78500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rgbClr val="FFFFFF"/>
                </a:solidFill>
                <a:latin typeface="Jura" panose="020B0604020202020204" charset="0"/>
                <a:ea typeface="Jura" panose="020B0604020202020204" charset="0"/>
              </a:defRPr>
            </a:lvl1pPr>
          </a:lstStyle>
          <a:p>
            <a:r>
              <a:rPr lang="en-US" dirty="0"/>
              <a:t>DeployAI  WA3 2026_2027 Strategy &amp; Roll-Out Planning  |  Luxembourg, September 10, 2026  |  Private &amp; Confidential</a:t>
            </a:r>
          </a:p>
        </p:txBody>
      </p:sp>
    </p:spTree>
    <p:extLst>
      <p:ext uri="{BB962C8B-B14F-4D97-AF65-F5344CB8AC3E}">
        <p14:creationId xmlns:p14="http://schemas.microsoft.com/office/powerpoint/2010/main" val="33099552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605F24-6BEC-730F-AF8D-A4B59508D0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59BDE96-8016-DEBE-9EA9-D3FEAA503C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Planning Process / Call for action</a:t>
            </a:r>
          </a:p>
        </p:txBody>
      </p:sp>
      <p:graphicFrame>
        <p:nvGraphicFramePr>
          <p:cNvPr id="6" name="Inhaltsplatzhalter 5">
            <a:extLst>
              <a:ext uri="{FF2B5EF4-FFF2-40B4-BE49-F238E27FC236}">
                <a16:creationId xmlns:a16="http://schemas.microsoft.com/office/drawing/2014/main" id="{75227289-AB86-17B9-2D21-B7F42C4B21C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87843080"/>
              </p:ext>
            </p:extLst>
          </p:nvPr>
        </p:nvGraphicFramePr>
        <p:xfrm>
          <a:off x="721157" y="1608950"/>
          <a:ext cx="10515600" cy="458702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12085">
                  <a:extLst>
                    <a:ext uri="{9D8B030D-6E8A-4147-A177-3AD203B41FA5}">
                      <a16:colId xmlns:a16="http://schemas.microsoft.com/office/drawing/2014/main" val="4100499864"/>
                    </a:ext>
                  </a:extLst>
                </a:gridCol>
                <a:gridCol w="1565452">
                  <a:extLst>
                    <a:ext uri="{9D8B030D-6E8A-4147-A177-3AD203B41FA5}">
                      <a16:colId xmlns:a16="http://schemas.microsoft.com/office/drawing/2014/main" val="4168571127"/>
                    </a:ext>
                  </a:extLst>
                </a:gridCol>
                <a:gridCol w="980237">
                  <a:extLst>
                    <a:ext uri="{9D8B030D-6E8A-4147-A177-3AD203B41FA5}">
                      <a16:colId xmlns:a16="http://schemas.microsoft.com/office/drawing/2014/main" val="390169632"/>
                    </a:ext>
                  </a:extLst>
                </a:gridCol>
                <a:gridCol w="2528926">
                  <a:extLst>
                    <a:ext uri="{9D8B030D-6E8A-4147-A177-3AD203B41FA5}">
                      <a16:colId xmlns:a16="http://schemas.microsoft.com/office/drawing/2014/main" val="1838609071"/>
                    </a:ext>
                  </a:extLst>
                </a:gridCol>
                <a:gridCol w="1457523">
                  <a:extLst>
                    <a:ext uri="{9D8B030D-6E8A-4147-A177-3AD203B41FA5}">
                      <a16:colId xmlns:a16="http://schemas.microsoft.com/office/drawing/2014/main" val="169039446"/>
                    </a:ext>
                  </a:extLst>
                </a:gridCol>
                <a:gridCol w="1171377">
                  <a:extLst>
                    <a:ext uri="{9D8B030D-6E8A-4147-A177-3AD203B41FA5}">
                      <a16:colId xmlns:a16="http://schemas.microsoft.com/office/drawing/2014/main" val="2879570248"/>
                    </a:ext>
                  </a:extLst>
                </a:gridCol>
              </a:tblGrid>
              <a:tr h="435439">
                <a:tc gridSpan="2"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Operational 2026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Lead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5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Roll-Out Planning 2027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Lead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9905018"/>
                  </a:ext>
                </a:extLst>
              </a:tr>
              <a:tr h="608422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Overall Flinky Integration Plan</a:t>
                      </a:r>
                      <a:br>
                        <a:rPr lang="en-US" sz="1400" dirty="0">
                          <a:solidFill>
                            <a:schemeClr val="bg1"/>
                          </a:solidFill>
                        </a:rPr>
                      </a:b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Flinky Release Plan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Scoping Paper</a:t>
                      </a:r>
                    </a:p>
                    <a:p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Release Plan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LXP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Agentic Development Workflow Automation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Scoping Document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LO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1752326"/>
                  </a:ext>
                </a:extLst>
              </a:tr>
              <a:tr h="608422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Cloud/Kubernetes &lt;-&gt; Flinky Integration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Scoping Paper</a:t>
                      </a:r>
                    </a:p>
                    <a:p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Release Plan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LXP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AI Enterprise Suite Integration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Scoping Document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LXP/AMD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3098044"/>
                  </a:ext>
                </a:extLst>
              </a:tr>
              <a:tr h="858948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Marketplace &lt;-&gt; Flinky Interoperability &amp; Integration Plan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Scoping Paper</a:t>
                      </a:r>
                    </a:p>
                    <a:p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Release Plan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CO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Onboarding of additional HPC / AI Factories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Scoping Document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All / FBK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172899"/>
                  </a:ext>
                </a:extLst>
              </a:tr>
              <a:tr h="858948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Open Industry API </a:t>
                      </a:r>
                      <a:br>
                        <a:rPr lang="en-US" sz="1400" dirty="0">
                          <a:solidFill>
                            <a:schemeClr val="bg1"/>
                          </a:solidFill>
                        </a:rPr>
                      </a:b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From GenAI Gateway to Open Industry AI API Bus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Scoping Paper</a:t>
                      </a:r>
                      <a:br>
                        <a:rPr lang="en-US" sz="1400" dirty="0">
                          <a:solidFill>
                            <a:schemeClr val="bg1"/>
                          </a:solidFill>
                        </a:rPr>
                      </a:b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Release Plan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ASP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Open Industry API </a:t>
                      </a:r>
                      <a:br>
                        <a:rPr lang="en-US" sz="1400" dirty="0">
                          <a:solidFill>
                            <a:schemeClr val="bg1"/>
                          </a:solidFill>
                        </a:rPr>
                      </a:b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From GenAI Gateway to Open Industry AI API Bus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Scoping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ASP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1534069"/>
                  </a:ext>
                </a:extLst>
              </a:tr>
              <a:tr h="608422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AIODP Consolidated</a:t>
                      </a:r>
                      <a:br>
                        <a:rPr lang="en-US" sz="1400" dirty="0">
                          <a:solidFill>
                            <a:schemeClr val="bg1"/>
                          </a:solidFill>
                        </a:rPr>
                      </a:b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Front And Plan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Scoping Paper</a:t>
                      </a:r>
                      <a:br>
                        <a:rPr lang="en-US" sz="1400" dirty="0">
                          <a:solidFill>
                            <a:schemeClr val="bg1"/>
                          </a:solidFill>
                        </a:rPr>
                      </a:b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Release Plan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28D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White Label Concepts</a:t>
                      </a:r>
                      <a:br>
                        <a:rPr lang="en-US" sz="1400" dirty="0">
                          <a:solidFill>
                            <a:schemeClr val="bg1"/>
                          </a:solidFill>
                        </a:rPr>
                      </a:b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(Marketplace, Flinky)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Draft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LXP/CO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1769151"/>
                  </a:ext>
                </a:extLst>
              </a:tr>
              <a:tr h="608422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2026 Tools delivery</a:t>
                      </a:r>
                    </a:p>
                    <a:p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(SALL, Compliance, AI Builder)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Scoping Paper</a:t>
                      </a:r>
                      <a:br>
                        <a:rPr lang="en-US" sz="1400" dirty="0">
                          <a:solidFill>
                            <a:schemeClr val="bg1"/>
                          </a:solidFill>
                        </a:rPr>
                      </a:b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Release Plan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ARC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Other functional enhancements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Proposals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FH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4589276"/>
                  </a:ext>
                </a:extLst>
              </a:tr>
            </a:tbl>
          </a:graphicData>
        </a:graphic>
      </p:graphicFrame>
      <p:sp>
        <p:nvSpPr>
          <p:cNvPr id="4" name="Fußzeilenplatzhalter 4">
            <a:extLst>
              <a:ext uri="{FF2B5EF4-FFF2-40B4-BE49-F238E27FC236}">
                <a16:creationId xmlns:a16="http://schemas.microsoft.com/office/drawing/2014/main" id="{3B618058-FAF7-3DE2-1751-06861AAB18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742537" y="6365875"/>
            <a:ext cx="78500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rgbClr val="FFFFFF"/>
                </a:solidFill>
                <a:latin typeface="Jura" panose="020B0604020202020204" charset="0"/>
                <a:ea typeface="Jura" panose="020B0604020202020204" charset="0"/>
              </a:defRPr>
            </a:lvl1pPr>
          </a:lstStyle>
          <a:p>
            <a:r>
              <a:rPr lang="en-US" dirty="0"/>
              <a:t>DeployAI  WA3 2026_2027 Strategy &amp; Roll-Out Planning  |  Luxembourg, September 10, 2026  |  Private &amp; Confidential</a:t>
            </a:r>
          </a:p>
        </p:txBody>
      </p:sp>
      <p:sp>
        <p:nvSpPr>
          <p:cNvPr id="5" name="Explosion: 8 Points 2">
            <a:extLst>
              <a:ext uri="{FF2B5EF4-FFF2-40B4-BE49-F238E27FC236}">
                <a16:creationId xmlns:a16="http://schemas.microsoft.com/office/drawing/2014/main" id="{486D7D65-DFBA-09D1-4374-662E36C80C85}"/>
              </a:ext>
            </a:extLst>
          </p:cNvPr>
          <p:cNvSpPr/>
          <p:nvPr/>
        </p:nvSpPr>
        <p:spPr>
          <a:xfrm rot="20467934">
            <a:off x="259815" y="3944"/>
            <a:ext cx="2773058" cy="2067611"/>
          </a:xfrm>
          <a:prstGeom prst="irregularSeal1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solidFill>
                  <a:srgbClr val="FFFF00"/>
                </a:solidFill>
                <a:latin typeface="Jura" panose="020B0604020202020204" charset="0"/>
                <a:ea typeface="Jura" panose="020B0604020202020204" charset="0"/>
              </a:rPr>
              <a:t>Prior to EU Review</a:t>
            </a:r>
            <a:br>
              <a:rPr lang="en-US" sz="1100" b="1" dirty="0">
                <a:solidFill>
                  <a:srgbClr val="FFFF00"/>
                </a:solidFill>
                <a:latin typeface="Jura" panose="020B0604020202020204" charset="0"/>
                <a:ea typeface="Jura" panose="020B0604020202020204" charset="0"/>
              </a:rPr>
            </a:br>
            <a:r>
              <a:rPr lang="en-US" sz="1100" b="1" dirty="0">
                <a:solidFill>
                  <a:srgbClr val="FFFF00"/>
                </a:solidFill>
                <a:latin typeface="Jura" panose="020B0604020202020204" charset="0"/>
                <a:ea typeface="Jura" panose="020B0604020202020204" charset="0"/>
              </a:rPr>
              <a:t>Deadline</a:t>
            </a:r>
            <a:br>
              <a:rPr lang="en-US" sz="1100" b="1" u="sng" dirty="0">
                <a:solidFill>
                  <a:srgbClr val="FFFF00"/>
                </a:solidFill>
                <a:latin typeface="Jura" panose="020B0604020202020204" charset="0"/>
                <a:ea typeface="Jura" panose="020B0604020202020204" charset="0"/>
              </a:rPr>
            </a:br>
            <a:r>
              <a:rPr lang="en-US" sz="1100" b="1" u="sng" dirty="0">
                <a:solidFill>
                  <a:srgbClr val="FFFF00"/>
                </a:solidFill>
                <a:latin typeface="Jura" panose="020B0604020202020204" charset="0"/>
                <a:ea typeface="Jura" panose="020B0604020202020204" charset="0"/>
              </a:rPr>
              <a:t>October 08, 2026</a:t>
            </a:r>
          </a:p>
        </p:txBody>
      </p:sp>
      <p:sp>
        <p:nvSpPr>
          <p:cNvPr id="9" name="Explosion: 8 Points 3">
            <a:extLst>
              <a:ext uri="{FF2B5EF4-FFF2-40B4-BE49-F238E27FC236}">
                <a16:creationId xmlns:a16="http://schemas.microsoft.com/office/drawing/2014/main" id="{FDF28D93-8CAE-C26F-69FD-B5407F30472D}"/>
              </a:ext>
            </a:extLst>
          </p:cNvPr>
          <p:cNvSpPr/>
          <p:nvPr/>
        </p:nvSpPr>
        <p:spPr>
          <a:xfrm rot="1566451">
            <a:off x="9572588" y="266353"/>
            <a:ext cx="2765521" cy="2240789"/>
          </a:xfrm>
          <a:prstGeom prst="irregularSeal1">
            <a:avLst/>
          </a:prstGeom>
          <a:solidFill>
            <a:srgbClr val="194C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solidFill>
                  <a:srgbClr val="FFFF00"/>
                </a:solidFill>
                <a:latin typeface="Jura" panose="020B0604020202020204" charset="0"/>
                <a:ea typeface="Jura" panose="020B0604020202020204" charset="0"/>
              </a:rPr>
              <a:t>Planning Period Oct / Nov 2026 </a:t>
            </a:r>
          </a:p>
          <a:p>
            <a:pPr algn="ctr"/>
            <a:r>
              <a:rPr lang="en-US" sz="1100" b="1" dirty="0">
                <a:solidFill>
                  <a:srgbClr val="FFFF00"/>
                </a:solidFill>
                <a:latin typeface="Jura" panose="020B0604020202020204" charset="0"/>
                <a:ea typeface="Jura" panose="020B0604020202020204" charset="0"/>
              </a:rPr>
              <a:t>Deadline November 27, 2026</a:t>
            </a:r>
          </a:p>
        </p:txBody>
      </p:sp>
    </p:spTree>
    <p:extLst>
      <p:ext uri="{BB962C8B-B14F-4D97-AF65-F5344CB8AC3E}">
        <p14:creationId xmlns:p14="http://schemas.microsoft.com/office/powerpoint/2010/main" val="29235003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D7087E6-6334-9C69-8705-FFA3D0314E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Call for action -&gt; Kick-Off Calls </a:t>
            </a:r>
            <a:r>
              <a:rPr lang="en-US"/>
              <a:t>tbd</a:t>
            </a:r>
            <a:endParaRPr lang="en-US" dirty="0"/>
          </a:p>
        </p:txBody>
      </p:sp>
      <p:graphicFrame>
        <p:nvGraphicFramePr>
          <p:cNvPr id="4" name="Inhaltsplatzhalter 3">
            <a:extLst>
              <a:ext uri="{FF2B5EF4-FFF2-40B4-BE49-F238E27FC236}">
                <a16:creationId xmlns:a16="http://schemas.microsoft.com/office/drawing/2014/main" id="{DB864B7C-F367-C939-1DC9-C1969D96A89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61924174"/>
              </p:ext>
            </p:extLst>
          </p:nvPr>
        </p:nvGraphicFramePr>
        <p:xfrm>
          <a:off x="1427481" y="2603818"/>
          <a:ext cx="9926320" cy="304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14814">
                  <a:extLst>
                    <a:ext uri="{9D8B030D-6E8A-4147-A177-3AD203B41FA5}">
                      <a16:colId xmlns:a16="http://schemas.microsoft.com/office/drawing/2014/main" val="1990666976"/>
                    </a:ext>
                  </a:extLst>
                </a:gridCol>
                <a:gridCol w="3520747">
                  <a:extLst>
                    <a:ext uri="{9D8B030D-6E8A-4147-A177-3AD203B41FA5}">
                      <a16:colId xmlns:a16="http://schemas.microsoft.com/office/drawing/2014/main" val="1781990308"/>
                    </a:ext>
                  </a:extLst>
                </a:gridCol>
                <a:gridCol w="914452">
                  <a:extLst>
                    <a:ext uri="{9D8B030D-6E8A-4147-A177-3AD203B41FA5}">
                      <a16:colId xmlns:a16="http://schemas.microsoft.com/office/drawing/2014/main" val="3502040003"/>
                    </a:ext>
                  </a:extLst>
                </a:gridCol>
                <a:gridCol w="3676131">
                  <a:extLst>
                    <a:ext uri="{9D8B030D-6E8A-4147-A177-3AD203B41FA5}">
                      <a16:colId xmlns:a16="http://schemas.microsoft.com/office/drawing/2014/main" val="1357360822"/>
                    </a:ext>
                  </a:extLst>
                </a:gridCol>
                <a:gridCol w="1400176">
                  <a:extLst>
                    <a:ext uri="{9D8B030D-6E8A-4147-A177-3AD203B41FA5}">
                      <a16:colId xmlns:a16="http://schemas.microsoft.com/office/drawing/2014/main" val="203705944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rgbClr val="FFFF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FF00"/>
                          </a:solidFill>
                        </a:rPr>
                        <a:t>Subject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FFFF00"/>
                          </a:solidFill>
                        </a:rPr>
                        <a:t>Owner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FF00"/>
                          </a:solidFill>
                        </a:rPr>
                        <a:t>Partner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FF00"/>
                          </a:solidFill>
                        </a:rPr>
                        <a:t>Date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864931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FFFF00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FF00"/>
                          </a:solidFill>
                        </a:rPr>
                        <a:t>Flinky Release Plan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FFFF00"/>
                          </a:solidFill>
                        </a:rPr>
                        <a:t>LXP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FF00"/>
                          </a:solidFill>
                        </a:rPr>
                        <a:t>asp, 28D, Convotis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rgbClr val="FFFF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74178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FFFF00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FF00"/>
                          </a:solidFill>
                        </a:rPr>
                        <a:t>Cloud/Kubernetes Integration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FFFF00"/>
                          </a:solidFill>
                        </a:rPr>
                        <a:t>LXP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FF00"/>
                          </a:solidFill>
                        </a:rPr>
                        <a:t>CO, CSC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rgbClr val="FFFF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130980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FFFF00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FF00"/>
                          </a:solidFill>
                        </a:rPr>
                        <a:t>Marketplace &lt;-&gt; </a:t>
                      </a:r>
                      <a:r>
                        <a:rPr lang="en-US" sz="1400" dirty="0" err="1">
                          <a:solidFill>
                            <a:srgbClr val="FFFF00"/>
                          </a:solidFill>
                        </a:rPr>
                        <a:t>SovServ</a:t>
                      </a:r>
                      <a:r>
                        <a:rPr lang="en-US" sz="1400" dirty="0">
                          <a:solidFill>
                            <a:srgbClr val="FFFF00"/>
                          </a:solidFill>
                        </a:rPr>
                        <a:t> </a:t>
                      </a:r>
                      <a:br>
                        <a:rPr lang="en-US" sz="1400" dirty="0">
                          <a:solidFill>
                            <a:srgbClr val="FFFF00"/>
                          </a:solidFill>
                        </a:rPr>
                      </a:br>
                      <a:r>
                        <a:rPr lang="en-US" sz="1400" dirty="0">
                          <a:solidFill>
                            <a:srgbClr val="FFFF00"/>
                          </a:solidFill>
                        </a:rPr>
                        <a:t>common platform Model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FFFF00"/>
                          </a:solidFill>
                        </a:rPr>
                        <a:t>CO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FF00"/>
                          </a:solidFill>
                        </a:rPr>
                        <a:t>LXP, asp, 28D, asp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rgbClr val="FFFF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2427751"/>
                  </a:ext>
                </a:extLst>
              </a:tr>
              <a:tr h="232727"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rgbClr val="FFFF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rgbClr val="FFFF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rgbClr val="FFFF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rgbClr val="FFFF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rgbClr val="FFFF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116265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FFFF00"/>
                          </a:solidFill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FF00"/>
                          </a:solidFill>
                        </a:rPr>
                        <a:t>AIODP Consolidated Front-End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FFFF00"/>
                          </a:solidFill>
                        </a:rPr>
                        <a:t>28D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FF00"/>
                          </a:solidFill>
                        </a:rPr>
                        <a:t>CO, LXP, LO, asp, </a:t>
                      </a:r>
                      <a:r>
                        <a:rPr lang="en-US" sz="1400" dirty="0" err="1">
                          <a:solidFill>
                            <a:srgbClr val="FFFF00"/>
                          </a:solidFill>
                        </a:rPr>
                        <a:t>SciFy</a:t>
                      </a:r>
                      <a:r>
                        <a:rPr lang="en-US" sz="1400" dirty="0">
                          <a:solidFill>
                            <a:srgbClr val="FFFF00"/>
                          </a:solidFill>
                        </a:rPr>
                        <a:t>, Uhura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rgbClr val="FFFF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605855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FFFF00"/>
                          </a:solidFill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FF00"/>
                          </a:solidFill>
                        </a:rPr>
                        <a:t>Open Industry API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FFFF00"/>
                          </a:solidFill>
                        </a:rPr>
                        <a:t>Asp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FF00"/>
                          </a:solidFill>
                        </a:rPr>
                        <a:t>FH, LXP, AMD, Arc, CO, CSC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rgbClr val="FFFF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269738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FFFF00"/>
                          </a:solidFill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FF00"/>
                          </a:solidFill>
                        </a:rPr>
                        <a:t>2026 Tools delivery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FFFF00"/>
                          </a:solidFill>
                        </a:rPr>
                        <a:t>ARC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FF00"/>
                          </a:solidFill>
                        </a:rPr>
                        <a:t>FH, AMD, LO, CSC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rgbClr val="FFFF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96391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312951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>
            <a:extLst>
              <a:ext uri="{FF2B5EF4-FFF2-40B4-BE49-F238E27FC236}">
                <a16:creationId xmlns:a16="http://schemas.microsoft.com/office/drawing/2014/main" id="{E2D2D292-FD9E-D7B7-9741-B7A21AE2154F}"/>
              </a:ext>
            </a:extLst>
          </p:cNvPr>
          <p:cNvSpPr/>
          <p:nvPr/>
        </p:nvSpPr>
        <p:spPr>
          <a:xfrm>
            <a:off x="468947" y="3534442"/>
            <a:ext cx="10515600" cy="105779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" name="Pfeil: nach rechts 6">
            <a:extLst>
              <a:ext uri="{FF2B5EF4-FFF2-40B4-BE49-F238E27FC236}">
                <a16:creationId xmlns:a16="http://schemas.microsoft.com/office/drawing/2014/main" id="{C40A44EA-0EFA-E1C2-0F65-6C2658289E78}"/>
              </a:ext>
            </a:extLst>
          </p:cNvPr>
          <p:cNvSpPr/>
          <p:nvPr/>
        </p:nvSpPr>
        <p:spPr>
          <a:xfrm>
            <a:off x="1132490" y="3745527"/>
            <a:ext cx="871395" cy="635619"/>
          </a:xfrm>
          <a:prstGeom prst="rightArrow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FB36CA81-1A2B-8D41-91B2-8BE557F518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469637"/>
            <a:ext cx="9602400" cy="4532312"/>
          </a:xfrm>
        </p:spPr>
        <p:txBody>
          <a:bodyPr>
            <a:normAutofit fontScale="92500" lnSpcReduction="10000"/>
          </a:bodyPr>
          <a:lstStyle/>
          <a:p>
            <a:pPr marL="114300" indent="0" algn="ctr">
              <a:lnSpc>
                <a:spcPct val="150000"/>
              </a:lnSpc>
              <a:buNone/>
            </a:pPr>
            <a:r>
              <a:rPr lang="en-US" sz="2400" b="1" dirty="0">
                <a:solidFill>
                  <a:schemeClr val="bg1"/>
                </a:solidFill>
              </a:rPr>
              <a:t>It is precisely an end-to-end integration that would serve as a</a:t>
            </a:r>
            <a:br>
              <a:rPr lang="en-US" sz="2400" b="1" dirty="0">
                <a:solidFill>
                  <a:schemeClr val="bg1"/>
                </a:solidFill>
              </a:rPr>
            </a:br>
            <a:r>
              <a:rPr lang="en-US" sz="2400" b="1" dirty="0">
                <a:solidFill>
                  <a:schemeClr val="bg1"/>
                </a:solidFill>
              </a:rPr>
              <a:t>strong unique selling proposition for the </a:t>
            </a:r>
            <a:br>
              <a:rPr lang="en-US" sz="2400" b="1" dirty="0">
                <a:solidFill>
                  <a:schemeClr val="bg1"/>
                </a:solidFill>
              </a:rPr>
            </a:br>
            <a:r>
              <a:rPr lang="en-US" sz="2400" b="1" dirty="0">
                <a:solidFill>
                  <a:schemeClr val="bg1"/>
                </a:solidFill>
              </a:rPr>
              <a:t>AIODP </a:t>
            </a:r>
            <a:r>
              <a:rPr lang="en-US" sz="2400" b="1">
                <a:solidFill>
                  <a:schemeClr val="bg1"/>
                </a:solidFill>
              </a:rPr>
              <a:t>Sovereign Services initiative </a:t>
            </a:r>
            <a:r>
              <a:rPr lang="en-US" sz="2400" b="1" dirty="0">
                <a:solidFill>
                  <a:schemeClr val="bg1"/>
                </a:solidFill>
              </a:rPr>
              <a:t>in the European market.</a:t>
            </a:r>
          </a:p>
          <a:p>
            <a:pPr marL="114300" indent="0" algn="ctr">
              <a:lnSpc>
                <a:spcPct val="150000"/>
              </a:lnSpc>
              <a:buNone/>
            </a:pPr>
            <a:endParaRPr lang="en-US" sz="2400" b="1" dirty="0">
              <a:solidFill>
                <a:srgbClr val="FFFF00"/>
              </a:solidFill>
            </a:endParaRPr>
          </a:p>
          <a:p>
            <a:pPr marL="114300" indent="0" algn="ctr">
              <a:lnSpc>
                <a:spcPct val="150000"/>
              </a:lnSpc>
              <a:buNone/>
            </a:pPr>
            <a:r>
              <a:rPr lang="en-US" sz="2400" b="1" dirty="0">
                <a:solidFill>
                  <a:schemeClr val="bg1"/>
                </a:solidFill>
              </a:rPr>
              <a:t>The </a:t>
            </a:r>
            <a:r>
              <a:rPr lang="en-US" sz="2400" b="1" dirty="0" err="1">
                <a:solidFill>
                  <a:schemeClr val="bg1"/>
                </a:solidFill>
              </a:rPr>
              <a:t>Workarea</a:t>
            </a:r>
            <a:r>
              <a:rPr lang="en-US" sz="2400" b="1" dirty="0">
                <a:solidFill>
                  <a:schemeClr val="bg1"/>
                </a:solidFill>
              </a:rPr>
              <a:t> 3 Team can make this happen!</a:t>
            </a:r>
          </a:p>
          <a:p>
            <a:pPr marL="114300" indent="0" algn="ctr">
              <a:lnSpc>
                <a:spcPct val="150000"/>
              </a:lnSpc>
              <a:buNone/>
            </a:pPr>
            <a:endParaRPr lang="en-US" sz="2400" b="1" dirty="0">
              <a:solidFill>
                <a:srgbClr val="FFFF00"/>
              </a:solidFill>
            </a:endParaRPr>
          </a:p>
          <a:p>
            <a:pPr marL="114300" indent="0" algn="ctr">
              <a:lnSpc>
                <a:spcPct val="150000"/>
              </a:lnSpc>
              <a:buNone/>
            </a:pPr>
            <a:r>
              <a:rPr lang="en-US" sz="4800" b="1" dirty="0">
                <a:solidFill>
                  <a:srgbClr val="FFFF00"/>
                </a:solidFill>
              </a:rPr>
              <a:t>So, LET’s </a:t>
            </a:r>
            <a:r>
              <a:rPr lang="en-US" sz="4800" b="1" dirty="0" err="1">
                <a:solidFill>
                  <a:srgbClr val="FFFF00"/>
                </a:solidFill>
              </a:rPr>
              <a:t>Rock’n</a:t>
            </a:r>
            <a:r>
              <a:rPr lang="en-US" sz="4800" b="1" dirty="0">
                <a:solidFill>
                  <a:srgbClr val="FFFF00"/>
                </a:solidFill>
              </a:rPr>
              <a:t> Roll</a:t>
            </a:r>
          </a:p>
          <a:p>
            <a:pPr marL="114300" indent="0" algn="ctr">
              <a:lnSpc>
                <a:spcPct val="150000"/>
              </a:lnSpc>
              <a:buNone/>
            </a:pPr>
            <a:endParaRPr lang="en-US" sz="2400" b="1" dirty="0">
              <a:solidFill>
                <a:srgbClr val="FFFF00"/>
              </a:solidFill>
            </a:endParaRPr>
          </a:p>
          <a:p>
            <a:pPr>
              <a:lnSpc>
                <a:spcPct val="150000"/>
              </a:lnSpc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2407300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2C54F8BF-3581-68A7-E2EB-CFEC94881A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Backup</a:t>
            </a:r>
          </a:p>
        </p:txBody>
      </p:sp>
    </p:spTree>
    <p:extLst>
      <p:ext uri="{BB962C8B-B14F-4D97-AF65-F5344CB8AC3E}">
        <p14:creationId xmlns:p14="http://schemas.microsoft.com/office/powerpoint/2010/main" val="42883171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FFE800"/>
                </a:solidFill>
              </a:rPr>
              <a:t>FLINKY INTEGRATION / RELEASE PLAN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</a:rPr>
              <a:t>Flinky platform: Sovereign Agile Intelligence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02920" y="1051560"/>
            <a:ext cx="10385733" cy="9144"/>
          </a:xfrm>
          <a:prstGeom prst="line">
            <a:avLst/>
          </a:prstGeom>
          <a:noFill/>
          <a:ln w="12700">
            <a:solidFill>
              <a:srgbClr val="72B7DF"/>
            </a:solidFill>
            <a:prstDash val="solid"/>
          </a:ln>
        </p:spPr>
        <p:txBody>
          <a:bodyPr/>
          <a:lstStyle/>
          <a:p>
            <a:endParaRPr lang="fr-LU"/>
          </a:p>
        </p:txBody>
      </p:sp>
      <p:sp>
        <p:nvSpPr>
          <p:cNvPr id="5" name="Text 3"/>
          <p:cNvSpPr/>
          <p:nvPr/>
        </p:nvSpPr>
        <p:spPr>
          <a:xfrm>
            <a:off x="10936224" y="27432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</a:rPr>
              <a:t>AIODP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6565392"/>
            <a:ext cx="10607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D8ECF7"/>
                </a:solidFill>
              </a:rPr>
              <a:t>DeployAI  WA3 2026_2027 Strategy &amp; Roll-Out Planning   |   Luxembourg, September 10, 2026   |   Private &amp; Confidential</a:t>
            </a:r>
            <a:endParaRPr lang="en-US" sz="650" dirty="0"/>
          </a:p>
        </p:txBody>
      </p:sp>
      <p:sp>
        <p:nvSpPr>
          <p:cNvPr id="106" name="Rounded Rectangle 15">
            <a:extLst>
              <a:ext uri="{FF2B5EF4-FFF2-40B4-BE49-F238E27FC236}">
                <a16:creationId xmlns:a16="http://schemas.microsoft.com/office/drawing/2014/main" id="{4FCB99DA-E564-7D52-0DD9-B67CD4F56309}"/>
              </a:ext>
            </a:extLst>
          </p:cNvPr>
          <p:cNvSpPr/>
          <p:nvPr/>
        </p:nvSpPr>
        <p:spPr>
          <a:xfrm>
            <a:off x="3570960" y="5151916"/>
            <a:ext cx="4798142" cy="698090"/>
          </a:xfrm>
          <a:prstGeom prst="roundRect">
            <a:avLst/>
          </a:prstGeom>
          <a:solidFill>
            <a:srgbClr val="194CA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Mono" panose="020B0009020202020204" pitchFamily="49" charset="0"/>
                <a:ea typeface="+mn-ea"/>
                <a:cs typeface="+mn-cs"/>
              </a:rPr>
              <a:t>Letz Flink &gt;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 Mono" panose="020B0009020202020204" pitchFamily="49" charset="0"/>
              <a:ea typeface="+mn-ea"/>
              <a:cs typeface="+mn-cs"/>
            </a:endParaRPr>
          </a:p>
        </p:txBody>
      </p:sp>
      <p:sp>
        <p:nvSpPr>
          <p:cNvPr id="107" name="Slide Number Placeholder 2">
            <a:extLst>
              <a:ext uri="{FF2B5EF4-FFF2-40B4-BE49-F238E27FC236}">
                <a16:creationId xmlns:a16="http://schemas.microsoft.com/office/drawing/2014/main" id="{E5F2D0A4-6EFB-475F-9E39-C15F0F866C28}"/>
              </a:ext>
            </a:extLst>
          </p:cNvPr>
          <p:cNvSpPr>
            <a:spLocks noGrp="1"/>
          </p:cNvSpPr>
          <p:nvPr/>
        </p:nvSpPr>
        <p:spPr>
          <a:xfrm>
            <a:off x="9113233" y="49955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0EA680-D336-4FF7-8B7A-9848BB0A1C32}" type="slidenum">
              <a:rPr kumimoji="0" lang="en-US" sz="12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</p:txBody>
      </p:sp>
      <p:sp>
        <p:nvSpPr>
          <p:cNvPr id="108" name="TextBox 21">
            <a:extLst>
              <a:ext uri="{FF2B5EF4-FFF2-40B4-BE49-F238E27FC236}">
                <a16:creationId xmlns:a16="http://schemas.microsoft.com/office/drawing/2014/main" id="{2A3E7A18-9F31-2C64-2B09-D40C00D713AF}"/>
              </a:ext>
            </a:extLst>
          </p:cNvPr>
          <p:cNvSpPr txBox="1"/>
          <p:nvPr/>
        </p:nvSpPr>
        <p:spPr>
          <a:xfrm>
            <a:off x="335567" y="3010159"/>
            <a:ext cx="3657600" cy="161582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ura" panose="020B0604020202020204" charset="0"/>
                <a:ea typeface="Jura" panose="020B0604020202020204" charset="0"/>
              </a:rPr>
              <a:t>The Agile Gateway to Digital Excellence.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7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Jura" panose="020B0604020202020204" charset="0"/>
              <a:ea typeface="Jura" panose="020B060402020202020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ura" panose="020B0604020202020204" charset="0"/>
                <a:ea typeface="Jura" panose="020B0604020202020204" charset="0"/>
              </a:rPr>
              <a:t>Provide a fast and easy access to MeluXina’s computing power 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ura" panose="020B0604020202020204" charset="0"/>
                <a:ea typeface="Jura" panose="020B0604020202020204" charset="0"/>
              </a:rPr>
              <a:t>for organizations to run, prototype, build, and scale advanced AI </a:t>
            </a:r>
            <a:b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ura" panose="020B0604020202020204" charset="0"/>
                <a:ea typeface="Jura" panose="020B0604020202020204" charset="0"/>
              </a:rPr>
            </a:b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ura" panose="020B0604020202020204" charset="0"/>
                <a:ea typeface="Jura" panose="020B0604020202020204" charset="0"/>
              </a:rPr>
              <a:t>without compromising data sovereignty and security.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Jura" panose="020B0604020202020204" charset="0"/>
              <a:ea typeface="Jura" panose="020B0604020202020204" charset="0"/>
            </a:endParaRPr>
          </a:p>
        </p:txBody>
      </p:sp>
      <p:sp>
        <p:nvSpPr>
          <p:cNvPr id="109" name="Rounded Rectangle 1">
            <a:extLst>
              <a:ext uri="{FF2B5EF4-FFF2-40B4-BE49-F238E27FC236}">
                <a16:creationId xmlns:a16="http://schemas.microsoft.com/office/drawing/2014/main" id="{5CB5A5F4-639E-521A-A236-8008BE415EAC}"/>
              </a:ext>
            </a:extLst>
          </p:cNvPr>
          <p:cNvSpPr/>
          <p:nvPr/>
        </p:nvSpPr>
        <p:spPr>
          <a:xfrm>
            <a:off x="708156" y="1810472"/>
            <a:ext cx="2912423" cy="698090"/>
          </a:xfrm>
          <a:prstGeom prst="roundRect">
            <a:avLst/>
          </a:prstGeom>
          <a:solidFill>
            <a:srgbClr val="FFE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7275A"/>
                </a:solidFill>
                <a:effectLst/>
                <a:uLnTx/>
                <a:uFillTx/>
                <a:latin typeface="Aptos Mono" panose="020B0009020202020204" pitchFamily="49" charset="0"/>
                <a:ea typeface="+mn-ea"/>
                <a:cs typeface="+mn-cs"/>
              </a:rPr>
              <a:t>The Vision</a:t>
            </a:r>
          </a:p>
        </p:txBody>
      </p:sp>
      <p:sp>
        <p:nvSpPr>
          <p:cNvPr id="110" name="TextBox 8">
            <a:extLst>
              <a:ext uri="{FF2B5EF4-FFF2-40B4-BE49-F238E27FC236}">
                <a16:creationId xmlns:a16="http://schemas.microsoft.com/office/drawing/2014/main" id="{462FA4DC-1294-F158-2B10-A900C3DFF318}"/>
              </a:ext>
            </a:extLst>
          </p:cNvPr>
          <p:cNvSpPr txBox="1"/>
          <p:nvPr/>
        </p:nvSpPr>
        <p:spPr>
          <a:xfrm>
            <a:off x="3873078" y="3029473"/>
            <a:ext cx="3840480" cy="166199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marL="0" algn="ctr" defTabSz="914400" rtl="0" eaLnBrk="1" latinLnBrk="0" hangingPunct="1">
              <a:buNone/>
              <a:defRPr sz="1600" kern="120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marR="0" lvl="1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ura" panose="020B0604020202020204" charset="0"/>
                <a:ea typeface="Jura" panose="020B0604020202020204" charset="0"/>
              </a:rPr>
              <a:t>Security and Sovereignty.</a:t>
            </a:r>
          </a:p>
          <a:p>
            <a:pPr marL="457200" marR="0" lvl="1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ura" panose="020B0604020202020204" charset="0"/>
                <a:ea typeface="Jura" panose="020B0604020202020204" charset="0"/>
              </a:rPr>
              <a:t>100% Luxembourg-hosted, ISO 27001.</a:t>
            </a:r>
          </a:p>
          <a:p>
            <a:pPr marL="457200" marR="0" lvl="1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Jura" panose="020B0604020202020204" charset="0"/>
              <a:ea typeface="Jura" panose="020B0604020202020204" charset="0"/>
            </a:endParaRPr>
          </a:p>
          <a:p>
            <a:pPr marL="457200" marR="0" lvl="1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ura" panose="020B0604020202020204" charset="0"/>
                <a:ea typeface="Jura" panose="020B0604020202020204" charset="0"/>
              </a:rPr>
              <a:t>Performance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ura" panose="020B0604020202020204" charset="0"/>
                <a:ea typeface="Jura" panose="020B0604020202020204" charset="0"/>
              </a:rPr>
              <a:t>.</a:t>
            </a:r>
          </a:p>
          <a:p>
            <a:pPr marL="457200" marR="0" lvl="1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ura" panose="020B0604020202020204" charset="0"/>
                <a:ea typeface="Jura" panose="020B0604020202020204" charset="0"/>
              </a:rPr>
              <a:t>500 PFLOPS dedicated AI power.</a:t>
            </a:r>
          </a:p>
          <a:p>
            <a:pPr marL="457200" marR="0" lvl="1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Jura" panose="020B0604020202020204" charset="0"/>
              <a:ea typeface="Jura" panose="020B0604020202020204" charset="0"/>
            </a:endParaRPr>
          </a:p>
          <a:p>
            <a:pPr marL="457200" marR="0" lvl="1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ura" panose="020B0604020202020204" charset="0"/>
                <a:ea typeface="Jura" panose="020B0604020202020204" charset="0"/>
              </a:rPr>
              <a:t>Speed.</a:t>
            </a:r>
          </a:p>
          <a:p>
            <a:pPr marL="457200" marR="0" lvl="1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ura" panose="020B0604020202020204" charset="0"/>
                <a:ea typeface="Jura" panose="020B0604020202020204" charset="0"/>
              </a:rPr>
              <a:t>Instant model-to-inference deployment.</a:t>
            </a:r>
          </a:p>
        </p:txBody>
      </p:sp>
      <p:sp>
        <p:nvSpPr>
          <p:cNvPr id="111" name="Rounded Rectangle 10">
            <a:extLst>
              <a:ext uri="{FF2B5EF4-FFF2-40B4-BE49-F238E27FC236}">
                <a16:creationId xmlns:a16="http://schemas.microsoft.com/office/drawing/2014/main" id="{AAED8327-C274-C3C1-C8CC-A4BF1C8F3BDF}"/>
              </a:ext>
            </a:extLst>
          </p:cNvPr>
          <p:cNvSpPr/>
          <p:nvPr/>
        </p:nvSpPr>
        <p:spPr>
          <a:xfrm>
            <a:off x="4513819" y="1810472"/>
            <a:ext cx="2912423" cy="698090"/>
          </a:xfrm>
          <a:prstGeom prst="roundRect">
            <a:avLst/>
          </a:prstGeom>
          <a:solidFill>
            <a:srgbClr val="FFE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27275A"/>
                </a:solidFill>
                <a:effectLst/>
                <a:uLnTx/>
                <a:uFillTx/>
                <a:latin typeface="Aptos Mono" panose="020B0009020202020204" pitchFamily="49" charset="0"/>
                <a:ea typeface="+mn-ea"/>
                <a:cs typeface="+mn-cs"/>
              </a:rPr>
              <a:t>Why It Matters</a:t>
            </a:r>
          </a:p>
        </p:txBody>
      </p:sp>
      <p:sp>
        <p:nvSpPr>
          <p:cNvPr id="112" name="TextBox 11">
            <a:extLst>
              <a:ext uri="{FF2B5EF4-FFF2-40B4-BE49-F238E27FC236}">
                <a16:creationId xmlns:a16="http://schemas.microsoft.com/office/drawing/2014/main" id="{74662A9F-1A98-6B2B-09CB-C57B83F084E5}"/>
              </a:ext>
            </a:extLst>
          </p:cNvPr>
          <p:cNvSpPr txBox="1"/>
          <p:nvPr/>
        </p:nvSpPr>
        <p:spPr>
          <a:xfrm>
            <a:off x="7981832" y="3010159"/>
            <a:ext cx="3657600" cy="175432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marL="0" algn="ctr" defTabSz="914400" rtl="0" eaLnBrk="1" latinLnBrk="0" hangingPunct="1">
              <a:buNone/>
              <a:defRPr sz="1400" kern="120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ura" panose="020B0604020202020204" charset="0"/>
                <a:ea typeface="Jura" panose="020B0604020202020204" charset="0"/>
              </a:rPr>
              <a:t>Multimodal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ura" panose="020B0604020202020204" charset="0"/>
                <a:ea typeface="Jura" panose="020B0604020202020204" charset="0"/>
              </a:rPr>
              <a:t> 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ura" panose="020B0604020202020204" charset="0"/>
                <a:ea typeface="Jura" panose="020B0604020202020204" charset="0"/>
              </a:rPr>
              <a:t>Inference.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ura" panose="020B0604020202020204" charset="0"/>
                <a:ea typeface="Jura" panose="020B0604020202020204" charset="0"/>
              </a:rPr>
              <a:t>Text, image, video, audio, and vision.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Jura" panose="020B0604020202020204" charset="0"/>
              <a:ea typeface="Jura" panose="020B060402020202020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ura" panose="020B0604020202020204" charset="0"/>
                <a:ea typeface="Jura" panose="020B0604020202020204" charset="0"/>
              </a:rPr>
              <a:t>Tools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ura" panose="020B0604020202020204" charset="0"/>
                <a:ea typeface="Jura" panose="020B0604020202020204" charset="0"/>
              </a:rPr>
              <a:t>RAG and Knowledge Graphs.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Jura" panose="020B0604020202020204" charset="0"/>
              <a:ea typeface="Jura" panose="020B060402020202020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ura" panose="020B0604020202020204" charset="0"/>
                <a:ea typeface="Jura" panose="020B0604020202020204" charset="0"/>
              </a:rPr>
              <a:t>Application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ura" panose="020B0604020202020204" charset="0"/>
                <a:ea typeface="Jura" panose="020B0604020202020204" charset="0"/>
              </a:rPr>
              <a:t>Corporate Chat</a:t>
            </a:r>
          </a:p>
        </p:txBody>
      </p:sp>
      <p:sp>
        <p:nvSpPr>
          <p:cNvPr id="113" name="Rounded Rectangle 12">
            <a:extLst>
              <a:ext uri="{FF2B5EF4-FFF2-40B4-BE49-F238E27FC236}">
                <a16:creationId xmlns:a16="http://schemas.microsoft.com/office/drawing/2014/main" id="{F121523C-056E-9603-9598-F4B8919F35AA}"/>
              </a:ext>
            </a:extLst>
          </p:cNvPr>
          <p:cNvSpPr/>
          <p:nvPr/>
        </p:nvSpPr>
        <p:spPr>
          <a:xfrm>
            <a:off x="8319484" y="1813133"/>
            <a:ext cx="2912423" cy="698090"/>
          </a:xfrm>
          <a:prstGeom prst="roundRect">
            <a:avLst/>
          </a:prstGeom>
          <a:solidFill>
            <a:srgbClr val="FFE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27275A"/>
                </a:solidFill>
                <a:effectLst/>
                <a:uLnTx/>
                <a:uFillTx/>
                <a:latin typeface="Aptos Mono" panose="020B0009020202020204" pitchFamily="49" charset="0"/>
                <a:ea typeface="+mn-ea"/>
                <a:cs typeface="+mn-cs"/>
              </a:rPr>
              <a:t>Core Capabilities</a:t>
            </a:r>
          </a:p>
        </p:txBody>
      </p:sp>
    </p:spTree>
    <p:extLst>
      <p:ext uri="{BB962C8B-B14F-4D97-AF65-F5344CB8AC3E}">
        <p14:creationId xmlns:p14="http://schemas.microsoft.com/office/powerpoint/2010/main" val="15657178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spc="100" dirty="0">
                <a:solidFill>
                  <a:srgbClr val="FFE800"/>
                </a:solidFill>
              </a:rPr>
              <a:t>FEATURES   | CONSUMPTION</a:t>
            </a:r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</a:rPr>
              <a:t>Model Gateway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02920" y="1051560"/>
            <a:ext cx="11064240" cy="1"/>
          </a:xfrm>
          <a:prstGeom prst="line">
            <a:avLst/>
          </a:prstGeom>
          <a:noFill/>
          <a:ln w="12700">
            <a:solidFill>
              <a:srgbClr val="72B7DF"/>
            </a:solidFill>
            <a:prstDash val="solid"/>
          </a:ln>
        </p:spPr>
        <p:txBody>
          <a:bodyPr/>
          <a:lstStyle/>
          <a:p>
            <a:endParaRPr lang="fr-LU"/>
          </a:p>
        </p:txBody>
      </p:sp>
      <p:sp>
        <p:nvSpPr>
          <p:cNvPr id="5" name="Text 3"/>
          <p:cNvSpPr/>
          <p:nvPr/>
        </p:nvSpPr>
        <p:spPr>
          <a:xfrm>
            <a:off x="10936224" y="27432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</a:rPr>
              <a:t>AIODP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6565392"/>
            <a:ext cx="10607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D8ECF7"/>
                </a:solidFill>
              </a:rPr>
              <a:t>DeployAI  WA3 2026_2027 Strategy &amp; Roll-Out Planning   |   Luxembourg, September 10, 2026   |   Private &amp; Confidential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566928" y="187452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10" dirty="0">
                <a:solidFill>
                  <a:srgbClr val="FFE800"/>
                </a:solidFill>
              </a:rPr>
              <a:t>WHY IT MATTERS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66928" y="2331720"/>
            <a:ext cx="516636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</a:rPr>
              <a:t>One endpoint for all AI models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</a:rPr>
              <a:t>OpenAI API compatible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</a:rPr>
              <a:t>OAuth 2.0 bearer-token authentication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</a:rPr>
              <a:t>Simple integration for applications and workflows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080760" y="1737360"/>
            <a:ext cx="1" cy="4251960"/>
          </a:xfrm>
          <a:prstGeom prst="line">
            <a:avLst/>
          </a:prstGeom>
          <a:noFill/>
          <a:ln w="15240">
            <a:solidFill>
              <a:srgbClr val="72B7DF"/>
            </a:solidFill>
            <a:prstDash val="solid"/>
          </a:ln>
        </p:spPr>
        <p:txBody>
          <a:bodyPr/>
          <a:lstStyle/>
          <a:p>
            <a:endParaRPr lang="fr-LU"/>
          </a:p>
        </p:txBody>
      </p:sp>
      <p:sp>
        <p:nvSpPr>
          <p:cNvPr id="12" name="Text 10"/>
          <p:cNvSpPr/>
          <p:nvPr/>
        </p:nvSpPr>
        <p:spPr>
          <a:xfrm>
            <a:off x="566928" y="5330952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Flinky connects applications and workflows to ready-to-use sovereign AI models.</a:t>
            </a:r>
            <a:endParaRPr lang="en-US" sz="1200" dirty="0"/>
          </a:p>
        </p:txBody>
      </p:sp>
      <p:sp>
        <p:nvSpPr>
          <p:cNvPr id="25" name="Shape 5">
            <a:extLst>
              <a:ext uri="{FF2B5EF4-FFF2-40B4-BE49-F238E27FC236}">
                <a16:creationId xmlns:a16="http://schemas.microsoft.com/office/drawing/2014/main" id="{A8119CDA-0133-894D-976D-8A12690A53E0}"/>
              </a:ext>
            </a:extLst>
          </p:cNvPr>
          <p:cNvSpPr/>
          <p:nvPr/>
        </p:nvSpPr>
        <p:spPr>
          <a:xfrm>
            <a:off x="530352" y="1298448"/>
            <a:ext cx="1536192" cy="310896"/>
          </a:xfrm>
          <a:prstGeom prst="roundRect">
            <a:avLst>
              <a:gd name="adj" fmla="val 14706"/>
            </a:avLst>
          </a:prstGeom>
          <a:solidFill>
            <a:srgbClr val="008000"/>
          </a:solidFill>
          <a:ln w="12700">
            <a:solidFill>
              <a:srgbClr val="008000"/>
            </a:solidFill>
            <a:prstDash val="solid"/>
          </a:ln>
        </p:spPr>
        <p:txBody>
          <a:bodyPr/>
          <a:lstStyle/>
          <a:p>
            <a:endParaRPr lang="fr-LU">
              <a:solidFill>
                <a:schemeClr val="bg1"/>
              </a:solidFill>
            </a:endParaRPr>
          </a:p>
        </p:txBody>
      </p:sp>
      <p:sp>
        <p:nvSpPr>
          <p:cNvPr id="27" name="Text 6">
            <a:extLst>
              <a:ext uri="{FF2B5EF4-FFF2-40B4-BE49-F238E27FC236}">
                <a16:creationId xmlns:a16="http://schemas.microsoft.com/office/drawing/2014/main" id="{0C6A9F4C-8F95-739C-7B92-8F795F5E8958}"/>
              </a:ext>
            </a:extLst>
          </p:cNvPr>
          <p:cNvSpPr/>
          <p:nvPr/>
        </p:nvSpPr>
        <p:spPr>
          <a:xfrm>
            <a:off x="640080" y="1389888"/>
            <a:ext cx="131673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" b="1" dirty="0">
                <a:solidFill>
                  <a:schemeClr val="bg1"/>
                </a:solidFill>
              </a:rPr>
              <a:t>AVAILABLE TODAY</a:t>
            </a:r>
            <a:endParaRPr lang="en-US" sz="760" dirty="0">
              <a:solidFill>
                <a:schemeClr val="bg1"/>
              </a:solidFill>
            </a:endParaRP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E35FD392-AAC9-4958-AC37-8D48CFC457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4237" y="1429222"/>
            <a:ext cx="3245489" cy="4868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67974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FFE800"/>
                </a:solidFill>
              </a:rPr>
              <a:t>FEATURES   | CONSUMPTION</a:t>
            </a:r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</a:rPr>
              <a:t>Models-as-a-Service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02920" y="1051560"/>
            <a:ext cx="11064240" cy="1"/>
          </a:xfrm>
          <a:prstGeom prst="line">
            <a:avLst/>
          </a:prstGeom>
          <a:noFill/>
          <a:ln w="12700">
            <a:solidFill>
              <a:srgbClr val="72B7DF"/>
            </a:solidFill>
            <a:prstDash val="solid"/>
          </a:ln>
        </p:spPr>
        <p:txBody>
          <a:bodyPr/>
          <a:lstStyle/>
          <a:p>
            <a:endParaRPr lang="fr-LU"/>
          </a:p>
        </p:txBody>
      </p:sp>
      <p:sp>
        <p:nvSpPr>
          <p:cNvPr id="5" name="Text 3"/>
          <p:cNvSpPr/>
          <p:nvPr/>
        </p:nvSpPr>
        <p:spPr>
          <a:xfrm>
            <a:off x="10936224" y="27432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</a:rPr>
              <a:t>AIODP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6565392"/>
            <a:ext cx="10607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D8ECF7"/>
                </a:solidFill>
              </a:rPr>
              <a:t>DeployAI  WA3 2026_2027 Strategy &amp; Roll-Out Planning   |   Luxembourg, September 10, 2026   |   Private &amp; Confidential</a:t>
            </a:r>
            <a:endParaRPr lang="en-US" sz="650" dirty="0"/>
          </a:p>
        </p:txBody>
      </p:sp>
      <p:sp>
        <p:nvSpPr>
          <p:cNvPr id="7" name="Shape 5"/>
          <p:cNvSpPr/>
          <p:nvPr/>
        </p:nvSpPr>
        <p:spPr>
          <a:xfrm>
            <a:off x="530352" y="1298448"/>
            <a:ext cx="1536192" cy="310896"/>
          </a:xfrm>
          <a:prstGeom prst="roundRect">
            <a:avLst>
              <a:gd name="adj" fmla="val 14706"/>
            </a:avLst>
          </a:prstGeom>
          <a:solidFill>
            <a:srgbClr val="008000"/>
          </a:solidFill>
          <a:ln w="12700">
            <a:solidFill>
              <a:srgbClr val="008000"/>
            </a:solidFill>
            <a:prstDash val="solid"/>
          </a:ln>
        </p:spPr>
        <p:txBody>
          <a:bodyPr/>
          <a:lstStyle/>
          <a:p>
            <a:endParaRPr lang="fr-LU">
              <a:solidFill>
                <a:schemeClr val="bg1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640080" y="1389888"/>
            <a:ext cx="131673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" b="1" dirty="0">
                <a:solidFill>
                  <a:schemeClr val="bg1"/>
                </a:solidFill>
              </a:rPr>
              <a:t>AVAILABLE TODAY</a:t>
            </a:r>
            <a:endParaRPr lang="en-US" sz="760" dirty="0">
              <a:solidFill>
                <a:schemeClr val="bg1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566928" y="187452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10" dirty="0">
                <a:solidFill>
                  <a:srgbClr val="FFE800"/>
                </a:solidFill>
              </a:rPr>
              <a:t>WHY IT MATTERS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66928" y="2331720"/>
            <a:ext cx="516636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</a:rPr>
              <a:t>Access 60+ AI models from one sovereign platform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</a:rPr>
              <a:t>Deploy in one click without infrastructure management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</a:rPr>
              <a:t>Cover LLMs, OCR, speech, image, video and embeddings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</a:rPr>
              <a:t>Powered by MeluXina HPC infrastructure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080760" y="1737360"/>
            <a:ext cx="1" cy="4251960"/>
          </a:xfrm>
          <a:prstGeom prst="line">
            <a:avLst/>
          </a:prstGeom>
          <a:noFill/>
          <a:ln w="15240">
            <a:solidFill>
              <a:srgbClr val="72B7DF"/>
            </a:solidFill>
            <a:prstDash val="solid"/>
          </a:ln>
        </p:spPr>
        <p:txBody>
          <a:bodyPr/>
          <a:lstStyle/>
          <a:p>
            <a:endParaRPr lang="fr-LU"/>
          </a:p>
        </p:txBody>
      </p:sp>
      <p:sp>
        <p:nvSpPr>
          <p:cNvPr id="12" name="Text 10"/>
          <p:cNvSpPr/>
          <p:nvPr/>
        </p:nvSpPr>
        <p:spPr>
          <a:xfrm>
            <a:off x="566928" y="5330952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Flinky connects applications and workflows to ready-to-use sovereign AI models.</a:t>
            </a:r>
            <a:endParaRPr lang="en-US" sz="1200" dirty="0"/>
          </a:p>
        </p:txBody>
      </p:sp>
      <p:pic>
        <p:nvPicPr>
          <p:cNvPr id="13" name="Image 0" descr="/mnt/data/rev3/src/ppt/media/image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2082983"/>
            <a:ext cx="5166360" cy="3505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992447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spc="100" dirty="0">
                <a:solidFill>
                  <a:srgbClr val="FFE800"/>
                </a:solidFill>
              </a:rPr>
              <a:t>FEATURES   | CONSUMPTION</a:t>
            </a:r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</a:rPr>
              <a:t>Deployment Recipes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02920" y="1051560"/>
            <a:ext cx="11064240" cy="1"/>
          </a:xfrm>
          <a:prstGeom prst="line">
            <a:avLst/>
          </a:prstGeom>
          <a:noFill/>
          <a:ln w="12700">
            <a:solidFill>
              <a:srgbClr val="72B7DF"/>
            </a:solidFill>
            <a:prstDash val="solid"/>
          </a:ln>
        </p:spPr>
        <p:txBody>
          <a:bodyPr/>
          <a:lstStyle/>
          <a:p>
            <a:endParaRPr lang="fr-LU"/>
          </a:p>
        </p:txBody>
      </p:sp>
      <p:sp>
        <p:nvSpPr>
          <p:cNvPr id="5" name="Text 3"/>
          <p:cNvSpPr/>
          <p:nvPr/>
        </p:nvSpPr>
        <p:spPr>
          <a:xfrm>
            <a:off x="10936224" y="27432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</a:rPr>
              <a:t>AIODP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6565392"/>
            <a:ext cx="10607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D8ECF7"/>
                </a:solidFill>
              </a:rPr>
              <a:t>DeployAI  WA3 2026_2027 Strategy &amp; Roll-Out Planning   |   Luxembourg, September 10, 2026   |   Private &amp; Confidential</a:t>
            </a:r>
            <a:endParaRPr lang="en-US" sz="650" dirty="0"/>
          </a:p>
        </p:txBody>
      </p:sp>
      <p:sp>
        <p:nvSpPr>
          <p:cNvPr id="7" name="Shape 5"/>
          <p:cNvSpPr/>
          <p:nvPr/>
        </p:nvSpPr>
        <p:spPr>
          <a:xfrm>
            <a:off x="530352" y="1298448"/>
            <a:ext cx="1536192" cy="310896"/>
          </a:xfrm>
          <a:prstGeom prst="roundRect">
            <a:avLst>
              <a:gd name="adj" fmla="val 14706"/>
            </a:avLst>
          </a:prstGeom>
          <a:solidFill>
            <a:srgbClr val="FFE800"/>
          </a:solidFill>
          <a:ln w="12700">
            <a:solidFill>
              <a:srgbClr val="FFE800"/>
            </a:solidFill>
            <a:prstDash val="solid"/>
          </a:ln>
        </p:spPr>
        <p:txBody>
          <a:bodyPr/>
          <a:lstStyle/>
          <a:p>
            <a:endParaRPr lang="fr-LU"/>
          </a:p>
        </p:txBody>
      </p:sp>
      <p:sp>
        <p:nvSpPr>
          <p:cNvPr id="8" name="Text 6"/>
          <p:cNvSpPr/>
          <p:nvPr/>
        </p:nvSpPr>
        <p:spPr>
          <a:xfrm>
            <a:off x="640080" y="1389888"/>
            <a:ext cx="131673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0B2945"/>
                </a:solidFill>
              </a:rPr>
              <a:t>RELEASE OCT. 2026</a:t>
            </a:r>
            <a:endParaRPr lang="en-US" sz="760" dirty="0"/>
          </a:p>
        </p:txBody>
      </p:sp>
      <p:sp>
        <p:nvSpPr>
          <p:cNvPr id="9" name="Text 7"/>
          <p:cNvSpPr/>
          <p:nvPr/>
        </p:nvSpPr>
        <p:spPr>
          <a:xfrm>
            <a:off x="566928" y="187452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10" dirty="0">
                <a:solidFill>
                  <a:srgbClr val="FFE800"/>
                </a:solidFill>
              </a:rPr>
              <a:t>WHY IT MATTERS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66928" y="2331720"/>
            <a:ext cx="516636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</a:rPr>
              <a:t>Host several models on the same GPU node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</a:rPr>
              <a:t>Reduce idle capacity and operating costs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</a:rPr>
              <a:t>Simplify multi-model deployments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</a:rPr>
              <a:t>Preserve performance while increasing efficiency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080760" y="1737360"/>
            <a:ext cx="1" cy="4251960"/>
          </a:xfrm>
          <a:prstGeom prst="line">
            <a:avLst/>
          </a:prstGeom>
          <a:noFill/>
          <a:ln w="15240">
            <a:solidFill>
              <a:srgbClr val="72B7DF"/>
            </a:solidFill>
            <a:prstDash val="solid"/>
          </a:ln>
        </p:spPr>
        <p:txBody>
          <a:bodyPr/>
          <a:lstStyle/>
          <a:p>
            <a:endParaRPr lang="fr-LU"/>
          </a:p>
        </p:txBody>
      </p:sp>
      <p:sp>
        <p:nvSpPr>
          <p:cNvPr id="12" name="Text 10"/>
          <p:cNvSpPr/>
          <p:nvPr/>
        </p:nvSpPr>
        <p:spPr>
          <a:xfrm>
            <a:off x="566928" y="5330952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Flinky connects applications and workflows to ready-to-use sovereign AI models.</a:t>
            </a:r>
            <a:endParaRPr lang="en-US" sz="1200" dirty="0"/>
          </a:p>
        </p:txBody>
      </p:sp>
      <p:pic>
        <p:nvPicPr>
          <p:cNvPr id="13" name="Image 0" descr="/mnt/data/rev3/src/ppt/media/image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2352862"/>
            <a:ext cx="5166360" cy="2966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71007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spc="100" dirty="0">
                <a:solidFill>
                  <a:srgbClr val="FFE800"/>
                </a:solidFill>
              </a:rPr>
              <a:t>FEATURES   | MODEL LIFECYCLE</a:t>
            </a:r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</a:rPr>
              <a:t>Model Scheduling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02920" y="1051560"/>
            <a:ext cx="11064240" cy="1"/>
          </a:xfrm>
          <a:prstGeom prst="line">
            <a:avLst/>
          </a:prstGeom>
          <a:noFill/>
          <a:ln w="12700">
            <a:solidFill>
              <a:srgbClr val="72B7DF"/>
            </a:solidFill>
            <a:prstDash val="solid"/>
          </a:ln>
        </p:spPr>
        <p:txBody>
          <a:bodyPr/>
          <a:lstStyle/>
          <a:p>
            <a:endParaRPr lang="fr-LU"/>
          </a:p>
        </p:txBody>
      </p:sp>
      <p:sp>
        <p:nvSpPr>
          <p:cNvPr id="5" name="Text 3"/>
          <p:cNvSpPr/>
          <p:nvPr/>
        </p:nvSpPr>
        <p:spPr>
          <a:xfrm>
            <a:off x="10936224" y="27432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</a:rPr>
              <a:t>AIODP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6565392"/>
            <a:ext cx="10607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D8ECF7"/>
                </a:solidFill>
              </a:rPr>
              <a:t>DeployAI  WA3 2026_2027 Strategy &amp; Roll-Out Planning   |   Luxembourg, September 10, 2026   |   Private &amp; Confidential</a:t>
            </a:r>
            <a:endParaRPr lang="en-US" sz="650" dirty="0"/>
          </a:p>
        </p:txBody>
      </p:sp>
      <p:sp>
        <p:nvSpPr>
          <p:cNvPr id="7" name="Shape 5"/>
          <p:cNvSpPr/>
          <p:nvPr/>
        </p:nvSpPr>
        <p:spPr>
          <a:xfrm>
            <a:off x="530352" y="1298448"/>
            <a:ext cx="1536192" cy="310896"/>
          </a:xfrm>
          <a:prstGeom prst="roundRect">
            <a:avLst>
              <a:gd name="adj" fmla="val 14706"/>
            </a:avLst>
          </a:prstGeom>
          <a:solidFill>
            <a:srgbClr val="008000"/>
          </a:solidFill>
          <a:ln w="12700">
            <a:solidFill>
              <a:srgbClr val="008000"/>
            </a:solidFill>
            <a:prstDash val="solid"/>
          </a:ln>
        </p:spPr>
        <p:txBody>
          <a:bodyPr/>
          <a:lstStyle/>
          <a:p>
            <a:endParaRPr lang="fr-LU"/>
          </a:p>
        </p:txBody>
      </p:sp>
      <p:sp>
        <p:nvSpPr>
          <p:cNvPr id="8" name="Text 6"/>
          <p:cNvSpPr/>
          <p:nvPr/>
        </p:nvSpPr>
        <p:spPr>
          <a:xfrm>
            <a:off x="640080" y="1389888"/>
            <a:ext cx="131673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" b="1" dirty="0">
                <a:solidFill>
                  <a:schemeClr val="bg1"/>
                </a:solidFill>
              </a:rPr>
              <a:t>AVAILABLE</a:t>
            </a:r>
            <a:r>
              <a:rPr lang="en-US" sz="760" b="1" dirty="0">
                <a:solidFill>
                  <a:srgbClr val="0B2945"/>
                </a:solidFill>
              </a:rPr>
              <a:t> </a:t>
            </a:r>
            <a:r>
              <a:rPr lang="en-US" sz="760" b="1" dirty="0">
                <a:solidFill>
                  <a:schemeClr val="bg1"/>
                </a:solidFill>
              </a:rPr>
              <a:t>TODAY</a:t>
            </a:r>
            <a:endParaRPr lang="en-US" sz="760" dirty="0">
              <a:solidFill>
                <a:schemeClr val="bg1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566928" y="187452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10" dirty="0">
                <a:solidFill>
                  <a:srgbClr val="FFE800"/>
                </a:solidFill>
              </a:rPr>
              <a:t>WHY IT MATTERS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66928" y="2331720"/>
            <a:ext cx="516636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</a:rPr>
              <a:t>Automate model start and stop times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</a:rPr>
              <a:t>Optimize GPU consumption and costs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</a:rPr>
              <a:t>Match capacity to business hours and peak demand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</a:rPr>
              <a:t>Avoid permanent resource allocation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080760" y="1737360"/>
            <a:ext cx="1" cy="4251960"/>
          </a:xfrm>
          <a:prstGeom prst="line">
            <a:avLst/>
          </a:prstGeom>
          <a:noFill/>
          <a:ln w="15240">
            <a:solidFill>
              <a:srgbClr val="72B7DF"/>
            </a:solidFill>
            <a:prstDash val="solid"/>
          </a:ln>
        </p:spPr>
        <p:txBody>
          <a:bodyPr/>
          <a:lstStyle/>
          <a:p>
            <a:endParaRPr lang="fr-LU"/>
          </a:p>
        </p:txBody>
      </p:sp>
      <p:sp>
        <p:nvSpPr>
          <p:cNvPr id="12" name="Text 10"/>
          <p:cNvSpPr/>
          <p:nvPr/>
        </p:nvSpPr>
        <p:spPr>
          <a:xfrm>
            <a:off x="566928" y="5330952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Flinky connects applications and workflows to ready-to-use sovereign AI models.</a:t>
            </a:r>
            <a:endParaRPr lang="en-US" sz="1200" dirty="0"/>
          </a:p>
        </p:txBody>
      </p:sp>
      <p:pic>
        <p:nvPicPr>
          <p:cNvPr id="13" name="Image 0" descr="/mnt/data/rev3/src/ppt/media/image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3289" y="1572768"/>
            <a:ext cx="4832822" cy="4526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75748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spc="100" dirty="0">
                <a:solidFill>
                  <a:srgbClr val="FFE800"/>
                </a:solidFill>
              </a:rPr>
              <a:t>FEATURES   | MODEL LIFECYCLE</a:t>
            </a:r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</a:rPr>
              <a:t>SDK for Application Integration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02920" y="1051560"/>
            <a:ext cx="11064240" cy="1"/>
          </a:xfrm>
          <a:prstGeom prst="line">
            <a:avLst/>
          </a:prstGeom>
          <a:noFill/>
          <a:ln w="12700">
            <a:solidFill>
              <a:srgbClr val="72B7DF"/>
            </a:solidFill>
            <a:prstDash val="solid"/>
          </a:ln>
        </p:spPr>
        <p:txBody>
          <a:bodyPr/>
          <a:lstStyle/>
          <a:p>
            <a:endParaRPr lang="fr-LU"/>
          </a:p>
        </p:txBody>
      </p:sp>
      <p:sp>
        <p:nvSpPr>
          <p:cNvPr id="5" name="Text 3"/>
          <p:cNvSpPr/>
          <p:nvPr/>
        </p:nvSpPr>
        <p:spPr>
          <a:xfrm>
            <a:off x="10936224" y="27432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</a:rPr>
              <a:t>AIODP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6565392"/>
            <a:ext cx="10607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D8ECF7"/>
                </a:solidFill>
              </a:rPr>
              <a:t>DeployAI  WA3 2026_2027 Strategy &amp; Roll-Out Planning   |   Luxembourg, September 10, 2026   |   Private &amp; Confidential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566928" y="187452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10" dirty="0">
                <a:solidFill>
                  <a:srgbClr val="FFE800"/>
                </a:solidFill>
              </a:rPr>
              <a:t>WHY IT MATTERS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66928" y="2331720"/>
            <a:ext cx="516636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</a:rPr>
              <a:t>Embed Flinky into applications and workflows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</a:rPr>
              <a:t>Automate and productionize AI operations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</a:rPr>
              <a:t>Use a Python SDK across Flinky capabilities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</a:rPr>
              <a:t>Integrate through OpenAI-compatible APIs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080760" y="1737360"/>
            <a:ext cx="1" cy="4251960"/>
          </a:xfrm>
          <a:prstGeom prst="line">
            <a:avLst/>
          </a:prstGeom>
          <a:noFill/>
          <a:ln w="15240">
            <a:solidFill>
              <a:srgbClr val="72B7DF"/>
            </a:solidFill>
            <a:prstDash val="solid"/>
          </a:ln>
        </p:spPr>
        <p:txBody>
          <a:bodyPr/>
          <a:lstStyle/>
          <a:p>
            <a:endParaRPr lang="fr-LU"/>
          </a:p>
        </p:txBody>
      </p:sp>
      <p:sp>
        <p:nvSpPr>
          <p:cNvPr id="12" name="Text 10"/>
          <p:cNvSpPr/>
          <p:nvPr/>
        </p:nvSpPr>
        <p:spPr>
          <a:xfrm>
            <a:off x="566928" y="5330952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Flinky connects applications and workflows to ready-to-use sovereign AI models.</a:t>
            </a:r>
            <a:endParaRPr lang="en-US" sz="1200" dirty="0"/>
          </a:p>
        </p:txBody>
      </p:sp>
      <p:pic>
        <p:nvPicPr>
          <p:cNvPr id="13" name="Image 0" descr="/mnt/data/rev3/src/ppt/media/image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9116" y="1572768"/>
            <a:ext cx="5001168" cy="4526280"/>
          </a:xfrm>
          <a:prstGeom prst="rect">
            <a:avLst/>
          </a:prstGeom>
        </p:spPr>
      </p:pic>
      <p:sp>
        <p:nvSpPr>
          <p:cNvPr id="15" name="Shape 5">
            <a:extLst>
              <a:ext uri="{FF2B5EF4-FFF2-40B4-BE49-F238E27FC236}">
                <a16:creationId xmlns:a16="http://schemas.microsoft.com/office/drawing/2014/main" id="{0C6BDD46-CEF7-E3F8-7AF8-45C20EBFD4D3}"/>
              </a:ext>
            </a:extLst>
          </p:cNvPr>
          <p:cNvSpPr/>
          <p:nvPr/>
        </p:nvSpPr>
        <p:spPr>
          <a:xfrm>
            <a:off x="530352" y="1298448"/>
            <a:ext cx="1536192" cy="310896"/>
          </a:xfrm>
          <a:prstGeom prst="roundRect">
            <a:avLst>
              <a:gd name="adj" fmla="val 14706"/>
            </a:avLst>
          </a:prstGeom>
          <a:solidFill>
            <a:srgbClr val="008000"/>
          </a:solidFill>
          <a:ln w="12700">
            <a:solidFill>
              <a:srgbClr val="008000"/>
            </a:solidFill>
            <a:prstDash val="solid"/>
          </a:ln>
        </p:spPr>
        <p:txBody>
          <a:bodyPr/>
          <a:lstStyle/>
          <a:p>
            <a:endParaRPr lang="fr-LU">
              <a:solidFill>
                <a:schemeClr val="bg1"/>
              </a:solidFill>
            </a:endParaRPr>
          </a:p>
        </p:txBody>
      </p:sp>
      <p:sp>
        <p:nvSpPr>
          <p:cNvPr id="17" name="Text 6">
            <a:extLst>
              <a:ext uri="{FF2B5EF4-FFF2-40B4-BE49-F238E27FC236}">
                <a16:creationId xmlns:a16="http://schemas.microsoft.com/office/drawing/2014/main" id="{E3D31667-AABB-FB4A-5552-E7D457489A99}"/>
              </a:ext>
            </a:extLst>
          </p:cNvPr>
          <p:cNvSpPr/>
          <p:nvPr/>
        </p:nvSpPr>
        <p:spPr>
          <a:xfrm>
            <a:off x="640080" y="1389888"/>
            <a:ext cx="131673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" b="1" dirty="0">
                <a:solidFill>
                  <a:schemeClr val="bg1"/>
                </a:solidFill>
              </a:rPr>
              <a:t>AVAILABLE TODAY</a:t>
            </a:r>
            <a:endParaRPr lang="en-US" sz="76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2450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spc="100" dirty="0">
                <a:solidFill>
                  <a:srgbClr val="FFE800"/>
                </a:solidFill>
              </a:rPr>
              <a:t>FEATURES   | MODEL LIFECYCLE</a:t>
            </a:r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</a:rPr>
              <a:t>Shared Model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02920" y="1051560"/>
            <a:ext cx="11064240" cy="1"/>
          </a:xfrm>
          <a:prstGeom prst="line">
            <a:avLst/>
          </a:prstGeom>
          <a:noFill/>
          <a:ln w="12700">
            <a:solidFill>
              <a:srgbClr val="72B7DF"/>
            </a:solidFill>
            <a:prstDash val="solid"/>
          </a:ln>
        </p:spPr>
        <p:txBody>
          <a:bodyPr/>
          <a:lstStyle/>
          <a:p>
            <a:endParaRPr lang="fr-LU"/>
          </a:p>
        </p:txBody>
      </p:sp>
      <p:sp>
        <p:nvSpPr>
          <p:cNvPr id="5" name="Text 3"/>
          <p:cNvSpPr/>
          <p:nvPr/>
        </p:nvSpPr>
        <p:spPr>
          <a:xfrm>
            <a:off x="10936224" y="27432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</a:rPr>
              <a:t>AIODP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468370" y="6547103"/>
            <a:ext cx="10607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D8ECF7"/>
                </a:solidFill>
              </a:rPr>
              <a:t>DeployAI  WA3 2026_2027 Strategy &amp; Roll-Out Planning   |   Luxembourg, September 10, 2026   |   Private &amp; Confidential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566928" y="187452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10" dirty="0">
                <a:solidFill>
                  <a:srgbClr val="FFE800"/>
                </a:solidFill>
              </a:rPr>
              <a:t>WHY IT MATTERS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66928" y="2331720"/>
            <a:ext cx="516636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</a:rPr>
              <a:t>Share models securely across teams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</a:rPr>
              <a:t>Promote reuse and collaboration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</a:rPr>
              <a:t>Eliminate duplicate deployments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</a:rPr>
              <a:t>Accelerate adoption across the organization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080760" y="1737360"/>
            <a:ext cx="1" cy="4251960"/>
          </a:xfrm>
          <a:prstGeom prst="line">
            <a:avLst/>
          </a:prstGeom>
          <a:noFill/>
          <a:ln w="15240">
            <a:solidFill>
              <a:srgbClr val="72B7DF"/>
            </a:solidFill>
            <a:prstDash val="solid"/>
          </a:ln>
        </p:spPr>
        <p:txBody>
          <a:bodyPr/>
          <a:lstStyle/>
          <a:p>
            <a:endParaRPr lang="fr-LU"/>
          </a:p>
        </p:txBody>
      </p:sp>
      <p:sp>
        <p:nvSpPr>
          <p:cNvPr id="12" name="Text 10"/>
          <p:cNvSpPr/>
          <p:nvPr/>
        </p:nvSpPr>
        <p:spPr>
          <a:xfrm>
            <a:off x="566928" y="5330952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Flinky connects applications and workflows to ready-to-use sovereign AI models.</a:t>
            </a:r>
            <a:endParaRPr lang="en-US" sz="1200" dirty="0"/>
          </a:p>
        </p:txBody>
      </p:sp>
      <p:pic>
        <p:nvPicPr>
          <p:cNvPr id="13" name="Image 0" descr="/mnt/data/rev3/src/ppt/media/image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1954121"/>
            <a:ext cx="5166360" cy="3763574"/>
          </a:xfrm>
          <a:prstGeom prst="rect">
            <a:avLst/>
          </a:prstGeom>
        </p:spPr>
      </p:pic>
      <p:sp>
        <p:nvSpPr>
          <p:cNvPr id="15" name="Shape 5">
            <a:extLst>
              <a:ext uri="{FF2B5EF4-FFF2-40B4-BE49-F238E27FC236}">
                <a16:creationId xmlns:a16="http://schemas.microsoft.com/office/drawing/2014/main" id="{9CF12D57-FEE2-A5D0-57AC-707111BB3B09}"/>
              </a:ext>
            </a:extLst>
          </p:cNvPr>
          <p:cNvSpPr/>
          <p:nvPr/>
        </p:nvSpPr>
        <p:spPr>
          <a:xfrm>
            <a:off x="530352" y="1298448"/>
            <a:ext cx="1536192" cy="310896"/>
          </a:xfrm>
          <a:prstGeom prst="roundRect">
            <a:avLst>
              <a:gd name="adj" fmla="val 14706"/>
            </a:avLst>
          </a:prstGeom>
          <a:solidFill>
            <a:srgbClr val="008000"/>
          </a:solidFill>
          <a:ln w="12700">
            <a:solidFill>
              <a:srgbClr val="008000"/>
            </a:solidFill>
            <a:prstDash val="solid"/>
          </a:ln>
        </p:spPr>
        <p:txBody>
          <a:bodyPr/>
          <a:lstStyle/>
          <a:p>
            <a:endParaRPr lang="fr-LU">
              <a:solidFill>
                <a:schemeClr val="bg1"/>
              </a:solidFill>
            </a:endParaRPr>
          </a:p>
        </p:txBody>
      </p:sp>
      <p:sp>
        <p:nvSpPr>
          <p:cNvPr id="17" name="Text 6">
            <a:extLst>
              <a:ext uri="{FF2B5EF4-FFF2-40B4-BE49-F238E27FC236}">
                <a16:creationId xmlns:a16="http://schemas.microsoft.com/office/drawing/2014/main" id="{5D8E0EEF-DBB5-9E84-4BD8-EA4B10BB44DF}"/>
              </a:ext>
            </a:extLst>
          </p:cNvPr>
          <p:cNvSpPr/>
          <p:nvPr/>
        </p:nvSpPr>
        <p:spPr>
          <a:xfrm>
            <a:off x="640080" y="1389888"/>
            <a:ext cx="131673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" b="1" dirty="0">
                <a:solidFill>
                  <a:schemeClr val="bg1"/>
                </a:solidFill>
              </a:rPr>
              <a:t>AVAILABLE TODAY</a:t>
            </a:r>
            <a:endParaRPr lang="en-US" sz="76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338773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spc="100" dirty="0">
                <a:solidFill>
                  <a:srgbClr val="FFE800"/>
                </a:solidFill>
              </a:rPr>
              <a:t>FEATURES   | MODEL LIFECYCLE</a:t>
            </a:r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</a:rPr>
              <a:t>Dynamic GPU Scaling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02920" y="1051560"/>
            <a:ext cx="11064240" cy="1"/>
          </a:xfrm>
          <a:prstGeom prst="line">
            <a:avLst/>
          </a:prstGeom>
          <a:noFill/>
          <a:ln w="12700">
            <a:solidFill>
              <a:srgbClr val="72B7DF"/>
            </a:solidFill>
            <a:prstDash val="solid"/>
          </a:ln>
        </p:spPr>
        <p:txBody>
          <a:bodyPr/>
          <a:lstStyle/>
          <a:p>
            <a:endParaRPr lang="fr-LU"/>
          </a:p>
        </p:txBody>
      </p:sp>
      <p:sp>
        <p:nvSpPr>
          <p:cNvPr id="5" name="Text 3"/>
          <p:cNvSpPr/>
          <p:nvPr/>
        </p:nvSpPr>
        <p:spPr>
          <a:xfrm>
            <a:off x="10936224" y="27432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</a:rPr>
              <a:t>AIODP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6565392"/>
            <a:ext cx="10607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D8ECF7"/>
                </a:solidFill>
              </a:rPr>
              <a:t>DeployAI  WA3 2026_2027 Strategy &amp; Roll-Out Planning   |   Luxembourg, September 10, 2026   |   Private &amp; Confidential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566928" y="187452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10" dirty="0">
                <a:solidFill>
                  <a:srgbClr val="FFE800"/>
                </a:solidFill>
              </a:rPr>
              <a:t>WHY IT MATTERS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66928" y="2331720"/>
            <a:ext cx="516636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</a:rPr>
              <a:t>Adjust compute capacity to demand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</a:rPr>
              <a:t>Maintain availability during traffic spikes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</a:rPr>
              <a:t>Keep inference performance consistent at scale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</a:rPr>
              <a:t>Control consumption through configurable limits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080760" y="1737360"/>
            <a:ext cx="1" cy="4251960"/>
          </a:xfrm>
          <a:prstGeom prst="line">
            <a:avLst/>
          </a:prstGeom>
          <a:noFill/>
          <a:ln w="15240">
            <a:solidFill>
              <a:srgbClr val="72B7DF"/>
            </a:solidFill>
            <a:prstDash val="solid"/>
          </a:ln>
        </p:spPr>
        <p:txBody>
          <a:bodyPr/>
          <a:lstStyle/>
          <a:p>
            <a:endParaRPr lang="fr-LU"/>
          </a:p>
        </p:txBody>
      </p:sp>
      <p:sp>
        <p:nvSpPr>
          <p:cNvPr id="12" name="Text 10"/>
          <p:cNvSpPr/>
          <p:nvPr/>
        </p:nvSpPr>
        <p:spPr>
          <a:xfrm>
            <a:off x="566928" y="5330952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Flinky connects applications and workflows to ready-to-use sovereign AI models.</a:t>
            </a:r>
            <a:endParaRPr lang="en-US" sz="1200" dirty="0"/>
          </a:p>
        </p:txBody>
      </p:sp>
      <p:pic>
        <p:nvPicPr>
          <p:cNvPr id="13" name="Image 0" descr="/mnt/data/rev3/src/ppt/media/image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7622" y="1572768"/>
            <a:ext cx="3424156" cy="4526280"/>
          </a:xfrm>
          <a:prstGeom prst="rect">
            <a:avLst/>
          </a:prstGeom>
        </p:spPr>
      </p:pic>
      <p:sp>
        <p:nvSpPr>
          <p:cNvPr id="15" name="Shape 5">
            <a:extLst>
              <a:ext uri="{FF2B5EF4-FFF2-40B4-BE49-F238E27FC236}">
                <a16:creationId xmlns:a16="http://schemas.microsoft.com/office/drawing/2014/main" id="{8AD8A766-309E-159B-2659-A1AF0E897B45}"/>
              </a:ext>
            </a:extLst>
          </p:cNvPr>
          <p:cNvSpPr/>
          <p:nvPr/>
        </p:nvSpPr>
        <p:spPr>
          <a:xfrm>
            <a:off x="530352" y="1298448"/>
            <a:ext cx="1536192" cy="310896"/>
          </a:xfrm>
          <a:prstGeom prst="roundRect">
            <a:avLst>
              <a:gd name="adj" fmla="val 14706"/>
            </a:avLst>
          </a:prstGeom>
          <a:solidFill>
            <a:srgbClr val="008000"/>
          </a:solidFill>
          <a:ln w="12700">
            <a:solidFill>
              <a:srgbClr val="008000"/>
            </a:solidFill>
            <a:prstDash val="solid"/>
          </a:ln>
        </p:spPr>
        <p:txBody>
          <a:bodyPr/>
          <a:lstStyle/>
          <a:p>
            <a:endParaRPr lang="fr-LU">
              <a:solidFill>
                <a:schemeClr val="bg1"/>
              </a:solidFill>
            </a:endParaRPr>
          </a:p>
        </p:txBody>
      </p:sp>
      <p:sp>
        <p:nvSpPr>
          <p:cNvPr id="17" name="Text 6">
            <a:extLst>
              <a:ext uri="{FF2B5EF4-FFF2-40B4-BE49-F238E27FC236}">
                <a16:creationId xmlns:a16="http://schemas.microsoft.com/office/drawing/2014/main" id="{4C1D911D-EC54-A9F3-51E2-2CFF0AEB6178}"/>
              </a:ext>
            </a:extLst>
          </p:cNvPr>
          <p:cNvSpPr/>
          <p:nvPr/>
        </p:nvSpPr>
        <p:spPr>
          <a:xfrm>
            <a:off x="640080" y="1389888"/>
            <a:ext cx="131673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" b="1" dirty="0">
                <a:solidFill>
                  <a:schemeClr val="bg1"/>
                </a:solidFill>
              </a:rPr>
              <a:t>AVAILABLE TODAY</a:t>
            </a:r>
            <a:endParaRPr lang="en-US" sz="76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54977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spc="100" dirty="0">
                <a:solidFill>
                  <a:srgbClr val="FFE800"/>
                </a:solidFill>
              </a:rPr>
              <a:t>FEATURES   | OPERATIONS</a:t>
            </a:r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</a:rPr>
              <a:t>Monitoring &amp; Observability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02920" y="1051560"/>
            <a:ext cx="11064240" cy="1"/>
          </a:xfrm>
          <a:prstGeom prst="line">
            <a:avLst/>
          </a:prstGeom>
          <a:noFill/>
          <a:ln w="12700">
            <a:solidFill>
              <a:srgbClr val="72B7DF"/>
            </a:solidFill>
            <a:prstDash val="solid"/>
          </a:ln>
        </p:spPr>
        <p:txBody>
          <a:bodyPr/>
          <a:lstStyle/>
          <a:p>
            <a:endParaRPr lang="fr-LU"/>
          </a:p>
        </p:txBody>
      </p:sp>
      <p:sp>
        <p:nvSpPr>
          <p:cNvPr id="5" name="Text 3"/>
          <p:cNvSpPr/>
          <p:nvPr/>
        </p:nvSpPr>
        <p:spPr>
          <a:xfrm>
            <a:off x="10936224" y="27432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</a:rPr>
              <a:t>AIODP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6565392"/>
            <a:ext cx="10607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D8ECF7"/>
                </a:solidFill>
              </a:rPr>
              <a:t>DeployAI  WA3 2026_2027 Strategy &amp; Roll-Out Planning   |   Luxembourg, September 10, 2026   |   Private &amp; Confidential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566928" y="187452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10" dirty="0">
                <a:solidFill>
                  <a:srgbClr val="FFE800"/>
                </a:solidFill>
              </a:rPr>
              <a:t>WHY IT MATTERS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66928" y="2331720"/>
            <a:ext cx="516636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</a:rPr>
              <a:t>See models and instances across the organization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</a:rPr>
              <a:t>Track consumption and costs by user, team or model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</a:rPr>
              <a:t>Identify adoption trends and valuable use cases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</a:rPr>
              <a:t>Support governance, budgeting and capacity planning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080760" y="1737360"/>
            <a:ext cx="1" cy="4251960"/>
          </a:xfrm>
          <a:prstGeom prst="line">
            <a:avLst/>
          </a:prstGeom>
          <a:noFill/>
          <a:ln w="15240">
            <a:solidFill>
              <a:srgbClr val="72B7DF"/>
            </a:solidFill>
            <a:prstDash val="solid"/>
          </a:ln>
        </p:spPr>
        <p:txBody>
          <a:bodyPr/>
          <a:lstStyle/>
          <a:p>
            <a:endParaRPr lang="fr-LU"/>
          </a:p>
        </p:txBody>
      </p:sp>
      <p:sp>
        <p:nvSpPr>
          <p:cNvPr id="12" name="Text 10"/>
          <p:cNvSpPr/>
          <p:nvPr/>
        </p:nvSpPr>
        <p:spPr>
          <a:xfrm>
            <a:off x="566928" y="5330952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Flinky connects applications and workflows to ready-to-use sovereign AI models.</a:t>
            </a:r>
            <a:endParaRPr lang="en-US" sz="1200" dirty="0"/>
          </a:p>
        </p:txBody>
      </p:sp>
      <p:pic>
        <p:nvPicPr>
          <p:cNvPr id="13" name="Image 0" descr="/mnt/data/rev3/src/ppt/media/image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2368368"/>
            <a:ext cx="5166360" cy="2935080"/>
          </a:xfrm>
          <a:prstGeom prst="rect">
            <a:avLst/>
          </a:prstGeom>
        </p:spPr>
      </p:pic>
      <p:sp>
        <p:nvSpPr>
          <p:cNvPr id="15" name="Shape 5">
            <a:extLst>
              <a:ext uri="{FF2B5EF4-FFF2-40B4-BE49-F238E27FC236}">
                <a16:creationId xmlns:a16="http://schemas.microsoft.com/office/drawing/2014/main" id="{467CFAB3-682D-CBE6-D4D2-65E98DF8D9D0}"/>
              </a:ext>
            </a:extLst>
          </p:cNvPr>
          <p:cNvSpPr/>
          <p:nvPr/>
        </p:nvSpPr>
        <p:spPr>
          <a:xfrm>
            <a:off x="530352" y="1298448"/>
            <a:ext cx="1536192" cy="310896"/>
          </a:xfrm>
          <a:prstGeom prst="roundRect">
            <a:avLst>
              <a:gd name="adj" fmla="val 14706"/>
            </a:avLst>
          </a:prstGeom>
          <a:solidFill>
            <a:srgbClr val="008000"/>
          </a:solidFill>
          <a:ln w="12700">
            <a:solidFill>
              <a:srgbClr val="008000"/>
            </a:solidFill>
            <a:prstDash val="solid"/>
          </a:ln>
        </p:spPr>
        <p:txBody>
          <a:bodyPr/>
          <a:lstStyle/>
          <a:p>
            <a:endParaRPr lang="fr-LU">
              <a:solidFill>
                <a:schemeClr val="bg1"/>
              </a:solidFill>
            </a:endParaRPr>
          </a:p>
        </p:txBody>
      </p:sp>
      <p:sp>
        <p:nvSpPr>
          <p:cNvPr id="17" name="Text 6">
            <a:extLst>
              <a:ext uri="{FF2B5EF4-FFF2-40B4-BE49-F238E27FC236}">
                <a16:creationId xmlns:a16="http://schemas.microsoft.com/office/drawing/2014/main" id="{856D7092-4F05-BE5F-76F6-D045AE347CBB}"/>
              </a:ext>
            </a:extLst>
          </p:cNvPr>
          <p:cNvSpPr/>
          <p:nvPr/>
        </p:nvSpPr>
        <p:spPr>
          <a:xfrm>
            <a:off x="640080" y="1389888"/>
            <a:ext cx="131673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" b="1" dirty="0">
                <a:solidFill>
                  <a:schemeClr val="bg1"/>
                </a:solidFill>
              </a:rPr>
              <a:t>AVAILABLE TODAY</a:t>
            </a:r>
            <a:endParaRPr lang="en-US" sz="76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332658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spc="100" dirty="0">
                <a:solidFill>
                  <a:srgbClr val="FFE800"/>
                </a:solidFill>
              </a:rPr>
              <a:t>FEATURES   | OPERATIONS</a:t>
            </a:r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</a:rPr>
              <a:t>CLI for Infrastructure Operations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02920" y="1051560"/>
            <a:ext cx="11064240" cy="1"/>
          </a:xfrm>
          <a:prstGeom prst="line">
            <a:avLst/>
          </a:prstGeom>
          <a:noFill/>
          <a:ln w="12700">
            <a:solidFill>
              <a:srgbClr val="72B7DF"/>
            </a:solidFill>
            <a:prstDash val="solid"/>
          </a:ln>
        </p:spPr>
        <p:txBody>
          <a:bodyPr/>
          <a:lstStyle/>
          <a:p>
            <a:endParaRPr lang="fr-LU"/>
          </a:p>
        </p:txBody>
      </p:sp>
      <p:sp>
        <p:nvSpPr>
          <p:cNvPr id="5" name="Text 3"/>
          <p:cNvSpPr/>
          <p:nvPr/>
        </p:nvSpPr>
        <p:spPr>
          <a:xfrm>
            <a:off x="10936224" y="27432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</a:rPr>
              <a:t>AIODP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6565392"/>
            <a:ext cx="10607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D8ECF7"/>
                </a:solidFill>
              </a:rPr>
              <a:t>DeployAI  WA3 2026_2027 Strategy &amp; Roll-Out Planning   |   Luxembourg, September 10, 2026   |   Private &amp; Confidential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566928" y="187452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10" dirty="0">
                <a:solidFill>
                  <a:srgbClr val="FFE800"/>
                </a:solidFill>
              </a:rPr>
              <a:t>WHY IT MATTERS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66928" y="2331720"/>
            <a:ext cx="516636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</a:rPr>
              <a:t>Start, stop and monitor models from the command line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</a:rPr>
              <a:t>Integrate with DevOps and CI/CD pipelines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</a:rPr>
              <a:t>Automate deployments and operations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</a:rPr>
              <a:t>Designed for administrators and MLOps teams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080760" y="1737360"/>
            <a:ext cx="1" cy="4251960"/>
          </a:xfrm>
          <a:prstGeom prst="line">
            <a:avLst/>
          </a:prstGeom>
          <a:noFill/>
          <a:ln w="15240">
            <a:solidFill>
              <a:srgbClr val="72B7DF"/>
            </a:solidFill>
            <a:prstDash val="solid"/>
          </a:ln>
        </p:spPr>
        <p:txBody>
          <a:bodyPr/>
          <a:lstStyle/>
          <a:p>
            <a:endParaRPr lang="fr-LU"/>
          </a:p>
        </p:txBody>
      </p:sp>
      <p:sp>
        <p:nvSpPr>
          <p:cNvPr id="12" name="Text 10"/>
          <p:cNvSpPr/>
          <p:nvPr/>
        </p:nvSpPr>
        <p:spPr>
          <a:xfrm>
            <a:off x="566928" y="5330952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Flinky connects applications and workflows to ready-to-use sovereign AI models.</a:t>
            </a:r>
            <a:endParaRPr lang="en-US" sz="1200" dirty="0"/>
          </a:p>
        </p:txBody>
      </p:sp>
      <p:pic>
        <p:nvPicPr>
          <p:cNvPr id="13" name="Image 0" descr="/mnt/data/rev3/src/ppt/media/image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2989790"/>
            <a:ext cx="5166360" cy="1692235"/>
          </a:xfrm>
          <a:prstGeom prst="rect">
            <a:avLst/>
          </a:prstGeom>
        </p:spPr>
      </p:pic>
      <p:sp>
        <p:nvSpPr>
          <p:cNvPr id="15" name="Shape 5">
            <a:extLst>
              <a:ext uri="{FF2B5EF4-FFF2-40B4-BE49-F238E27FC236}">
                <a16:creationId xmlns:a16="http://schemas.microsoft.com/office/drawing/2014/main" id="{FA7F6478-7C41-85E3-63AD-420EA95A7AC2}"/>
              </a:ext>
            </a:extLst>
          </p:cNvPr>
          <p:cNvSpPr/>
          <p:nvPr/>
        </p:nvSpPr>
        <p:spPr>
          <a:xfrm>
            <a:off x="530352" y="1298448"/>
            <a:ext cx="1536192" cy="310896"/>
          </a:xfrm>
          <a:prstGeom prst="roundRect">
            <a:avLst>
              <a:gd name="adj" fmla="val 14706"/>
            </a:avLst>
          </a:prstGeom>
          <a:solidFill>
            <a:srgbClr val="008000"/>
          </a:solidFill>
          <a:ln w="12700">
            <a:solidFill>
              <a:srgbClr val="008000"/>
            </a:solidFill>
            <a:prstDash val="solid"/>
          </a:ln>
        </p:spPr>
        <p:txBody>
          <a:bodyPr/>
          <a:lstStyle/>
          <a:p>
            <a:endParaRPr lang="fr-LU">
              <a:solidFill>
                <a:schemeClr val="bg1"/>
              </a:solidFill>
            </a:endParaRPr>
          </a:p>
        </p:txBody>
      </p:sp>
      <p:sp>
        <p:nvSpPr>
          <p:cNvPr id="17" name="Text 6">
            <a:extLst>
              <a:ext uri="{FF2B5EF4-FFF2-40B4-BE49-F238E27FC236}">
                <a16:creationId xmlns:a16="http://schemas.microsoft.com/office/drawing/2014/main" id="{2F043F1F-C597-178D-7A75-70689DAFC480}"/>
              </a:ext>
            </a:extLst>
          </p:cNvPr>
          <p:cNvSpPr/>
          <p:nvPr/>
        </p:nvSpPr>
        <p:spPr>
          <a:xfrm>
            <a:off x="640080" y="1389888"/>
            <a:ext cx="131673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" b="1" dirty="0">
                <a:solidFill>
                  <a:schemeClr val="bg1"/>
                </a:solidFill>
              </a:rPr>
              <a:t>AVAILABLE TODAY</a:t>
            </a:r>
            <a:endParaRPr lang="en-US" sz="76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055952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FFE800"/>
                </a:solidFill>
              </a:rPr>
              <a:t>APPLICATION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</a:rPr>
              <a:t>Corporate Chat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02920" y="1051560"/>
            <a:ext cx="11064240" cy="1"/>
          </a:xfrm>
          <a:prstGeom prst="line">
            <a:avLst/>
          </a:prstGeom>
          <a:noFill/>
          <a:ln w="12700">
            <a:solidFill>
              <a:srgbClr val="72B7DF"/>
            </a:solidFill>
            <a:prstDash val="solid"/>
          </a:ln>
        </p:spPr>
        <p:txBody>
          <a:bodyPr/>
          <a:lstStyle/>
          <a:p>
            <a:endParaRPr lang="fr-LU"/>
          </a:p>
        </p:txBody>
      </p:sp>
      <p:sp>
        <p:nvSpPr>
          <p:cNvPr id="5" name="Text 3"/>
          <p:cNvSpPr/>
          <p:nvPr/>
        </p:nvSpPr>
        <p:spPr>
          <a:xfrm>
            <a:off x="10936224" y="27432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</a:rPr>
              <a:t>AIODP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6565392"/>
            <a:ext cx="10607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D8ECF7"/>
                </a:solidFill>
              </a:rPr>
              <a:t>DeployAI  WA3 2026_2027 Strategy &amp; Roll-Out Planning   |   Luxembourg, September 10, 2026   |   Private &amp; Confidential</a:t>
            </a:r>
            <a:endParaRPr lang="en-US" sz="650" dirty="0"/>
          </a:p>
        </p:txBody>
      </p:sp>
      <p:sp>
        <p:nvSpPr>
          <p:cNvPr id="7" name="Shape 5"/>
          <p:cNvSpPr/>
          <p:nvPr/>
        </p:nvSpPr>
        <p:spPr>
          <a:xfrm>
            <a:off x="530352" y="1298448"/>
            <a:ext cx="1536192" cy="310896"/>
          </a:xfrm>
          <a:prstGeom prst="roundRect">
            <a:avLst>
              <a:gd name="adj" fmla="val 14706"/>
            </a:avLst>
          </a:prstGeom>
          <a:solidFill>
            <a:srgbClr val="FFE800"/>
          </a:solidFill>
          <a:ln w="12700">
            <a:solidFill>
              <a:srgbClr val="FFE800"/>
            </a:solidFill>
            <a:prstDash val="solid"/>
          </a:ln>
        </p:spPr>
        <p:txBody>
          <a:bodyPr/>
          <a:lstStyle/>
          <a:p>
            <a:endParaRPr lang="fr-LU"/>
          </a:p>
        </p:txBody>
      </p:sp>
      <p:sp>
        <p:nvSpPr>
          <p:cNvPr id="8" name="Text 6"/>
          <p:cNvSpPr/>
          <p:nvPr/>
        </p:nvSpPr>
        <p:spPr>
          <a:xfrm>
            <a:off x="640080" y="1389888"/>
            <a:ext cx="131673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0B2945"/>
                </a:solidFill>
              </a:rPr>
              <a:t>RELEASE OCT. 2026</a:t>
            </a:r>
            <a:endParaRPr lang="en-US" sz="760" dirty="0"/>
          </a:p>
        </p:txBody>
      </p:sp>
      <p:sp>
        <p:nvSpPr>
          <p:cNvPr id="9" name="Text 7"/>
          <p:cNvSpPr/>
          <p:nvPr/>
        </p:nvSpPr>
        <p:spPr>
          <a:xfrm>
            <a:off x="566928" y="187452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10" dirty="0">
                <a:solidFill>
                  <a:srgbClr val="FFE800"/>
                </a:solidFill>
              </a:rPr>
              <a:t>WHY IT MATTERS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66928" y="2331720"/>
            <a:ext cx="516636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</a:rPr>
              <a:t>Secure enterprise assistant with conversation history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</a:rPr>
              <a:t>Analyze documents and uploaded files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</a:rPr>
              <a:t>Use multiple models from one interface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</a:rPr>
              <a:t>Create domain agents, skills and workflows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080760" y="1737360"/>
            <a:ext cx="1" cy="4251960"/>
          </a:xfrm>
          <a:prstGeom prst="line">
            <a:avLst/>
          </a:prstGeom>
          <a:noFill/>
          <a:ln w="15240">
            <a:solidFill>
              <a:srgbClr val="72B7DF"/>
            </a:solidFill>
            <a:prstDash val="solid"/>
          </a:ln>
        </p:spPr>
        <p:txBody>
          <a:bodyPr/>
          <a:lstStyle/>
          <a:p>
            <a:endParaRPr lang="fr-LU"/>
          </a:p>
        </p:txBody>
      </p:sp>
      <p:sp>
        <p:nvSpPr>
          <p:cNvPr id="12" name="Text 10"/>
          <p:cNvSpPr/>
          <p:nvPr/>
        </p:nvSpPr>
        <p:spPr>
          <a:xfrm>
            <a:off x="566928" y="5330952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Flinky connects applications and workflows to ready-to-use sovereign AI models.</a:t>
            </a:r>
            <a:endParaRPr lang="en-US" sz="1200" dirty="0"/>
          </a:p>
        </p:txBody>
      </p:sp>
      <p:pic>
        <p:nvPicPr>
          <p:cNvPr id="13" name="Image 0" descr="/mnt/data/rev3/src/ppt/media/image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1909010"/>
            <a:ext cx="5166360" cy="3853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568911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FFE800"/>
                </a:solidFill>
              </a:rPr>
              <a:t>TOOLS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</a:rPr>
              <a:t>AI Guardrails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02920" y="1051560"/>
            <a:ext cx="11064240" cy="1"/>
          </a:xfrm>
          <a:prstGeom prst="line">
            <a:avLst/>
          </a:prstGeom>
          <a:noFill/>
          <a:ln w="12700">
            <a:solidFill>
              <a:srgbClr val="72B7DF"/>
            </a:solidFill>
            <a:prstDash val="solid"/>
          </a:ln>
        </p:spPr>
        <p:txBody>
          <a:bodyPr/>
          <a:lstStyle/>
          <a:p>
            <a:endParaRPr lang="fr-LU"/>
          </a:p>
        </p:txBody>
      </p:sp>
      <p:sp>
        <p:nvSpPr>
          <p:cNvPr id="5" name="Text 3"/>
          <p:cNvSpPr/>
          <p:nvPr/>
        </p:nvSpPr>
        <p:spPr>
          <a:xfrm>
            <a:off x="10936224" y="27432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</a:rPr>
              <a:t>AIODP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6565392"/>
            <a:ext cx="10607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D8ECF7"/>
                </a:solidFill>
              </a:rPr>
              <a:t>DeployAI  WA3 2026_2027 Strategy &amp; Roll-Out Planning   |   Luxembourg, September 10, 2026   |   Private &amp; Confidential</a:t>
            </a:r>
            <a:endParaRPr lang="en-US" sz="650" dirty="0"/>
          </a:p>
        </p:txBody>
      </p:sp>
      <p:sp>
        <p:nvSpPr>
          <p:cNvPr id="7" name="Shape 5"/>
          <p:cNvSpPr/>
          <p:nvPr/>
        </p:nvSpPr>
        <p:spPr>
          <a:xfrm>
            <a:off x="530352" y="1298448"/>
            <a:ext cx="1536192" cy="310896"/>
          </a:xfrm>
          <a:prstGeom prst="roundRect">
            <a:avLst>
              <a:gd name="adj" fmla="val 14706"/>
            </a:avLst>
          </a:prstGeom>
          <a:solidFill>
            <a:srgbClr val="FFE800"/>
          </a:solidFill>
          <a:ln w="12700">
            <a:solidFill>
              <a:srgbClr val="FFE800"/>
            </a:solidFill>
            <a:prstDash val="solid"/>
          </a:ln>
        </p:spPr>
        <p:txBody>
          <a:bodyPr/>
          <a:lstStyle/>
          <a:p>
            <a:endParaRPr lang="fr-LU"/>
          </a:p>
        </p:txBody>
      </p:sp>
      <p:sp>
        <p:nvSpPr>
          <p:cNvPr id="8" name="Text 6"/>
          <p:cNvSpPr/>
          <p:nvPr/>
        </p:nvSpPr>
        <p:spPr>
          <a:xfrm>
            <a:off x="640080" y="1389888"/>
            <a:ext cx="131673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0B2945"/>
                </a:solidFill>
              </a:rPr>
              <a:t>RELEASE OCT. 2026</a:t>
            </a:r>
            <a:endParaRPr lang="en-US" sz="760" dirty="0"/>
          </a:p>
        </p:txBody>
      </p:sp>
      <p:sp>
        <p:nvSpPr>
          <p:cNvPr id="9" name="Text 7"/>
          <p:cNvSpPr/>
          <p:nvPr/>
        </p:nvSpPr>
        <p:spPr>
          <a:xfrm>
            <a:off x="566928" y="187452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10" dirty="0">
                <a:solidFill>
                  <a:srgbClr val="FFE800"/>
                </a:solidFill>
              </a:rPr>
              <a:t>WHY IT MATTERS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66928" y="2331720"/>
            <a:ext cx="516636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</a:rPr>
              <a:t>Apply organizational policies across AI services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</a:rPr>
              <a:t>Prevent disclosure of sensitive information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</a:rPr>
              <a:t>Enforce consistent governance across models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</a:rPr>
              <a:t>Maintain traceability for compliance and risk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080760" y="1737360"/>
            <a:ext cx="1" cy="4251960"/>
          </a:xfrm>
          <a:prstGeom prst="line">
            <a:avLst/>
          </a:prstGeom>
          <a:noFill/>
          <a:ln w="15240">
            <a:solidFill>
              <a:srgbClr val="72B7DF"/>
            </a:solidFill>
            <a:prstDash val="solid"/>
          </a:ln>
        </p:spPr>
        <p:txBody>
          <a:bodyPr/>
          <a:lstStyle/>
          <a:p>
            <a:endParaRPr lang="fr-LU"/>
          </a:p>
        </p:txBody>
      </p:sp>
      <p:sp>
        <p:nvSpPr>
          <p:cNvPr id="12" name="Text 10"/>
          <p:cNvSpPr/>
          <p:nvPr/>
        </p:nvSpPr>
        <p:spPr>
          <a:xfrm>
            <a:off x="566928" y="5330952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Flinky connects applications and workflows to ready-to-use sovereign AI models.</a:t>
            </a:r>
            <a:endParaRPr lang="en-US" sz="12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D18AA275-4B3A-9CD5-9645-1089C482F3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1335" y="1284736"/>
            <a:ext cx="3291837" cy="4937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578384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D2650D85-F417-5E9E-DD99-392F4A39FA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End of presentation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285BFB4-F82B-63BD-4768-E12C5D6BC2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742537" y="6365875"/>
            <a:ext cx="78500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rgbClr val="FFFFFF"/>
                </a:solidFill>
                <a:latin typeface="Jura" panose="020B0604020202020204" charset="0"/>
                <a:ea typeface="Jura" panose="020B0604020202020204" charset="0"/>
              </a:defRPr>
            </a:lvl1pPr>
          </a:lstStyle>
          <a:p>
            <a:r>
              <a:rPr lang="en-US" dirty="0"/>
              <a:t>DeployAI EU Review – Technical Part – September 15, 2026   |   © aspect partners GmbH &amp; Co KG | Private &amp; Confidential</a:t>
            </a:r>
          </a:p>
        </p:txBody>
      </p:sp>
    </p:spTree>
    <p:extLst>
      <p:ext uri="{BB962C8B-B14F-4D97-AF65-F5344CB8AC3E}">
        <p14:creationId xmlns:p14="http://schemas.microsoft.com/office/powerpoint/2010/main" val="1442004695"/>
      </p:ext>
    </p:extLst>
  </p:cSld>
  <p:clrMapOvr>
    <a:masterClrMapping/>
  </p:clrMapOvr>
</p:sld>
</file>

<file path=ppt/theme/theme1.xml><?xml version="1.0" encoding="utf-8"?>
<a:theme xmlns:a="http://schemas.openxmlformats.org/drawingml/2006/main" name="Benutzerdefiniertes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Benutzerdefiniert 1">
      <a:majorFont>
        <a:latin typeface="Jura"/>
        <a:ea typeface=""/>
        <a:cs typeface=""/>
      </a:majorFont>
      <a:minorFont>
        <a:latin typeface="Jur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2849f71-2af4-4259-8b7e-30403635525c">
      <Terms xmlns="http://schemas.microsoft.com/office/infopath/2007/PartnerControls"/>
    </lcf76f155ced4ddcb4097134ff3c332f>
    <TaxCatchAll xmlns="5d77e93a-4119-4223-8888-964a30085d36" xsi:nil="true"/>
    <Notes xmlns="f2849f71-2af4-4259-8b7e-30403635525c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501A9E0AC26E9244A4137BA1F0001B3C" ma:contentTypeVersion="17" ma:contentTypeDescription="Ein neues Dokument erstellen." ma:contentTypeScope="" ma:versionID="73c63961787073b809e9e7c7810c20f7">
  <xsd:schema xmlns:xsd="http://www.w3.org/2001/XMLSchema" xmlns:xs="http://www.w3.org/2001/XMLSchema" xmlns:p="http://schemas.microsoft.com/office/2006/metadata/properties" xmlns:ns2="f2849f71-2af4-4259-8b7e-30403635525c" xmlns:ns3="5d77e93a-4119-4223-8888-964a30085d36" targetNamespace="http://schemas.microsoft.com/office/2006/metadata/properties" ma:root="true" ma:fieldsID="8687c26aafc2d71f5729307b6e584ae5" ns2:_="" ns3:_="">
    <xsd:import namespace="f2849f71-2af4-4259-8b7e-30403635525c"/>
    <xsd:import namespace="5d77e93a-4119-4223-8888-964a30085d3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MediaServiceSearchProperties" minOccurs="0"/>
                <xsd:element ref="ns2:MediaServiceLocation" minOccurs="0"/>
                <xsd:element ref="ns2:MediaServiceBillingMetadata" minOccurs="0"/>
                <xsd:element ref="ns2:Not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2849f71-2af4-4259-8b7e-30403635525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Bildmarkierungen" ma:readOnly="false" ma:fieldId="{5cf76f15-5ced-4ddc-b409-7134ff3c332f}" ma:taxonomyMulti="true" ma:sspId="6eb20c4f-c5c2-492b-9954-d638c64bfe9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  <xsd:element name="Notes" ma:index="24" nillable="true" ma:displayName="Notes" ma:format="Dropdown" ma:internalName="Notes">
      <xsd:simpleType>
        <xsd:restriction base="dms:Text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d77e93a-4119-4223-8888-964a30085d36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5" nillable="true" ma:displayName="Taxonomy Catch All Column" ma:hidden="true" ma:list="{67c256ee-7043-4909-99db-f142a2d2f97f}" ma:internalName="TaxCatchAll" ma:showField="CatchAllData" ma:web="5d77e93a-4119-4223-8888-964a30085d3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499A46B-B2FB-4486-B602-DF90C46BCAE3}">
  <ds:schemaRefs>
    <ds:schemaRef ds:uri="http://www.w3.org/XML/1998/namespace"/>
    <ds:schemaRef ds:uri="http://schemas.microsoft.com/office/2006/documentManagement/types"/>
    <ds:schemaRef ds:uri="5d77e93a-4119-4223-8888-964a30085d36"/>
    <ds:schemaRef ds:uri="http://purl.org/dc/dcmitype/"/>
    <ds:schemaRef ds:uri="f2849f71-2af4-4259-8b7e-30403635525c"/>
    <ds:schemaRef ds:uri="http://purl.org/dc/elements/1.1/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F51A78AA-47AE-4E86-85AD-3AAFA955351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2849f71-2af4-4259-8b7e-30403635525c"/>
    <ds:schemaRef ds:uri="5d77e93a-4119-4223-8888-964a30085d3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D6D4517F-6F35-4A1C-9231-4BAE55FF0627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c84fc7b8-0b15-4f61-919c-00cf7ae7656a}" enabled="1" method="Privileged" siteId="{241b7d81-8a74-47e9-bb6d-a4351d0860e5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2734</Words>
  <Application>Microsoft Office PowerPoint</Application>
  <PresentationFormat>Widescreen</PresentationFormat>
  <Paragraphs>515</Paragraphs>
  <Slides>32</Slides>
  <Notes>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3" baseType="lpstr">
      <vt:lpstr>Benutzerdefiniertes Design</vt:lpstr>
      <vt:lpstr>Work Area 3 Weekly Call September 14,2026  Summary Report on Luxembourg Workshop: Strategy &amp; Roll-Out Planning 2026-2027</vt:lpstr>
      <vt:lpstr>Agenda September 10, 2026</vt:lpstr>
      <vt:lpstr>Strategy Discussion</vt:lpstr>
      <vt:lpstr>European Estimated Target Market Size (Rough estimate – status July 2026)</vt:lpstr>
      <vt:lpstr>AIODP strategic target customer groups</vt:lpstr>
      <vt:lpstr>AIODP’s window of opportunity</vt:lpstr>
      <vt:lpstr>AIODP Strategic Positioning</vt:lpstr>
      <vt:lpstr>AIODP – High Level Solution Architecture</vt:lpstr>
      <vt:lpstr>AIODP sovereign AI service architecture (I)</vt:lpstr>
      <vt:lpstr>AIODP sovereign service architecture (II)</vt:lpstr>
      <vt:lpstr>More to be discussed…</vt:lpstr>
      <vt:lpstr>Outcomes</vt:lpstr>
      <vt:lpstr>PowerPoint Presentation</vt:lpstr>
      <vt:lpstr>AIODP Sovereign Services Integration under Flinky</vt:lpstr>
      <vt:lpstr>Planning Process / Call for action</vt:lpstr>
      <vt:lpstr>Planning Process / Call for action</vt:lpstr>
      <vt:lpstr>Call for action -&gt; Kick-Off Calls tbd</vt:lpstr>
      <vt:lpstr>PowerPoint Presentation</vt:lpstr>
      <vt:lpstr>Backup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End of presentation</vt:lpstr>
    </vt:vector>
  </TitlesOfParts>
  <Manager>LV</Manager>
  <Company>aspect partners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WA3 4 EU Review</dc:title>
  <dc:subject>Eu Review Sept-15-2026</dc:subject>
  <dc:creator>Lutz Voelker</dc:creator>
  <cp:lastModifiedBy>Lutz Voelker</cp:lastModifiedBy>
  <cp:revision>100</cp:revision>
  <dcterms:created xsi:type="dcterms:W3CDTF">2023-02-27T15:03:18Z</dcterms:created>
  <dcterms:modified xsi:type="dcterms:W3CDTF">2026-09-15T09:05:16Z</dcterms:modified>
  <cp:category>EU-DAI</cp:category>
  <cp:contentStatus>Final</cp:contentStatus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0x010100501A9E0AC26E9244A4137BA1F0001B3C</vt:lpwstr>
  </property>
  <property fmtid="{D5CDD505-2E9C-101B-9397-08002B2CF9AE}" pid="3" name="MediaServiceImageTags">
    <vt:lpwstr/>
  </property>
</Properties>
</file>